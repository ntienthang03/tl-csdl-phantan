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67" r:id="rId3"/>
    <p:sldId id="257" r:id="rId4"/>
    <p:sldId id="258" r:id="rId5"/>
    <p:sldId id="259" r:id="rId6"/>
    <p:sldId id="260" r:id="rId7"/>
    <p:sldId id="261" r:id="rId8"/>
    <p:sldId id="262" r:id="rId9"/>
    <p:sldId id="263" r:id="rId10"/>
    <p:sldId id="264" r:id="rId11"/>
    <p:sldId id="265" r:id="rId12"/>
    <p:sldId id="268" r:id="rId13"/>
  </p:sldIdLst>
  <p:sldSz cx="9144000" cy="5143500" type="screen16x9"/>
  <p:notesSz cx="5143500" cy="9144000"/>
  <p:embeddedFontLst>
    <p:embeddedFont>
      <p:font typeface="Playfair Display SemiBold" panose="020B0604020202020204" charset="0"/>
      <p:regular r:id="rId15"/>
    </p:embeddedFont>
    <p:embeddedFont>
      <p:font typeface="Public Sans"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74" d="100"/>
          <a:sy n="74" d="100"/>
        </p:scale>
        <p:origin x="98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7518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11.png"/><Relationship Id="rId5" Type="http://schemas.openxmlformats.org/officeDocument/2006/relationships/image" Target="../media/image21.svg"/><Relationship Id="rId4" Type="http://schemas.openxmlformats.org/officeDocument/2006/relationships/image" Target="../media/image20.sv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48494" y="0"/>
            <a:ext cx="3695505" cy="5143500"/>
          </a:xfrm>
          <a:prstGeom prst="rect">
            <a:avLst/>
          </a:prstGeom>
          <a:solidFill>
            <a:srgbClr val="F0DEDC"/>
          </a:solidFill>
          <a:ln/>
        </p:spPr>
      </p:sp>
      <p:pic>
        <p:nvPicPr>
          <p:cNvPr id="3" name="Image 0" descr="preencoded.png"/>
          <p:cNvPicPr>
            <a:picLocks noChangeAspect="1"/>
          </p:cNvPicPr>
          <p:nvPr/>
        </p:nvPicPr>
        <p:blipFill>
          <a:blip r:embed="rId3"/>
          <a:stretch>
            <a:fillRect/>
          </a:stretch>
        </p:blipFill>
        <p:spPr>
          <a:xfrm>
            <a:off x="5572808" y="359981"/>
            <a:ext cx="3587571" cy="4783519"/>
          </a:xfrm>
          <a:prstGeom prst="rect">
            <a:avLst/>
          </a:prstGeom>
        </p:spPr>
      </p:pic>
      <p:sp>
        <p:nvSpPr>
          <p:cNvPr id="4" name="Text 1"/>
          <p:cNvSpPr/>
          <p:nvPr/>
        </p:nvSpPr>
        <p:spPr>
          <a:xfrm>
            <a:off x="33441" y="103367"/>
            <a:ext cx="3639043" cy="568273"/>
          </a:xfrm>
          <a:prstGeom prst="rect">
            <a:avLst/>
          </a:prstGeom>
          <a:noFill/>
          <a:ln/>
        </p:spPr>
        <p:txBody>
          <a:bodyPr wrap="none" lIns="0" tIns="0" rIns="0" bIns="0" rtlCol="0" anchor="t"/>
          <a:lstStyle/>
          <a:p>
            <a:pPr marL="0" indent="0" algn="l">
              <a:lnSpc>
                <a:spcPct val="104000"/>
              </a:lnSpc>
              <a:buNone/>
            </a:pPr>
            <a:r>
              <a:rPr lang="en-US" sz="1900" b="1" dirty="0" err="1">
                <a:latin typeface="Times New Roman" panose="02020603050405020304" pitchFamily="18" charset="0"/>
                <a:ea typeface="Playfair Display SemiBold" pitchFamily="34" charset="-122"/>
                <a:cs typeface="Times New Roman" panose="02020603050405020304" pitchFamily="18" charset="0"/>
              </a:rPr>
              <a:t>Đề</a:t>
            </a:r>
            <a:r>
              <a:rPr lang="en-US" sz="1900" b="1" dirty="0">
                <a:latin typeface="Times New Roman" panose="02020603050405020304" pitchFamily="18" charset="0"/>
                <a:ea typeface="Playfair Display SemiBold" pitchFamily="34" charset="-122"/>
                <a:cs typeface="Times New Roman" panose="02020603050405020304" pitchFamily="18" charset="0"/>
              </a:rPr>
              <a:t> Tài</a:t>
            </a:r>
            <a:r>
              <a:rPr lang="vi-VN" sz="1900" b="1" dirty="0">
                <a:latin typeface="Times New Roman" panose="02020603050405020304" pitchFamily="18" charset="0"/>
                <a:ea typeface="Playfair Display SemiBold" pitchFamily="34" charset="-122"/>
                <a:cs typeface="Times New Roman" panose="02020603050405020304" pitchFamily="18" charset="0"/>
              </a:rPr>
              <a:t> 7 :</a:t>
            </a:r>
            <a:endParaRPr lang="en-US" sz="1900" b="1" dirty="0">
              <a:latin typeface="Times New Roman" panose="02020603050405020304" pitchFamily="18" charset="0"/>
              <a:cs typeface="Times New Roman" panose="02020603050405020304" pitchFamily="18" charset="0"/>
            </a:endParaRPr>
          </a:p>
        </p:txBody>
      </p:sp>
      <p:sp>
        <p:nvSpPr>
          <p:cNvPr id="5" name="Text 2"/>
          <p:cNvSpPr/>
          <p:nvPr/>
        </p:nvSpPr>
        <p:spPr>
          <a:xfrm>
            <a:off x="194209" y="671641"/>
            <a:ext cx="5024674" cy="2385216"/>
          </a:xfrm>
          <a:prstGeom prst="rect">
            <a:avLst/>
          </a:prstGeom>
          <a:noFill/>
          <a:ln/>
        </p:spPr>
        <p:txBody>
          <a:bodyPr wrap="square" lIns="0" tIns="0" rIns="0" bIns="0" rtlCol="0" anchor="t">
            <a:normAutofit/>
          </a:bodyPr>
          <a:lstStyle/>
          <a:p>
            <a:pPr marL="0" indent="0" algn="ctr">
              <a:lnSpc>
                <a:spcPct val="104000"/>
              </a:lnSpc>
              <a:buNone/>
            </a:pPr>
            <a:r>
              <a:rPr lang="en-US" sz="3500" dirty="0">
                <a:latin typeface="Times New Roman" panose="02020603050405020304" pitchFamily="18" charset="0"/>
                <a:ea typeface="Playfair Display SemiBold" pitchFamily="34" charset="-122"/>
                <a:cs typeface="Times New Roman" panose="02020603050405020304" pitchFamily="18" charset="0"/>
              </a:rPr>
              <a:t>Điều Khiển Đồng </a:t>
            </a:r>
            <a:r>
              <a:rPr lang="en-US" sz="3500" dirty="0" err="1">
                <a:latin typeface="Times New Roman" panose="02020603050405020304" pitchFamily="18" charset="0"/>
                <a:ea typeface="Playfair Display SemiBold" pitchFamily="34" charset="-122"/>
                <a:cs typeface="Times New Roman" panose="02020603050405020304" pitchFamily="18" charset="0"/>
              </a:rPr>
              <a:t>Thời</a:t>
            </a:r>
            <a:r>
              <a:rPr lang="en-US" sz="3500" dirty="0">
                <a:latin typeface="Times New Roman" panose="02020603050405020304" pitchFamily="18" charset="0"/>
                <a:ea typeface="Playfair Display SemiBold" pitchFamily="34" charset="-122"/>
                <a:cs typeface="Times New Roman" panose="02020603050405020304" pitchFamily="18" charset="0"/>
              </a:rPr>
              <a:t> </a:t>
            </a:r>
            <a:endParaRPr lang="vi-VN" sz="3500" dirty="0">
              <a:latin typeface="Times New Roman" panose="02020603050405020304" pitchFamily="18" charset="0"/>
              <a:ea typeface="Playfair Display SemiBold" pitchFamily="34" charset="-122"/>
              <a:cs typeface="Times New Roman" panose="02020603050405020304" pitchFamily="18" charset="0"/>
            </a:endParaRPr>
          </a:p>
          <a:p>
            <a:pPr marL="0" indent="0" algn="ctr">
              <a:lnSpc>
                <a:spcPct val="104000"/>
              </a:lnSpc>
              <a:buNone/>
            </a:pPr>
            <a:r>
              <a:rPr lang="vi-VN" sz="3500" dirty="0">
                <a:latin typeface="Times New Roman" panose="02020603050405020304" pitchFamily="18" charset="0"/>
                <a:ea typeface="Playfair Display SemiBold" pitchFamily="34" charset="-122"/>
                <a:cs typeface="Times New Roman" panose="02020603050405020304" pitchFamily="18" charset="0"/>
              </a:rPr>
              <a:t>&amp;</a:t>
            </a:r>
          </a:p>
          <a:p>
            <a:pPr marL="0" indent="0" algn="ctr">
              <a:lnSpc>
                <a:spcPct val="104000"/>
              </a:lnSpc>
              <a:buNone/>
            </a:pPr>
            <a:r>
              <a:rPr lang="vi-VN" sz="3500" dirty="0">
                <a:latin typeface="Times New Roman" panose="02020603050405020304" pitchFamily="18" charset="0"/>
                <a:ea typeface="Playfair Display SemiBold" pitchFamily="34" charset="-122"/>
                <a:cs typeface="Times New Roman" panose="02020603050405020304" pitchFamily="18" charset="0"/>
              </a:rPr>
              <a:t>   </a:t>
            </a:r>
            <a:r>
              <a:rPr lang="en-US" sz="3500" dirty="0">
                <a:latin typeface="Times New Roman" panose="02020603050405020304" pitchFamily="18" charset="0"/>
                <a:ea typeface="Playfair Display SemiBold" pitchFamily="34" charset="-122"/>
                <a:cs typeface="Times New Roman" panose="02020603050405020304" pitchFamily="18" charset="0"/>
              </a:rPr>
              <a:t>Giao Dịch Phân Tán</a:t>
            </a:r>
            <a:endParaRPr lang="en-US" sz="3500" dirty="0">
              <a:latin typeface="Times New Roman" panose="02020603050405020304" pitchFamily="18" charset="0"/>
              <a:cs typeface="Times New Roman" panose="02020603050405020304" pitchFamily="18" charset="0"/>
            </a:endParaRPr>
          </a:p>
        </p:txBody>
      </p:sp>
      <p:sp>
        <p:nvSpPr>
          <p:cNvPr id="6" name="Text 3"/>
          <p:cNvSpPr/>
          <p:nvPr/>
        </p:nvSpPr>
        <p:spPr>
          <a:xfrm>
            <a:off x="436971" y="3007593"/>
            <a:ext cx="5239111" cy="451247"/>
          </a:xfrm>
          <a:prstGeom prst="rect">
            <a:avLst/>
          </a:prstGeom>
          <a:noFill/>
          <a:ln/>
        </p:spPr>
        <p:txBody>
          <a:bodyPr wrap="none" lIns="0" tIns="0" rIns="0" bIns="0" rtlCol="0" anchor="t"/>
          <a:lstStyle/>
          <a:p>
            <a:pPr marL="0" indent="0" algn="l">
              <a:lnSpc>
                <a:spcPct val="130000"/>
              </a:lnSpc>
              <a:buNone/>
            </a:pPr>
            <a:r>
              <a:rPr lang="en-US" sz="2000" dirty="0">
                <a:latin typeface="Times New Roman" panose="02020603050405020304" pitchFamily="18" charset="0"/>
                <a:ea typeface="Public Sans" pitchFamily="34" charset="-122"/>
                <a:cs typeface="Times New Roman" panose="02020603050405020304" pitchFamily="18" charset="0"/>
              </a:rPr>
              <a:t>Đề tài: </a:t>
            </a:r>
            <a:r>
              <a:rPr lang="en-US" sz="2000" b="1" dirty="0">
                <a:latin typeface="Times New Roman" panose="02020603050405020304" pitchFamily="18" charset="0"/>
                <a:ea typeface="Public Sans" pitchFamily="34" charset="-122"/>
                <a:cs typeface="Times New Roman" panose="02020603050405020304" pitchFamily="18" charset="0"/>
              </a:rPr>
              <a:t>Quản lý bán vé máy bay phân tán</a:t>
            </a:r>
            <a:endParaRPr lang="en-US" sz="2000" dirty="0">
              <a:latin typeface="Times New Roman" panose="02020603050405020304" pitchFamily="18" charset="0"/>
              <a:cs typeface="Times New Roman" panose="02020603050405020304" pitchFamily="18" charset="0"/>
            </a:endParaRPr>
          </a:p>
        </p:txBody>
      </p:sp>
      <p:sp>
        <p:nvSpPr>
          <p:cNvPr id="7" name="Shape 4"/>
          <p:cNvSpPr/>
          <p:nvPr/>
        </p:nvSpPr>
        <p:spPr>
          <a:xfrm>
            <a:off x="514877" y="3607519"/>
            <a:ext cx="907399" cy="248692"/>
          </a:xfrm>
          <a:prstGeom prst="roundRect">
            <a:avLst>
              <a:gd name="adj" fmla="val 18196"/>
            </a:avLst>
          </a:prstGeom>
          <a:solidFill>
            <a:srgbClr val="EEDDDD"/>
          </a:solidFill>
          <a:ln/>
        </p:spPr>
      </p:sp>
      <p:sp>
        <p:nvSpPr>
          <p:cNvPr id="8" name="Text 5"/>
          <p:cNvSpPr/>
          <p:nvPr/>
        </p:nvSpPr>
        <p:spPr>
          <a:xfrm>
            <a:off x="601606" y="3647852"/>
            <a:ext cx="1197131" cy="168027"/>
          </a:xfrm>
          <a:prstGeom prst="rect">
            <a:avLst/>
          </a:prstGeom>
          <a:noFill/>
          <a:ln/>
        </p:spPr>
        <p:txBody>
          <a:bodyPr wrap="none" lIns="0" tIns="0" rIns="0" bIns="0" rtlCol="0" anchor="t"/>
          <a:lstStyle/>
          <a:p>
            <a:pPr marL="0" indent="0" algn="l">
              <a:lnSpc>
                <a:spcPct val="130000"/>
              </a:lnSpc>
              <a:buNone/>
            </a:pPr>
            <a:r>
              <a:rPr lang="en-US" sz="800" dirty="0">
                <a:solidFill>
                  <a:srgbClr val="6F655D"/>
                </a:solidFill>
                <a:latin typeface="Times New Roman" panose="02020603050405020304" pitchFamily="18" charset="0"/>
                <a:ea typeface="Public Sans" pitchFamily="34" charset="-122"/>
                <a:cs typeface="Times New Roman" panose="02020603050405020304" pitchFamily="18" charset="0"/>
              </a:rPr>
              <a:t>TRANSACTION</a:t>
            </a:r>
            <a:endParaRPr lang="en-US" sz="800" dirty="0">
              <a:latin typeface="Times New Roman" panose="02020603050405020304" pitchFamily="18" charset="0"/>
              <a:cs typeface="Times New Roman" panose="02020603050405020304" pitchFamily="18" charset="0"/>
            </a:endParaRPr>
          </a:p>
        </p:txBody>
      </p:sp>
      <p:sp>
        <p:nvSpPr>
          <p:cNvPr id="9" name="Shape 6"/>
          <p:cNvSpPr/>
          <p:nvPr/>
        </p:nvSpPr>
        <p:spPr>
          <a:xfrm>
            <a:off x="1498112" y="3602757"/>
            <a:ext cx="414403" cy="258217"/>
          </a:xfrm>
          <a:prstGeom prst="roundRect">
            <a:avLst>
              <a:gd name="adj" fmla="val 17525"/>
            </a:avLst>
          </a:prstGeom>
          <a:noFill/>
          <a:ln w="4763">
            <a:solidFill>
              <a:srgbClr val="E1C2C2"/>
            </a:solidFill>
            <a:prstDash val="solid"/>
          </a:ln>
        </p:spPr>
      </p:sp>
      <p:sp>
        <p:nvSpPr>
          <p:cNvPr id="10" name="Text 7"/>
          <p:cNvSpPr/>
          <p:nvPr/>
        </p:nvSpPr>
        <p:spPr>
          <a:xfrm>
            <a:off x="1589410" y="3647852"/>
            <a:ext cx="694803" cy="168027"/>
          </a:xfrm>
          <a:prstGeom prst="rect">
            <a:avLst/>
          </a:prstGeom>
          <a:noFill/>
          <a:ln/>
        </p:spPr>
        <p:txBody>
          <a:bodyPr wrap="none" lIns="0" tIns="0" rIns="0" bIns="0" rtlCol="0" anchor="t"/>
          <a:lstStyle/>
          <a:p>
            <a:pPr marL="0" indent="0" algn="l">
              <a:lnSpc>
                <a:spcPct val="130000"/>
              </a:lnSpc>
              <a:buNone/>
            </a:pPr>
            <a:r>
              <a:rPr lang="en-US" sz="800" dirty="0">
                <a:solidFill>
                  <a:srgbClr val="E1C2C2"/>
                </a:solidFill>
                <a:latin typeface="Times New Roman" panose="02020603050405020304" pitchFamily="18" charset="0"/>
                <a:ea typeface="Public Sans" pitchFamily="34" charset="-122"/>
                <a:cs typeface="Times New Roman" panose="02020603050405020304" pitchFamily="18" charset="0"/>
              </a:rPr>
              <a:t>ACID</a:t>
            </a:r>
            <a:endParaRPr lang="en-US" sz="800" dirty="0">
              <a:latin typeface="Times New Roman" panose="02020603050405020304" pitchFamily="18" charset="0"/>
              <a:cs typeface="Times New Roman" panose="02020603050405020304" pitchFamily="18" charset="0"/>
            </a:endParaRPr>
          </a:p>
        </p:txBody>
      </p:sp>
      <p:sp>
        <p:nvSpPr>
          <p:cNvPr id="11" name="Shape 8"/>
          <p:cNvSpPr/>
          <p:nvPr/>
        </p:nvSpPr>
        <p:spPr>
          <a:xfrm>
            <a:off x="2006540" y="3602757"/>
            <a:ext cx="1294243" cy="258217"/>
          </a:xfrm>
          <a:prstGeom prst="roundRect">
            <a:avLst>
              <a:gd name="adj" fmla="val 17525"/>
            </a:avLst>
          </a:prstGeom>
          <a:noFill/>
          <a:ln w="4763">
            <a:solidFill>
              <a:srgbClr val="E1C2C2"/>
            </a:solidFill>
            <a:prstDash val="solid"/>
          </a:ln>
        </p:spPr>
      </p:sp>
      <p:sp>
        <p:nvSpPr>
          <p:cNvPr id="12" name="Text 9"/>
          <p:cNvSpPr/>
          <p:nvPr/>
        </p:nvSpPr>
        <p:spPr>
          <a:xfrm>
            <a:off x="2097840" y="3647852"/>
            <a:ext cx="1574643" cy="168027"/>
          </a:xfrm>
          <a:prstGeom prst="rect">
            <a:avLst/>
          </a:prstGeom>
          <a:noFill/>
          <a:ln/>
        </p:spPr>
        <p:txBody>
          <a:bodyPr wrap="none" lIns="0" tIns="0" rIns="0" bIns="0" rtlCol="0" anchor="t"/>
          <a:lstStyle/>
          <a:p>
            <a:pPr marL="0" indent="0" algn="l">
              <a:lnSpc>
                <a:spcPct val="130000"/>
              </a:lnSpc>
              <a:buNone/>
            </a:pPr>
            <a:r>
              <a:rPr lang="en-US" sz="800" dirty="0">
                <a:solidFill>
                  <a:srgbClr val="E1C2C2"/>
                </a:solidFill>
                <a:latin typeface="Times New Roman" panose="02020603050405020304" pitchFamily="18" charset="0"/>
                <a:ea typeface="Public Sans" pitchFamily="34" charset="-122"/>
                <a:cs typeface="Times New Roman" panose="02020603050405020304" pitchFamily="18" charset="0"/>
              </a:rPr>
              <a:t>DISTRIBUTED SYSTEM</a:t>
            </a:r>
            <a:endParaRPr lang="en-US" sz="800" dirty="0">
              <a:latin typeface="Times New Roman" panose="02020603050405020304" pitchFamily="18" charset="0"/>
              <a:cs typeface="Times New Roman" panose="02020603050405020304" pitchFamily="18" charset="0"/>
            </a:endParaRPr>
          </a:p>
        </p:txBody>
      </p:sp>
      <p:sp>
        <p:nvSpPr>
          <p:cNvPr id="13" name="Shape 10"/>
          <p:cNvSpPr/>
          <p:nvPr/>
        </p:nvSpPr>
        <p:spPr>
          <a:xfrm>
            <a:off x="3398898" y="3602757"/>
            <a:ext cx="1491966" cy="258217"/>
          </a:xfrm>
          <a:prstGeom prst="roundRect">
            <a:avLst>
              <a:gd name="adj" fmla="val 17525"/>
            </a:avLst>
          </a:prstGeom>
          <a:noFill/>
          <a:ln w="4763">
            <a:solidFill>
              <a:srgbClr val="E1C2C2"/>
            </a:solidFill>
            <a:prstDash val="solid"/>
          </a:ln>
        </p:spPr>
      </p:sp>
      <p:sp>
        <p:nvSpPr>
          <p:cNvPr id="14" name="Text 11"/>
          <p:cNvSpPr/>
          <p:nvPr/>
        </p:nvSpPr>
        <p:spPr>
          <a:xfrm>
            <a:off x="3490195" y="3647852"/>
            <a:ext cx="1772367" cy="168027"/>
          </a:xfrm>
          <a:prstGeom prst="rect">
            <a:avLst/>
          </a:prstGeom>
          <a:noFill/>
          <a:ln/>
        </p:spPr>
        <p:txBody>
          <a:bodyPr wrap="none" lIns="0" tIns="0" rIns="0" bIns="0" rtlCol="0" anchor="t"/>
          <a:lstStyle/>
          <a:p>
            <a:pPr marL="0" indent="0" algn="l">
              <a:lnSpc>
                <a:spcPct val="130000"/>
              </a:lnSpc>
              <a:buNone/>
            </a:pPr>
            <a:r>
              <a:rPr lang="en-US" sz="800" dirty="0">
                <a:solidFill>
                  <a:srgbClr val="E1C2C2"/>
                </a:solidFill>
                <a:latin typeface="Times New Roman" panose="02020603050405020304" pitchFamily="18" charset="0"/>
                <a:ea typeface="Public Sans" pitchFamily="34" charset="-122"/>
                <a:cs typeface="Times New Roman" panose="02020603050405020304" pitchFamily="18" charset="0"/>
              </a:rPr>
              <a:t>CONCURRENCY CONTROL</a:t>
            </a:r>
            <a:endParaRPr lang="en-US" sz="8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D688791-4E70-B333-8F01-5F26662F5E1E}"/>
              </a:ext>
            </a:extLst>
          </p:cNvPr>
          <p:cNvSpPr txBox="1"/>
          <p:nvPr/>
        </p:nvSpPr>
        <p:spPr>
          <a:xfrm>
            <a:off x="514877" y="3978248"/>
            <a:ext cx="4704006" cy="277000"/>
          </a:xfrm>
          <a:prstGeom prst="rect">
            <a:avLst/>
          </a:prstGeom>
          <a:noFill/>
        </p:spPr>
        <p:txBody>
          <a:bodyPr wrap="square" rtlCol="0">
            <a:spAutoFit/>
          </a:bodyPr>
          <a:lstStyle/>
          <a:p>
            <a:r>
              <a:rPr lang="vi-VN" sz="1200" dirty="0">
                <a:latin typeface="+mj-lt"/>
              </a:rPr>
              <a:t>Sinh viên thực hiện  Nguyễn Tiến Thắng  - K225480106058  </a:t>
            </a:r>
            <a:endParaRPr lang="en-US" sz="1200"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6111600" y="1447143"/>
            <a:ext cx="2985641" cy="2840460"/>
          </a:xfrm>
          <a:prstGeom prst="rect">
            <a:avLst/>
          </a:prstGeom>
        </p:spPr>
      </p:pic>
      <p:sp>
        <p:nvSpPr>
          <p:cNvPr id="4" name="Text 1"/>
          <p:cNvSpPr/>
          <p:nvPr/>
        </p:nvSpPr>
        <p:spPr>
          <a:xfrm>
            <a:off x="339865" y="169933"/>
            <a:ext cx="4886755" cy="941069"/>
          </a:xfrm>
          <a:prstGeom prst="rect">
            <a:avLst/>
          </a:prstGeom>
          <a:noFill/>
          <a:ln/>
        </p:spPr>
        <p:txBody>
          <a:bodyPr wrap="square" lIns="0" tIns="0" rIns="0" bIns="0" rtlCol="0" anchor="t">
            <a:normAutofit/>
          </a:bodyPr>
          <a:lstStyle/>
          <a:p>
            <a:pPr marL="0" indent="0" algn="l">
              <a:lnSpc>
                <a:spcPct val="104000"/>
              </a:lnSpc>
              <a:buNone/>
            </a:pPr>
            <a:r>
              <a:rPr lang="vi-VN" sz="2400" b="1" dirty="0">
                <a:latin typeface="+mj-lt"/>
              </a:rPr>
              <a:t>Lý Do chọn đề tài </a:t>
            </a:r>
            <a:endParaRPr lang="en-US" sz="2400" b="1" dirty="0">
              <a:latin typeface="+mj-lt"/>
            </a:endParaRPr>
          </a:p>
        </p:txBody>
      </p:sp>
      <p:sp>
        <p:nvSpPr>
          <p:cNvPr id="5" name="Text 2"/>
          <p:cNvSpPr/>
          <p:nvPr/>
        </p:nvSpPr>
        <p:spPr>
          <a:xfrm>
            <a:off x="210393" y="581322"/>
            <a:ext cx="8877796" cy="1140396"/>
          </a:xfrm>
          <a:prstGeom prst="rect">
            <a:avLst/>
          </a:prstGeom>
          <a:noFill/>
          <a:ln/>
        </p:spPr>
        <p:txBody>
          <a:bodyPr wrap="square" lIns="0" tIns="0" rIns="0" bIns="0" rtlCol="0" anchor="t">
            <a:noAutofit/>
          </a:bodyPr>
          <a:lstStyle/>
          <a:p>
            <a:pPr marL="0" indent="0" algn="l">
              <a:lnSpc>
                <a:spcPct val="119000"/>
              </a:lnSpc>
              <a:buNone/>
            </a:pPr>
            <a:r>
              <a:rPr lang="en-US" sz="1700" dirty="0">
                <a:latin typeface="Times New Roman" panose="02020603050405020304" pitchFamily="18" charset="0"/>
                <a:ea typeface="Public Sans" pitchFamily="34" charset="-122"/>
                <a:cs typeface="Times New Roman" panose="02020603050405020304" pitchFamily="18" charset="0"/>
              </a:rPr>
              <a:t>Trong các hệ thống thực tế như </a:t>
            </a:r>
            <a:r>
              <a:rPr lang="en-US" sz="1700" b="1" dirty="0">
                <a:latin typeface="Times New Roman" panose="02020603050405020304" pitchFamily="18" charset="0"/>
                <a:ea typeface="Public Sans" pitchFamily="34" charset="-122"/>
                <a:cs typeface="Times New Roman" panose="02020603050405020304" pitchFamily="18" charset="0"/>
              </a:rPr>
              <a:t>Vietnam Airlines</a:t>
            </a:r>
            <a:r>
              <a:rPr lang="en-US" sz="1700" dirty="0">
                <a:latin typeface="Times New Roman" panose="02020603050405020304" pitchFamily="18" charset="0"/>
                <a:ea typeface="Public Sans" pitchFamily="34" charset="-122"/>
                <a:cs typeface="Times New Roman" panose="02020603050405020304" pitchFamily="18" charset="0"/>
              </a:rPr>
              <a:t>, </a:t>
            </a:r>
            <a:r>
              <a:rPr lang="en-US" sz="1700" b="1" dirty="0">
                <a:latin typeface="Times New Roman" panose="02020603050405020304" pitchFamily="18" charset="0"/>
                <a:ea typeface="Public Sans" pitchFamily="34" charset="-122"/>
                <a:cs typeface="Times New Roman" panose="02020603050405020304" pitchFamily="18" charset="0"/>
              </a:rPr>
              <a:t>VietJet Air</a:t>
            </a:r>
            <a:r>
              <a:rPr lang="en-US" sz="1700" dirty="0">
                <a:latin typeface="Times New Roman" panose="02020603050405020304" pitchFamily="18" charset="0"/>
                <a:ea typeface="Public Sans" pitchFamily="34" charset="-122"/>
                <a:cs typeface="Times New Roman" panose="02020603050405020304" pitchFamily="18" charset="0"/>
              </a:rPr>
              <a:t>, và </a:t>
            </a:r>
            <a:r>
              <a:rPr lang="en-US" sz="1700" b="1" dirty="0">
                <a:latin typeface="Times New Roman" panose="02020603050405020304" pitchFamily="18" charset="0"/>
                <a:ea typeface="Public Sans" pitchFamily="34" charset="-122"/>
                <a:cs typeface="Times New Roman" panose="02020603050405020304" pitchFamily="18" charset="0"/>
              </a:rPr>
              <a:t>Bamboo Airways</a:t>
            </a:r>
            <a:r>
              <a:rPr lang="en-US" sz="1700" dirty="0">
                <a:latin typeface="Times New Roman" panose="02020603050405020304" pitchFamily="18" charset="0"/>
                <a:ea typeface="Public Sans" pitchFamily="34" charset="-122"/>
                <a:cs typeface="Times New Roman" panose="02020603050405020304" pitchFamily="18" charset="0"/>
              </a:rPr>
              <a:t>, hàng nghìn khách hàng có thể đặt vé, thanh toán và tra cứu chuyến bay đồng thời tại nhiều chi nhánh khác nhau.</a:t>
            </a:r>
            <a:endParaRPr lang="en-US" sz="1700" dirty="0">
              <a:latin typeface="Times New Roman" panose="02020603050405020304" pitchFamily="18" charset="0"/>
              <a:cs typeface="Times New Roman" panose="02020603050405020304" pitchFamily="18" charset="0"/>
            </a:endParaRPr>
          </a:p>
        </p:txBody>
      </p:sp>
      <p:sp>
        <p:nvSpPr>
          <p:cNvPr id="6" name="Shape 3"/>
          <p:cNvSpPr/>
          <p:nvPr/>
        </p:nvSpPr>
        <p:spPr>
          <a:xfrm>
            <a:off x="474092" y="1966365"/>
            <a:ext cx="5655298" cy="1525691"/>
          </a:xfrm>
          <a:prstGeom prst="roundRect">
            <a:avLst>
              <a:gd name="adj" fmla="val 4823"/>
            </a:avLst>
          </a:prstGeom>
          <a:solidFill>
            <a:srgbClr val="FFFAF6"/>
          </a:solidFill>
          <a:ln w="14288">
            <a:solidFill>
              <a:srgbClr val="E1C2C2"/>
            </a:solidFill>
            <a:prstDash val="solid"/>
          </a:ln>
          <a:effectLst>
            <a:outerShdw dist="13970" dir="2700000" algn="bl" rotWithShape="0">
              <a:srgbClr val="E1C2C2">
                <a:alpha val="100000"/>
              </a:srgbClr>
            </a:outerShdw>
          </a:effectLst>
        </p:spPr>
        <p:txBody>
          <a:bodyPr/>
          <a:lstStyle/>
          <a:p>
            <a:endParaRPr lang="en-US" dirty="0"/>
          </a:p>
        </p:txBody>
      </p:sp>
      <p:sp>
        <p:nvSpPr>
          <p:cNvPr id="7" name="Shape 4"/>
          <p:cNvSpPr/>
          <p:nvPr/>
        </p:nvSpPr>
        <p:spPr>
          <a:xfrm>
            <a:off x="426859" y="2040285"/>
            <a:ext cx="48098" cy="1421829"/>
          </a:xfrm>
          <a:prstGeom prst="roundRect">
            <a:avLst>
              <a:gd name="adj" fmla="val 82047"/>
            </a:avLst>
          </a:prstGeom>
          <a:solidFill>
            <a:srgbClr val="E1C2C2"/>
          </a:solidFill>
          <a:ln/>
        </p:spPr>
      </p:sp>
      <p:sp>
        <p:nvSpPr>
          <p:cNvPr id="8" name="Text 5"/>
          <p:cNvSpPr/>
          <p:nvPr/>
        </p:nvSpPr>
        <p:spPr>
          <a:xfrm>
            <a:off x="399941" y="1319076"/>
            <a:ext cx="1652697" cy="801800"/>
          </a:xfrm>
          <a:prstGeom prst="rect">
            <a:avLst/>
          </a:prstGeom>
          <a:noFill/>
          <a:ln/>
        </p:spPr>
        <p:txBody>
          <a:bodyPr wrap="none" lIns="0" tIns="0" rIns="0" bIns="0" rtlCol="0" anchor="t"/>
          <a:lstStyle/>
          <a:p>
            <a:pPr marL="0" indent="0" algn="l">
              <a:lnSpc>
                <a:spcPct val="104000"/>
              </a:lnSpc>
              <a:buNone/>
            </a:pPr>
            <a:r>
              <a:rPr lang="en-US" sz="2000" b="1" dirty="0">
                <a:latin typeface="Times New Roman" panose="02020603050405020304" pitchFamily="18" charset="0"/>
                <a:ea typeface="Playfair Display SemiBold" pitchFamily="34" charset="-122"/>
                <a:cs typeface="Times New Roman" panose="02020603050405020304" pitchFamily="18" charset="0"/>
              </a:rPr>
              <a:t>Vấn Đề Đặt Ra</a:t>
            </a:r>
            <a:endParaRPr lang="en-US" sz="2000" b="1" dirty="0">
              <a:latin typeface="Times New Roman" panose="02020603050405020304" pitchFamily="18" charset="0"/>
              <a:cs typeface="Times New Roman" panose="02020603050405020304" pitchFamily="18" charset="0"/>
            </a:endParaRPr>
          </a:p>
        </p:txBody>
      </p:sp>
      <p:sp>
        <p:nvSpPr>
          <p:cNvPr id="9" name="Text 6"/>
          <p:cNvSpPr/>
          <p:nvPr/>
        </p:nvSpPr>
        <p:spPr>
          <a:xfrm>
            <a:off x="657151" y="1986707"/>
            <a:ext cx="4443561" cy="346471"/>
          </a:xfrm>
          <a:prstGeom prst="rect">
            <a:avLst/>
          </a:prstGeom>
          <a:noFill/>
          <a:ln/>
        </p:spPr>
        <p:txBody>
          <a:bodyPr wrap="none" lIns="0" tIns="0" rIns="0" bIns="0" rtlCol="0" anchor="t"/>
          <a:lstStyle/>
          <a:p>
            <a:pPr marL="0" indent="0" algn="l">
              <a:lnSpc>
                <a:spcPct val="119000"/>
              </a:lnSpc>
              <a:buNone/>
            </a:pPr>
            <a:r>
              <a:rPr lang="en-US" sz="2000" dirty="0">
                <a:latin typeface="Times New Roman" panose="02020603050405020304" pitchFamily="18" charset="0"/>
                <a:ea typeface="Public Sans" pitchFamily="34" charset="-122"/>
                <a:cs typeface="Times New Roman" panose="02020603050405020304" pitchFamily="18" charset="0"/>
              </a:rPr>
              <a:t>Nếu không quản lý tốt:</a:t>
            </a:r>
            <a:endParaRPr lang="en-US" sz="2000" dirty="0">
              <a:latin typeface="Times New Roman" panose="02020603050405020304" pitchFamily="18" charset="0"/>
              <a:cs typeface="Times New Roman" panose="02020603050405020304" pitchFamily="18" charset="0"/>
            </a:endParaRPr>
          </a:p>
        </p:txBody>
      </p:sp>
      <p:sp>
        <p:nvSpPr>
          <p:cNvPr id="10" name="Text 7"/>
          <p:cNvSpPr/>
          <p:nvPr/>
        </p:nvSpPr>
        <p:spPr>
          <a:xfrm>
            <a:off x="833479" y="2385864"/>
            <a:ext cx="5344009" cy="730672"/>
          </a:xfrm>
          <a:prstGeom prst="rect">
            <a:avLst/>
          </a:prstGeom>
          <a:noFill/>
          <a:ln/>
        </p:spPr>
        <p:txBody>
          <a:bodyPr wrap="square" lIns="0" tIns="0" rIns="0" bIns="0" rtlCol="0" anchor="t">
            <a:noAutofit/>
          </a:bodyPr>
          <a:lstStyle/>
          <a:p>
            <a:pPr marL="342900" indent="-342900" algn="l">
              <a:buSzPct val="100000"/>
              <a:buChar char="•"/>
            </a:pPr>
            <a:r>
              <a:rPr lang="en-US" sz="1700" dirty="0">
                <a:latin typeface="Times New Roman" panose="02020603050405020304" pitchFamily="18" charset="0"/>
                <a:ea typeface="Public Sans" pitchFamily="34" charset="-122"/>
                <a:cs typeface="Times New Roman" panose="02020603050405020304" pitchFamily="18" charset="0"/>
              </a:rPr>
              <a:t>Bán </a:t>
            </a:r>
            <a:r>
              <a:rPr lang="en-US" sz="1700" dirty="0" err="1">
                <a:latin typeface="Times New Roman" panose="02020603050405020304" pitchFamily="18" charset="0"/>
                <a:ea typeface="Public Sans" pitchFamily="34" charset="-122"/>
                <a:cs typeface="Times New Roman" panose="02020603050405020304" pitchFamily="18" charset="0"/>
              </a:rPr>
              <a:t>trùng</a:t>
            </a:r>
            <a:r>
              <a:rPr lang="en-US" sz="1700" dirty="0">
                <a:latin typeface="Times New Roman" panose="02020603050405020304" pitchFamily="18" charset="0"/>
                <a:ea typeface="Public Sans" pitchFamily="34" charset="-122"/>
                <a:cs typeface="Times New Roman" panose="02020603050405020304" pitchFamily="18" charset="0"/>
              </a:rPr>
              <a:t> </a:t>
            </a:r>
            <a:r>
              <a:rPr lang="vi-VN" sz="1700" dirty="0">
                <a:latin typeface="Times New Roman" panose="02020603050405020304" pitchFamily="18" charset="0"/>
                <a:ea typeface="Public Sans" pitchFamily="34" charset="-122"/>
                <a:cs typeface="Times New Roman" panose="02020603050405020304" pitchFamily="18" charset="0"/>
              </a:rPr>
              <a:t>ghế</a:t>
            </a:r>
            <a:endParaRPr lang="en-US" sz="1700" dirty="0">
              <a:latin typeface="Times New Roman" panose="02020603050405020304" pitchFamily="18" charset="0"/>
              <a:cs typeface="Times New Roman" panose="02020603050405020304" pitchFamily="18" charset="0"/>
            </a:endParaRPr>
          </a:p>
          <a:p>
            <a:pPr marL="342900" indent="-342900" algn="l">
              <a:buSzPct val="100000"/>
              <a:buChar char="•"/>
            </a:pPr>
            <a:r>
              <a:rPr lang="en-US" sz="1700" dirty="0">
                <a:latin typeface="Times New Roman" panose="02020603050405020304" pitchFamily="18" charset="0"/>
                <a:ea typeface="Public Sans" pitchFamily="34" charset="-122"/>
                <a:cs typeface="Times New Roman" panose="02020603050405020304" pitchFamily="18" charset="0"/>
              </a:rPr>
              <a:t>Sai dữ liệu</a:t>
            </a:r>
            <a:endParaRPr lang="en-US" sz="1700" dirty="0">
              <a:latin typeface="Times New Roman" panose="02020603050405020304" pitchFamily="18" charset="0"/>
              <a:cs typeface="Times New Roman" panose="02020603050405020304" pitchFamily="18" charset="0"/>
            </a:endParaRPr>
          </a:p>
          <a:p>
            <a:pPr marL="342900" indent="-342900" algn="l">
              <a:buSzPct val="100000"/>
              <a:buChar char="•"/>
            </a:pPr>
            <a:r>
              <a:rPr lang="en-US" sz="1700" dirty="0">
                <a:latin typeface="Times New Roman" panose="02020603050405020304" pitchFamily="18" charset="0"/>
                <a:ea typeface="Public Sans" pitchFamily="34" charset="-122"/>
                <a:cs typeface="Times New Roman" panose="02020603050405020304" pitchFamily="18" charset="0"/>
              </a:rPr>
              <a:t>Mất đồng bộ giữa các chi nhánh</a:t>
            </a:r>
            <a:endParaRPr lang="en-US" sz="1700" dirty="0">
              <a:latin typeface="Times New Roman" panose="02020603050405020304" pitchFamily="18" charset="0"/>
              <a:cs typeface="Times New Roman" panose="02020603050405020304" pitchFamily="18" charset="0"/>
            </a:endParaRPr>
          </a:p>
          <a:p>
            <a:pPr marL="342900" indent="-342900" algn="l">
              <a:buSzPct val="100000"/>
              <a:buChar char="•"/>
            </a:pPr>
            <a:r>
              <a:rPr lang="en-US" sz="1700" dirty="0">
                <a:latin typeface="Times New Roman" panose="02020603050405020304" pitchFamily="18" charset="0"/>
                <a:ea typeface="Public Sans" pitchFamily="34" charset="-122"/>
                <a:cs typeface="Times New Roman" panose="02020603050405020304" pitchFamily="18" charset="0"/>
              </a:rPr>
              <a:t>Deadlock khi nhiều giao dịch xảy ra </a:t>
            </a:r>
            <a:r>
              <a:rPr lang="en-US" sz="1700" dirty="0" err="1">
                <a:latin typeface="Times New Roman" panose="02020603050405020304" pitchFamily="18" charset="0"/>
                <a:ea typeface="Public Sans" pitchFamily="34" charset="-122"/>
                <a:cs typeface="Times New Roman" panose="02020603050405020304" pitchFamily="18" charset="0"/>
              </a:rPr>
              <a:t>cùng</a:t>
            </a:r>
            <a:r>
              <a:rPr lang="en-US" sz="1700" dirty="0">
                <a:latin typeface="Times New Roman" panose="02020603050405020304" pitchFamily="18" charset="0"/>
                <a:ea typeface="Public Sans" pitchFamily="34" charset="-122"/>
                <a:cs typeface="Times New Roman" panose="02020603050405020304" pitchFamily="18" charset="0"/>
              </a:rPr>
              <a:t> </a:t>
            </a:r>
            <a:r>
              <a:rPr lang="vi-VN" sz="1700" dirty="0">
                <a:latin typeface="Times New Roman" panose="02020603050405020304" pitchFamily="18" charset="0"/>
                <a:ea typeface="Public Sans" pitchFamily="34" charset="-122"/>
                <a:cs typeface="Times New Roman" panose="02020603050405020304" pitchFamily="18" charset="0"/>
              </a:rPr>
              <a:t>lúc,....</a:t>
            </a:r>
            <a:endParaRPr lang="en-US" sz="1700" dirty="0">
              <a:latin typeface="Times New Roman" panose="02020603050405020304" pitchFamily="18" charset="0"/>
              <a:cs typeface="Times New Roman" panose="02020603050405020304" pitchFamily="18" charset="0"/>
            </a:endParaRPr>
          </a:p>
        </p:txBody>
      </p:sp>
      <p:sp>
        <p:nvSpPr>
          <p:cNvPr id="11" name="Shape 8"/>
          <p:cNvSpPr/>
          <p:nvPr/>
        </p:nvSpPr>
        <p:spPr>
          <a:xfrm>
            <a:off x="484009" y="3936576"/>
            <a:ext cx="5618538" cy="1175572"/>
          </a:xfrm>
          <a:prstGeom prst="roundRect">
            <a:avLst>
              <a:gd name="adj" fmla="val 0"/>
            </a:avLst>
          </a:prstGeom>
          <a:solidFill>
            <a:srgbClr val="FFFAF6"/>
          </a:solidFill>
          <a:ln w="14288">
            <a:solidFill>
              <a:srgbClr val="CCC4EC"/>
            </a:solidFill>
            <a:prstDash val="solid"/>
          </a:ln>
          <a:effectLst>
            <a:outerShdw dist="13970" dir="2700000" algn="bl" rotWithShape="0">
              <a:srgbClr val="CCC4EC">
                <a:alpha val="100000"/>
              </a:srgbClr>
            </a:outerShdw>
          </a:effectLst>
        </p:spPr>
      </p:sp>
      <p:sp>
        <p:nvSpPr>
          <p:cNvPr id="12" name="Shape 9"/>
          <p:cNvSpPr/>
          <p:nvPr/>
        </p:nvSpPr>
        <p:spPr>
          <a:xfrm>
            <a:off x="426859" y="3824425"/>
            <a:ext cx="61520" cy="1319076"/>
          </a:xfrm>
          <a:prstGeom prst="roundRect">
            <a:avLst>
              <a:gd name="adj" fmla="val 82047"/>
            </a:avLst>
          </a:prstGeom>
          <a:solidFill>
            <a:srgbClr val="CCC4EC"/>
          </a:solidFill>
          <a:ln/>
        </p:spPr>
      </p:sp>
      <p:sp>
        <p:nvSpPr>
          <p:cNvPr id="14" name="Text 11"/>
          <p:cNvSpPr/>
          <p:nvPr/>
        </p:nvSpPr>
        <p:spPr>
          <a:xfrm>
            <a:off x="339865" y="3478847"/>
            <a:ext cx="5696793" cy="1125450"/>
          </a:xfrm>
          <a:prstGeom prst="rect">
            <a:avLst/>
          </a:prstGeom>
          <a:noFill/>
          <a:ln/>
        </p:spPr>
        <p:txBody>
          <a:bodyPr wrap="square" lIns="0" tIns="0" rIns="0" bIns="0" rtlCol="0" anchor="t">
            <a:noAutofit/>
          </a:bodyPr>
          <a:lstStyle/>
          <a:p>
            <a:pPr>
              <a:lnSpc>
                <a:spcPct val="119000"/>
              </a:lnSpc>
              <a:buSzPct val="100000"/>
            </a:pPr>
            <a:r>
              <a:rPr lang="en-US" sz="2000" b="1" dirty="0" err="1">
                <a:latin typeface="Times New Roman" panose="02020603050405020304" pitchFamily="18" charset="0"/>
                <a:ea typeface="Playfair Display SemiBold" pitchFamily="34" charset="-122"/>
                <a:cs typeface="Times New Roman" panose="02020603050405020304" pitchFamily="18" charset="0"/>
              </a:rPr>
              <a:t>Giải</a:t>
            </a:r>
            <a:r>
              <a:rPr lang="en-US" sz="2000" b="1" dirty="0">
                <a:latin typeface="Times New Roman" panose="02020603050405020304" pitchFamily="18" charset="0"/>
                <a:ea typeface="Playfair Display SemiBold" pitchFamily="34" charset="-122"/>
                <a:cs typeface="Times New Roman" panose="02020603050405020304" pitchFamily="18" charset="0"/>
              </a:rPr>
              <a:t> Pháp</a:t>
            </a:r>
            <a:endParaRPr lang="vi-VN" sz="2000" b="1" dirty="0">
              <a:latin typeface="Times New Roman" panose="02020603050405020304" pitchFamily="18" charset="0"/>
              <a:ea typeface="Playfair Display SemiBold" pitchFamily="34" charset="-122"/>
              <a:cs typeface="Times New Roman" panose="02020603050405020304" pitchFamily="18" charset="0"/>
            </a:endParaRPr>
          </a:p>
          <a:p>
            <a:pPr>
              <a:lnSpc>
                <a:spcPct val="119000"/>
              </a:lnSpc>
              <a:buSzPct val="100000"/>
            </a:pPr>
            <a:endParaRPr lang="en-US" sz="2000" b="1" dirty="0">
              <a:latin typeface="Times New Roman" panose="02020603050405020304" pitchFamily="18" charset="0"/>
              <a:cs typeface="Times New Roman" panose="02020603050405020304" pitchFamily="18" charset="0"/>
            </a:endParaRPr>
          </a:p>
          <a:p>
            <a:pPr algn="l">
              <a:lnSpc>
                <a:spcPct val="119000"/>
              </a:lnSpc>
              <a:buSzPct val="100000"/>
            </a:pPr>
            <a:r>
              <a:rPr lang="vi-VN" sz="1700" dirty="0">
                <a:latin typeface="Times New Roman" panose="02020603050405020304" pitchFamily="18" charset="0"/>
                <a:ea typeface="Public Sans" pitchFamily="34" charset="-122"/>
                <a:cs typeface="Times New Roman" panose="02020603050405020304" pitchFamily="18" charset="0"/>
              </a:rPr>
              <a:t>    1.</a:t>
            </a:r>
            <a:r>
              <a:rPr lang="en-US" sz="1700" dirty="0">
                <a:latin typeface="Times New Roman" panose="02020603050405020304" pitchFamily="18" charset="0"/>
                <a:ea typeface="Public Sans" pitchFamily="34" charset="-122"/>
                <a:cs typeface="Times New Roman" panose="02020603050405020304" pitchFamily="18" charset="0"/>
              </a:rPr>
              <a:t>Giao dịch (Transaction)</a:t>
            </a:r>
            <a:endParaRPr lang="en-US" sz="1700" dirty="0">
              <a:latin typeface="Times New Roman" panose="02020603050405020304" pitchFamily="18" charset="0"/>
              <a:cs typeface="Times New Roman" panose="02020603050405020304" pitchFamily="18" charset="0"/>
            </a:endParaRPr>
          </a:p>
          <a:p>
            <a:pPr algn="l">
              <a:lnSpc>
                <a:spcPct val="119000"/>
              </a:lnSpc>
              <a:buSzPct val="100000"/>
            </a:pPr>
            <a:r>
              <a:rPr lang="vi-VN" dirty="0">
                <a:latin typeface="Times New Roman" panose="02020603050405020304" pitchFamily="18" charset="0"/>
                <a:ea typeface="Public Sans" pitchFamily="34" charset="-122"/>
                <a:cs typeface="Times New Roman" panose="02020603050405020304" pitchFamily="18" charset="0"/>
              </a:rPr>
              <a:t>     2 </a:t>
            </a:r>
            <a:r>
              <a:rPr lang="en-US" sz="1700" dirty="0">
                <a:latin typeface="Times New Roman" panose="02020603050405020304" pitchFamily="18" charset="0"/>
                <a:ea typeface="Public Sans" pitchFamily="34" charset="-122"/>
                <a:cs typeface="Times New Roman" panose="02020603050405020304" pitchFamily="18" charset="0"/>
              </a:rPr>
              <a:t>ACID</a:t>
            </a:r>
            <a:endParaRPr lang="en-US" sz="17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F131C88-B886-C8E8-CB84-824BD24331D0}"/>
              </a:ext>
            </a:extLst>
          </p:cNvPr>
          <p:cNvSpPr txBox="1"/>
          <p:nvPr/>
        </p:nvSpPr>
        <p:spPr>
          <a:xfrm>
            <a:off x="3455859" y="4102772"/>
            <a:ext cx="2985641" cy="1287853"/>
          </a:xfrm>
          <a:prstGeom prst="rect">
            <a:avLst/>
          </a:prstGeom>
          <a:noFill/>
        </p:spPr>
        <p:txBody>
          <a:bodyPr wrap="square" rtlCol="0">
            <a:spAutoFit/>
          </a:bodyPr>
          <a:lstStyle/>
          <a:p>
            <a:pPr>
              <a:lnSpc>
                <a:spcPct val="119000"/>
              </a:lnSpc>
              <a:buSzPct val="100000"/>
            </a:pPr>
            <a:r>
              <a:rPr lang="vi-VN" sz="1700" dirty="0">
                <a:latin typeface="Times New Roman" panose="02020603050405020304" pitchFamily="18" charset="0"/>
                <a:ea typeface="Public Sans" pitchFamily="34" charset="-122"/>
                <a:cs typeface="Times New Roman" panose="02020603050405020304" pitchFamily="18" charset="0"/>
              </a:rPr>
              <a:t>3 </a:t>
            </a:r>
            <a:r>
              <a:rPr lang="en-US" sz="1700" dirty="0" err="1">
                <a:latin typeface="Times New Roman" panose="02020603050405020304" pitchFamily="18" charset="0"/>
                <a:ea typeface="Public Sans" pitchFamily="34" charset="-122"/>
                <a:cs typeface="Times New Roman" panose="02020603050405020304" pitchFamily="18" charset="0"/>
              </a:rPr>
              <a:t>Điều</a:t>
            </a:r>
            <a:r>
              <a:rPr lang="en-US" sz="1700" dirty="0">
                <a:latin typeface="Times New Roman" panose="02020603050405020304" pitchFamily="18" charset="0"/>
                <a:ea typeface="Public Sans" pitchFamily="34" charset="-122"/>
                <a:cs typeface="Times New Roman" panose="02020603050405020304" pitchFamily="18" charset="0"/>
              </a:rPr>
              <a:t> </a:t>
            </a:r>
            <a:r>
              <a:rPr lang="en-US" sz="1700" dirty="0" err="1">
                <a:latin typeface="Times New Roman" panose="02020603050405020304" pitchFamily="18" charset="0"/>
                <a:ea typeface="Public Sans" pitchFamily="34" charset="-122"/>
                <a:cs typeface="Times New Roman" panose="02020603050405020304" pitchFamily="18" charset="0"/>
              </a:rPr>
              <a:t>khiển</a:t>
            </a:r>
            <a:r>
              <a:rPr lang="en-US" sz="1700" dirty="0">
                <a:latin typeface="Times New Roman" panose="02020603050405020304" pitchFamily="18" charset="0"/>
                <a:ea typeface="Public Sans" pitchFamily="34" charset="-122"/>
                <a:cs typeface="Times New Roman" panose="02020603050405020304" pitchFamily="18" charset="0"/>
              </a:rPr>
              <a:t> </a:t>
            </a:r>
            <a:r>
              <a:rPr lang="en-US" sz="1700" dirty="0" err="1">
                <a:latin typeface="Times New Roman" panose="02020603050405020304" pitchFamily="18" charset="0"/>
                <a:ea typeface="Public Sans" pitchFamily="34" charset="-122"/>
                <a:cs typeface="Times New Roman" panose="02020603050405020304" pitchFamily="18" charset="0"/>
              </a:rPr>
              <a:t>tương</a:t>
            </a:r>
            <a:r>
              <a:rPr lang="en-US" sz="1700" dirty="0">
                <a:latin typeface="Times New Roman" panose="02020603050405020304" pitchFamily="18" charset="0"/>
                <a:ea typeface="Public Sans" pitchFamily="34" charset="-122"/>
                <a:cs typeface="Times New Roman" panose="02020603050405020304" pitchFamily="18" charset="0"/>
              </a:rPr>
              <a:t> </a:t>
            </a:r>
            <a:r>
              <a:rPr lang="en-US" sz="1700" dirty="0" err="1">
                <a:latin typeface="Times New Roman" panose="02020603050405020304" pitchFamily="18" charset="0"/>
                <a:ea typeface="Public Sans" pitchFamily="34" charset="-122"/>
                <a:cs typeface="Times New Roman" panose="02020603050405020304" pitchFamily="18" charset="0"/>
              </a:rPr>
              <a:t>tranh</a:t>
            </a:r>
            <a:endParaRPr lang="en-US" sz="1700" dirty="0">
              <a:latin typeface="Times New Roman" panose="02020603050405020304" pitchFamily="18" charset="0"/>
              <a:cs typeface="Times New Roman" panose="02020603050405020304" pitchFamily="18" charset="0"/>
            </a:endParaRPr>
          </a:p>
          <a:p>
            <a:pPr>
              <a:lnSpc>
                <a:spcPct val="119000"/>
              </a:lnSpc>
              <a:buSzPct val="100000"/>
            </a:pPr>
            <a:r>
              <a:rPr lang="vi-VN" sz="1700" dirty="0">
                <a:latin typeface="Times New Roman" panose="02020603050405020304" pitchFamily="18" charset="0"/>
                <a:ea typeface="Public Sans" pitchFamily="34" charset="-122"/>
                <a:cs typeface="Times New Roman" panose="02020603050405020304" pitchFamily="18" charset="0"/>
              </a:rPr>
              <a:t>4 </a:t>
            </a:r>
            <a:r>
              <a:rPr lang="en-US" sz="1700" dirty="0">
                <a:latin typeface="Times New Roman" panose="02020603050405020304" pitchFamily="18" charset="0"/>
                <a:ea typeface="Public Sans" pitchFamily="34" charset="-122"/>
                <a:cs typeface="Times New Roman" panose="02020603050405020304" pitchFamily="18" charset="0"/>
              </a:rPr>
              <a:t>Giao </a:t>
            </a:r>
            <a:r>
              <a:rPr lang="en-US" sz="1700" dirty="0" err="1">
                <a:latin typeface="Times New Roman" panose="02020603050405020304" pitchFamily="18" charset="0"/>
                <a:ea typeface="Public Sans" pitchFamily="34" charset="-122"/>
                <a:cs typeface="Times New Roman" panose="02020603050405020304" pitchFamily="18" charset="0"/>
              </a:rPr>
              <a:t>dịch</a:t>
            </a:r>
            <a:r>
              <a:rPr lang="en-US" sz="1700" dirty="0">
                <a:latin typeface="Times New Roman" panose="02020603050405020304" pitchFamily="18" charset="0"/>
                <a:ea typeface="Public Sans" pitchFamily="34" charset="-122"/>
                <a:cs typeface="Times New Roman" panose="02020603050405020304" pitchFamily="18" charset="0"/>
              </a:rPr>
              <a:t> </a:t>
            </a:r>
            <a:r>
              <a:rPr lang="en-US" sz="1700" dirty="0" err="1">
                <a:latin typeface="Times New Roman" panose="02020603050405020304" pitchFamily="18" charset="0"/>
                <a:ea typeface="Public Sans" pitchFamily="34" charset="-122"/>
                <a:cs typeface="Times New Roman" panose="02020603050405020304" pitchFamily="18" charset="0"/>
              </a:rPr>
              <a:t>phân</a:t>
            </a:r>
            <a:r>
              <a:rPr lang="en-US" sz="1700" dirty="0">
                <a:latin typeface="Times New Roman" panose="02020603050405020304" pitchFamily="18" charset="0"/>
                <a:ea typeface="Public Sans" pitchFamily="34" charset="-122"/>
                <a:cs typeface="Times New Roman" panose="02020603050405020304" pitchFamily="18" charset="0"/>
              </a:rPr>
              <a:t> </a:t>
            </a:r>
            <a:r>
              <a:rPr lang="en-US" sz="1700" dirty="0" err="1">
                <a:latin typeface="Times New Roman" panose="02020603050405020304" pitchFamily="18" charset="0"/>
                <a:ea typeface="Public Sans" pitchFamily="34" charset="-122"/>
                <a:cs typeface="Times New Roman" panose="02020603050405020304" pitchFamily="18" charset="0"/>
              </a:rPr>
              <a:t>tán</a:t>
            </a:r>
            <a:endParaRPr lang="en-US" sz="1700" dirty="0">
              <a:latin typeface="Times New Roman" panose="02020603050405020304" pitchFamily="18" charset="0"/>
              <a:cs typeface="Times New Roman" panose="02020603050405020304" pitchFamily="18" charset="0"/>
            </a:endParaRPr>
          </a:p>
          <a:p>
            <a:pPr>
              <a:lnSpc>
                <a:spcPct val="119000"/>
              </a:lnSpc>
              <a:buSzPct val="100000"/>
            </a:pPr>
            <a:r>
              <a:rPr lang="vi-VN" sz="1700" dirty="0">
                <a:latin typeface="Times New Roman" panose="02020603050405020304" pitchFamily="18" charset="0"/>
                <a:ea typeface="Public Sans" pitchFamily="34" charset="-122"/>
                <a:cs typeface="Times New Roman" panose="02020603050405020304" pitchFamily="18" charset="0"/>
              </a:rPr>
              <a:t>5 </a:t>
            </a:r>
            <a:r>
              <a:rPr lang="en-US" sz="1700" dirty="0">
                <a:latin typeface="Times New Roman" panose="02020603050405020304" pitchFamily="18" charset="0"/>
                <a:ea typeface="Public Sans" pitchFamily="34" charset="-122"/>
                <a:cs typeface="Times New Roman" panose="02020603050405020304" pitchFamily="18" charset="0"/>
              </a:rPr>
              <a:t>Deadlock handling</a:t>
            </a:r>
            <a:endParaRPr lang="en-US" sz="1700" dirty="0">
              <a:latin typeface="Times New Roman" panose="02020603050405020304" pitchFamily="18" charset="0"/>
              <a:cs typeface="Times New Roman" panose="02020603050405020304" pitchFamily="18" charset="0"/>
            </a:endParaRPr>
          </a:p>
          <a:p>
            <a:endParaRPr lang="en-US" sz="1700" dirty="0"/>
          </a:p>
        </p:txBody>
      </p:sp>
      <p:pic>
        <p:nvPicPr>
          <p:cNvPr id="16" name="Picture 15">
            <a:extLst>
              <a:ext uri="{FF2B5EF4-FFF2-40B4-BE49-F238E27FC236}">
                <a16:creationId xmlns:a16="http://schemas.microsoft.com/office/drawing/2014/main" id="{17378DF3-82CD-0B99-6827-D94DC608B275}"/>
              </a:ext>
            </a:extLst>
          </p:cNvPr>
          <p:cNvPicPr>
            <a:picLocks noChangeAspect="1"/>
          </p:cNvPicPr>
          <p:nvPr/>
        </p:nvPicPr>
        <p:blipFill>
          <a:blip r:embed="rId4"/>
          <a:stretch>
            <a:fillRect/>
          </a:stretch>
        </p:blipFill>
        <p:spPr>
          <a:xfrm>
            <a:off x="3786078" y="2305013"/>
            <a:ext cx="1571844" cy="533474"/>
          </a:xfrm>
          <a:prstGeom prst="rect">
            <a:avLst/>
          </a:prstGeom>
        </p:spPr>
      </p:pic>
      <p:pic>
        <p:nvPicPr>
          <p:cNvPr id="18" name="Picture 17">
            <a:extLst>
              <a:ext uri="{FF2B5EF4-FFF2-40B4-BE49-F238E27FC236}">
                <a16:creationId xmlns:a16="http://schemas.microsoft.com/office/drawing/2014/main" id="{053C60B8-D00B-5C9D-45ED-E4A6AB7334B5}"/>
              </a:ext>
            </a:extLst>
          </p:cNvPr>
          <p:cNvPicPr>
            <a:picLocks noChangeAspect="1"/>
          </p:cNvPicPr>
          <p:nvPr/>
        </p:nvPicPr>
        <p:blipFill>
          <a:blip r:embed="rId4"/>
          <a:stretch>
            <a:fillRect/>
          </a:stretch>
        </p:blipFill>
        <p:spPr>
          <a:xfrm>
            <a:off x="7562609" y="4562178"/>
            <a:ext cx="1571844" cy="5334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1"/>
          <p:cNvSpPr/>
          <p:nvPr/>
        </p:nvSpPr>
        <p:spPr>
          <a:xfrm>
            <a:off x="161841" y="137566"/>
            <a:ext cx="4947875" cy="723480"/>
          </a:xfrm>
          <a:prstGeom prst="rect">
            <a:avLst/>
          </a:prstGeom>
          <a:noFill/>
          <a:ln/>
        </p:spPr>
        <p:txBody>
          <a:bodyPr wrap="none" lIns="0" tIns="0" rIns="0" bIns="0" rtlCol="0" anchor="t"/>
          <a:lstStyle/>
          <a:p>
            <a:pPr marL="0" indent="0" algn="l">
              <a:lnSpc>
                <a:spcPct val="104000"/>
              </a:lnSpc>
              <a:buNone/>
            </a:pPr>
            <a:r>
              <a:rPr lang="en-US" sz="2000" b="1" dirty="0">
                <a:latin typeface="Times New Roman" panose="02020603050405020304" pitchFamily="18" charset="0"/>
                <a:ea typeface="Playfair Display SemiBold" pitchFamily="34" charset="-122"/>
                <a:cs typeface="Times New Roman" panose="02020603050405020304" pitchFamily="18" charset="0"/>
              </a:rPr>
              <a:t>1. Khái Niệm Giao Dịch (Transaction)</a:t>
            </a:r>
            <a:endParaRPr lang="en-US" sz="2000" b="1" dirty="0">
              <a:latin typeface="Times New Roman" panose="02020603050405020304" pitchFamily="18" charset="0"/>
              <a:cs typeface="Times New Roman" panose="02020603050405020304" pitchFamily="18" charset="0"/>
            </a:endParaRPr>
          </a:p>
        </p:txBody>
      </p:sp>
      <p:sp>
        <p:nvSpPr>
          <p:cNvPr id="5" name="Text 2"/>
          <p:cNvSpPr/>
          <p:nvPr/>
        </p:nvSpPr>
        <p:spPr>
          <a:xfrm>
            <a:off x="161841" y="469339"/>
            <a:ext cx="8982159" cy="900848"/>
          </a:xfrm>
          <a:prstGeom prst="rect">
            <a:avLst/>
          </a:prstGeom>
          <a:noFill/>
          <a:ln/>
        </p:spPr>
        <p:txBody>
          <a:bodyPr wrap="square" lIns="0" tIns="0" rIns="0" bIns="0" rtlCol="0" anchor="t">
            <a:noAutofit/>
          </a:bodyPr>
          <a:lstStyle/>
          <a:p>
            <a:pPr marL="0" indent="0" algn="l">
              <a:lnSpc>
                <a:spcPct val="113000"/>
              </a:lnSpc>
              <a:buNone/>
            </a:pPr>
            <a:r>
              <a:rPr lang="en-US" sz="1700" b="1" dirty="0">
                <a:latin typeface="Times New Roman" panose="02020603050405020304" pitchFamily="18" charset="0"/>
                <a:ea typeface="Public Sans" pitchFamily="34" charset="-122"/>
                <a:cs typeface="Times New Roman" panose="02020603050405020304" pitchFamily="18" charset="0"/>
              </a:rPr>
              <a:t>Giao dịch (Transaction)</a:t>
            </a:r>
            <a:r>
              <a:rPr lang="en-US" sz="1700" dirty="0">
                <a:latin typeface="Times New Roman" panose="02020603050405020304" pitchFamily="18" charset="0"/>
                <a:ea typeface="Public Sans" pitchFamily="34" charset="-122"/>
                <a:cs typeface="Times New Roman" panose="02020603050405020304" pitchFamily="18" charset="0"/>
              </a:rPr>
              <a:t> là một tập hợp các thao tác đọc/ghi dữ liệu được thực hiện như một đơn vị công việc logic hoàn chỉnh. Trong cơ sở dữ liệu, một giao dịch phải đảm bảo: hoặc tất cả thao tác đều thành công, hoặc tất cả đều bị </a:t>
            </a:r>
            <a:r>
              <a:rPr lang="en-US" sz="1700" dirty="0" err="1">
                <a:latin typeface="Times New Roman" panose="02020603050405020304" pitchFamily="18" charset="0"/>
                <a:ea typeface="Public Sans" pitchFamily="34" charset="-122"/>
                <a:cs typeface="Times New Roman" panose="02020603050405020304" pitchFamily="18" charset="0"/>
              </a:rPr>
              <a:t>hủy</a:t>
            </a:r>
            <a:r>
              <a:rPr lang="en-US" sz="1700" dirty="0">
                <a:latin typeface="Times New Roman" panose="02020603050405020304" pitchFamily="18" charset="0"/>
                <a:ea typeface="Public Sans" pitchFamily="34" charset="-122"/>
                <a:cs typeface="Times New Roman" panose="02020603050405020304" pitchFamily="18" charset="0"/>
              </a:rPr>
              <a:t>.</a:t>
            </a:r>
            <a:endParaRPr lang="vi-VN" sz="1700" dirty="0">
              <a:latin typeface="Times New Roman" panose="02020603050405020304" pitchFamily="18" charset="0"/>
              <a:ea typeface="Public Sans" pitchFamily="34" charset="-122"/>
              <a:cs typeface="Times New Roman" panose="02020603050405020304" pitchFamily="18" charset="0"/>
            </a:endParaRPr>
          </a:p>
          <a:p>
            <a:pPr marL="0" indent="0" algn="l">
              <a:lnSpc>
                <a:spcPct val="113000"/>
              </a:lnSpc>
              <a:buNone/>
            </a:pPr>
            <a:endParaRPr lang="en-US" dirty="0">
              <a:latin typeface="Times New Roman" panose="02020603050405020304" pitchFamily="18" charset="0"/>
              <a:cs typeface="Times New Roman" panose="02020603050405020304" pitchFamily="18" charset="0"/>
            </a:endParaRPr>
          </a:p>
        </p:txBody>
      </p:sp>
      <p:sp>
        <p:nvSpPr>
          <p:cNvPr id="6" name="Shape 3"/>
          <p:cNvSpPr/>
          <p:nvPr/>
        </p:nvSpPr>
        <p:spPr>
          <a:xfrm>
            <a:off x="496119" y="1448321"/>
            <a:ext cx="4722763" cy="595387"/>
          </a:xfrm>
          <a:prstGeom prst="roundRect">
            <a:avLst>
              <a:gd name="adj" fmla="val 7000"/>
            </a:avLst>
          </a:prstGeom>
          <a:solidFill>
            <a:srgbClr val="FFFAF6"/>
          </a:solidFill>
          <a:ln w="14288">
            <a:solidFill>
              <a:srgbClr val="E1C2C2"/>
            </a:solidFill>
            <a:prstDash val="solid"/>
          </a:ln>
          <a:effectLst>
            <a:outerShdw dist="12700" dir="2700000" algn="bl" rotWithShape="0">
              <a:srgbClr val="E1C2C2">
                <a:alpha val="100000"/>
              </a:srgbClr>
            </a:outerShdw>
          </a:effectLst>
        </p:spPr>
        <p:txBody>
          <a:bodyPr/>
          <a:lstStyle/>
          <a:p>
            <a:endParaRPr lang="en-US" dirty="0"/>
          </a:p>
        </p:txBody>
      </p:sp>
      <p:sp>
        <p:nvSpPr>
          <p:cNvPr id="7" name="Shape 4"/>
          <p:cNvSpPr/>
          <p:nvPr/>
        </p:nvSpPr>
        <p:spPr>
          <a:xfrm>
            <a:off x="510406" y="1462608"/>
            <a:ext cx="396925" cy="566812"/>
          </a:xfrm>
          <a:prstGeom prst="roundRect">
            <a:avLst>
              <a:gd name="adj" fmla="val 6181"/>
            </a:avLst>
          </a:prstGeom>
          <a:solidFill>
            <a:srgbClr val="E1C2C2">
              <a:alpha val="50000"/>
            </a:srgbClr>
          </a:solidFill>
          <a:ln/>
          <a:effectLst>
            <a:outerShdw dist="12700" dir="2700000" algn="bl" rotWithShape="0">
              <a:srgbClr val="C7A8A8">
                <a:alpha val="100000"/>
              </a:srgbClr>
            </a:outerShdw>
          </a:effectLst>
        </p:spPr>
      </p:sp>
      <p:sp>
        <p:nvSpPr>
          <p:cNvPr id="8" name="Text 5"/>
          <p:cNvSpPr/>
          <p:nvPr/>
        </p:nvSpPr>
        <p:spPr>
          <a:xfrm>
            <a:off x="632073" y="1652960"/>
            <a:ext cx="148828" cy="186035"/>
          </a:xfrm>
          <a:prstGeom prst="rect">
            <a:avLst/>
          </a:prstGeom>
          <a:noFill/>
          <a:ln/>
        </p:spPr>
        <p:txBody>
          <a:bodyPr wrap="none" lIns="0" tIns="0" rIns="0" bIns="0" rtlCol="0" anchor="ctr"/>
          <a:lstStyle/>
          <a:p>
            <a:pPr marL="0" indent="0" algn="ctr">
              <a:lnSpc>
                <a:spcPct val="100000"/>
              </a:lnSpc>
              <a:buNone/>
            </a:pPr>
            <a:r>
              <a:rPr lang="en-US" sz="1150" dirty="0">
                <a:solidFill>
                  <a:srgbClr val="000000"/>
                </a:solidFill>
                <a:latin typeface="Playfair Display SemiBold" pitchFamily="34" charset="0"/>
                <a:ea typeface="Playfair Display SemiBold" pitchFamily="34" charset="-122"/>
                <a:cs typeface="Playfair Display SemiBold" pitchFamily="34" charset="-120"/>
              </a:rPr>
              <a:t>1</a:t>
            </a:r>
            <a:endParaRPr lang="en-US" sz="1150" dirty="0"/>
          </a:p>
        </p:txBody>
      </p:sp>
      <p:sp>
        <p:nvSpPr>
          <p:cNvPr id="9" name="Text 6"/>
          <p:cNvSpPr/>
          <p:nvPr/>
        </p:nvSpPr>
        <p:spPr>
          <a:xfrm>
            <a:off x="976759" y="1483668"/>
            <a:ext cx="1240408" cy="233138"/>
          </a:xfrm>
          <a:prstGeom prst="rect">
            <a:avLst/>
          </a:prstGeom>
          <a:noFill/>
          <a:ln/>
        </p:spPr>
        <p:txBody>
          <a:bodyPr wrap="none" lIns="0" tIns="0" rIns="0" bIns="0" rtlCol="0" anchor="t"/>
          <a:lstStyle/>
          <a:p>
            <a:pPr marL="0" indent="0" algn="l">
              <a:lnSpc>
                <a:spcPct val="104000"/>
              </a:lnSpc>
              <a:buNone/>
            </a:pPr>
            <a:endParaRPr lang="en-US" dirty="0">
              <a:latin typeface="Times New Roman" panose="02020603050405020304" pitchFamily="18" charset="0"/>
              <a:cs typeface="Times New Roman" panose="02020603050405020304" pitchFamily="18" charset="0"/>
            </a:endParaRPr>
          </a:p>
        </p:txBody>
      </p:sp>
      <p:sp>
        <p:nvSpPr>
          <p:cNvPr id="10" name="Text 7"/>
          <p:cNvSpPr/>
          <p:nvPr/>
        </p:nvSpPr>
        <p:spPr>
          <a:xfrm>
            <a:off x="981075" y="1560767"/>
            <a:ext cx="4124325" cy="332699"/>
          </a:xfrm>
          <a:prstGeom prst="rect">
            <a:avLst/>
          </a:prstGeom>
          <a:noFill/>
          <a:ln/>
        </p:spPr>
        <p:txBody>
          <a:bodyPr wrap="none" lIns="0" tIns="0" rIns="0" bIns="0" rtlCol="0" anchor="t"/>
          <a:lstStyle/>
          <a:p>
            <a:pPr marL="0" indent="0" algn="l">
              <a:lnSpc>
                <a:spcPct val="113000"/>
              </a:lnSpc>
              <a:buNone/>
            </a:pPr>
            <a:r>
              <a:rPr lang="en-US" sz="1700" dirty="0">
                <a:latin typeface="Times New Roman" panose="02020603050405020304" pitchFamily="18" charset="0"/>
                <a:ea typeface="Public Sans" pitchFamily="34" charset="-122"/>
                <a:cs typeface="Times New Roman" panose="02020603050405020304" pitchFamily="18" charset="0"/>
              </a:rPr>
              <a:t>Kiểm tra số ghế còn trống</a:t>
            </a:r>
            <a:endParaRPr lang="en-US" sz="1700" dirty="0">
              <a:latin typeface="Times New Roman" panose="02020603050405020304" pitchFamily="18" charset="0"/>
              <a:cs typeface="Times New Roman" panose="02020603050405020304" pitchFamily="18" charset="0"/>
            </a:endParaRPr>
          </a:p>
        </p:txBody>
      </p:sp>
      <p:sp>
        <p:nvSpPr>
          <p:cNvPr id="11" name="Shape 8"/>
          <p:cNvSpPr/>
          <p:nvPr/>
        </p:nvSpPr>
        <p:spPr>
          <a:xfrm>
            <a:off x="496119" y="2113136"/>
            <a:ext cx="4722763" cy="595387"/>
          </a:xfrm>
          <a:prstGeom prst="roundRect">
            <a:avLst>
              <a:gd name="adj" fmla="val 7000"/>
            </a:avLst>
          </a:prstGeom>
          <a:solidFill>
            <a:srgbClr val="FFFAF6"/>
          </a:solidFill>
          <a:ln w="14288">
            <a:solidFill>
              <a:srgbClr val="CCC4EC"/>
            </a:solidFill>
            <a:prstDash val="solid"/>
          </a:ln>
          <a:effectLst>
            <a:outerShdw dist="12700" dir="2700000" algn="bl" rotWithShape="0">
              <a:srgbClr val="CCC4EC">
                <a:alpha val="100000"/>
              </a:srgbClr>
            </a:outerShdw>
          </a:effectLst>
        </p:spPr>
        <p:txBody>
          <a:bodyPr/>
          <a:lstStyle/>
          <a:p>
            <a:endParaRPr lang="en-US" dirty="0"/>
          </a:p>
        </p:txBody>
      </p:sp>
      <p:sp>
        <p:nvSpPr>
          <p:cNvPr id="12" name="Shape 9"/>
          <p:cNvSpPr/>
          <p:nvPr/>
        </p:nvSpPr>
        <p:spPr>
          <a:xfrm>
            <a:off x="510406" y="2127424"/>
            <a:ext cx="396925" cy="566812"/>
          </a:xfrm>
          <a:prstGeom prst="roundRect">
            <a:avLst>
              <a:gd name="adj" fmla="val 6181"/>
            </a:avLst>
          </a:prstGeom>
          <a:solidFill>
            <a:srgbClr val="CCC4EC">
              <a:alpha val="50000"/>
            </a:srgbClr>
          </a:solidFill>
          <a:ln/>
          <a:effectLst>
            <a:outerShdw dist="12700" dir="2700000" algn="bl" rotWithShape="0">
              <a:srgbClr val="B2AAD2">
                <a:alpha val="100000"/>
              </a:srgbClr>
            </a:outerShdw>
          </a:effectLst>
        </p:spPr>
      </p:sp>
      <p:sp>
        <p:nvSpPr>
          <p:cNvPr id="13" name="Text 10"/>
          <p:cNvSpPr/>
          <p:nvPr/>
        </p:nvSpPr>
        <p:spPr>
          <a:xfrm>
            <a:off x="632073" y="2317775"/>
            <a:ext cx="148828" cy="186035"/>
          </a:xfrm>
          <a:prstGeom prst="rect">
            <a:avLst/>
          </a:prstGeom>
          <a:noFill/>
          <a:ln/>
        </p:spPr>
        <p:txBody>
          <a:bodyPr wrap="none" lIns="0" tIns="0" rIns="0" bIns="0" rtlCol="0" anchor="ctr"/>
          <a:lstStyle/>
          <a:p>
            <a:pPr marL="0" indent="0" algn="ctr">
              <a:lnSpc>
                <a:spcPct val="100000"/>
              </a:lnSpc>
              <a:buNone/>
            </a:pPr>
            <a:r>
              <a:rPr lang="en-US" sz="1150" dirty="0">
                <a:solidFill>
                  <a:srgbClr val="000000"/>
                </a:solidFill>
                <a:latin typeface="Playfair Display SemiBold" pitchFamily="34" charset="0"/>
                <a:ea typeface="Playfair Display SemiBold" pitchFamily="34" charset="-122"/>
                <a:cs typeface="Playfair Display SemiBold" pitchFamily="34" charset="-120"/>
              </a:rPr>
              <a:t>2</a:t>
            </a:r>
            <a:endParaRPr lang="en-US" sz="1150" dirty="0"/>
          </a:p>
        </p:txBody>
      </p:sp>
      <p:sp>
        <p:nvSpPr>
          <p:cNvPr id="14" name="Text 11"/>
          <p:cNvSpPr/>
          <p:nvPr/>
        </p:nvSpPr>
        <p:spPr>
          <a:xfrm>
            <a:off x="976759" y="2226618"/>
            <a:ext cx="1240408" cy="155004"/>
          </a:xfrm>
          <a:prstGeom prst="rect">
            <a:avLst/>
          </a:prstGeom>
          <a:noFill/>
          <a:ln/>
        </p:spPr>
        <p:txBody>
          <a:bodyPr wrap="none" lIns="0" tIns="0" rIns="0" bIns="0" rtlCol="0" anchor="t"/>
          <a:lstStyle/>
          <a:p>
            <a:pPr marL="0" indent="0" algn="l">
              <a:lnSpc>
                <a:spcPct val="104000"/>
              </a:lnSpc>
              <a:buNone/>
            </a:pPr>
            <a:endParaRPr lang="en-US" sz="950" dirty="0"/>
          </a:p>
        </p:txBody>
      </p:sp>
      <p:sp>
        <p:nvSpPr>
          <p:cNvPr id="15" name="Text 12"/>
          <p:cNvSpPr/>
          <p:nvPr/>
        </p:nvSpPr>
        <p:spPr>
          <a:xfrm>
            <a:off x="1028998" y="2226618"/>
            <a:ext cx="4080718" cy="427099"/>
          </a:xfrm>
          <a:prstGeom prst="rect">
            <a:avLst/>
          </a:prstGeom>
          <a:noFill/>
          <a:ln/>
        </p:spPr>
        <p:txBody>
          <a:bodyPr wrap="none" lIns="0" tIns="0" rIns="0" bIns="0" rtlCol="0" anchor="t"/>
          <a:lstStyle/>
          <a:p>
            <a:pPr marL="0" indent="0" algn="l">
              <a:lnSpc>
                <a:spcPct val="113000"/>
              </a:lnSpc>
              <a:buNone/>
            </a:pPr>
            <a:r>
              <a:rPr lang="en-US" sz="1700" dirty="0">
                <a:latin typeface="Times New Roman" panose="02020603050405020304" pitchFamily="18" charset="0"/>
                <a:ea typeface="Public Sans" pitchFamily="34" charset="-122"/>
                <a:cs typeface="Times New Roman" panose="02020603050405020304" pitchFamily="18" charset="0"/>
              </a:rPr>
              <a:t>Giảm số ghế </a:t>
            </a:r>
            <a:r>
              <a:rPr lang="en-US" sz="1700" dirty="0" err="1">
                <a:latin typeface="Times New Roman" panose="02020603050405020304" pitchFamily="18" charset="0"/>
                <a:ea typeface="Public Sans" pitchFamily="34" charset="-122"/>
                <a:cs typeface="Times New Roman" panose="02020603050405020304" pitchFamily="18" charset="0"/>
              </a:rPr>
              <a:t>còn</a:t>
            </a:r>
            <a:r>
              <a:rPr lang="en-US" sz="1700" dirty="0">
                <a:latin typeface="Times New Roman" panose="02020603050405020304" pitchFamily="18" charset="0"/>
                <a:ea typeface="Public Sans" pitchFamily="34" charset="-122"/>
                <a:cs typeface="Times New Roman" panose="02020603050405020304" pitchFamily="18" charset="0"/>
              </a:rPr>
              <a:t> </a:t>
            </a:r>
            <a:r>
              <a:rPr lang="en-US" sz="1700" dirty="0" err="1">
                <a:latin typeface="Times New Roman" panose="02020603050405020304" pitchFamily="18" charset="0"/>
                <a:ea typeface="Public Sans" pitchFamily="34" charset="-122"/>
                <a:cs typeface="Times New Roman" panose="02020603050405020304" pitchFamily="18" charset="0"/>
              </a:rPr>
              <a:t>lại</a:t>
            </a:r>
            <a:r>
              <a:rPr lang="vi-VN" sz="1700" dirty="0">
                <a:latin typeface="Times New Roman" panose="02020603050405020304" pitchFamily="18" charset="0"/>
                <a:ea typeface="Public Sans" pitchFamily="34" charset="-122"/>
                <a:cs typeface="Times New Roman" panose="02020603050405020304" pitchFamily="18" charset="0"/>
              </a:rPr>
              <a:t> </a:t>
            </a:r>
            <a:endParaRPr lang="en-US" sz="1700" dirty="0">
              <a:latin typeface="Times New Roman" panose="02020603050405020304" pitchFamily="18" charset="0"/>
              <a:cs typeface="Times New Roman" panose="02020603050405020304" pitchFamily="18" charset="0"/>
            </a:endParaRPr>
          </a:p>
        </p:txBody>
      </p:sp>
      <p:sp>
        <p:nvSpPr>
          <p:cNvPr id="16" name="Shape 13"/>
          <p:cNvSpPr/>
          <p:nvPr/>
        </p:nvSpPr>
        <p:spPr>
          <a:xfrm>
            <a:off x="496119" y="2777951"/>
            <a:ext cx="4722763" cy="595387"/>
          </a:xfrm>
          <a:prstGeom prst="roundRect">
            <a:avLst>
              <a:gd name="adj" fmla="val 7000"/>
            </a:avLst>
          </a:prstGeom>
          <a:solidFill>
            <a:srgbClr val="FFFAF6"/>
          </a:solidFill>
          <a:ln w="14288">
            <a:solidFill>
              <a:srgbClr val="B4DAE4"/>
            </a:solidFill>
            <a:prstDash val="solid"/>
          </a:ln>
          <a:effectLst>
            <a:outerShdw dist="12700" dir="2700000" algn="bl" rotWithShape="0">
              <a:srgbClr val="B4DAE4">
                <a:alpha val="100000"/>
              </a:srgbClr>
            </a:outerShdw>
          </a:effectLst>
        </p:spPr>
      </p:sp>
      <p:sp>
        <p:nvSpPr>
          <p:cNvPr id="17" name="Shape 14"/>
          <p:cNvSpPr/>
          <p:nvPr/>
        </p:nvSpPr>
        <p:spPr>
          <a:xfrm>
            <a:off x="510406" y="2792239"/>
            <a:ext cx="396925" cy="566812"/>
          </a:xfrm>
          <a:prstGeom prst="roundRect">
            <a:avLst>
              <a:gd name="adj" fmla="val 6181"/>
            </a:avLst>
          </a:prstGeom>
          <a:solidFill>
            <a:srgbClr val="B4DAE4">
              <a:alpha val="50000"/>
            </a:srgbClr>
          </a:solidFill>
          <a:ln/>
          <a:effectLst>
            <a:outerShdw dist="12700" dir="2700000" algn="bl" rotWithShape="0">
              <a:srgbClr val="9AC0CA">
                <a:alpha val="100000"/>
              </a:srgbClr>
            </a:outerShdw>
          </a:effectLst>
        </p:spPr>
      </p:sp>
      <p:sp>
        <p:nvSpPr>
          <p:cNvPr id="18" name="Text 15"/>
          <p:cNvSpPr/>
          <p:nvPr/>
        </p:nvSpPr>
        <p:spPr>
          <a:xfrm>
            <a:off x="632073" y="2982590"/>
            <a:ext cx="148828" cy="186035"/>
          </a:xfrm>
          <a:prstGeom prst="rect">
            <a:avLst/>
          </a:prstGeom>
          <a:noFill/>
          <a:ln/>
        </p:spPr>
        <p:txBody>
          <a:bodyPr wrap="none" lIns="0" tIns="0" rIns="0" bIns="0" rtlCol="0" anchor="ctr"/>
          <a:lstStyle/>
          <a:p>
            <a:pPr marL="0" indent="0" algn="ctr">
              <a:lnSpc>
                <a:spcPct val="100000"/>
              </a:lnSpc>
              <a:buNone/>
            </a:pPr>
            <a:r>
              <a:rPr lang="en-US" sz="1150" dirty="0">
                <a:solidFill>
                  <a:srgbClr val="000000"/>
                </a:solidFill>
                <a:latin typeface="Playfair Display SemiBold" pitchFamily="34" charset="0"/>
                <a:ea typeface="Playfair Display SemiBold" pitchFamily="34" charset="-122"/>
                <a:cs typeface="Playfair Display SemiBold" pitchFamily="34" charset="-120"/>
              </a:rPr>
              <a:t>3</a:t>
            </a:r>
            <a:endParaRPr lang="en-US" sz="1150" dirty="0"/>
          </a:p>
        </p:txBody>
      </p:sp>
      <p:sp>
        <p:nvSpPr>
          <p:cNvPr id="19" name="Text 16"/>
          <p:cNvSpPr/>
          <p:nvPr/>
        </p:nvSpPr>
        <p:spPr>
          <a:xfrm>
            <a:off x="976759" y="2891433"/>
            <a:ext cx="1240408" cy="155004"/>
          </a:xfrm>
          <a:prstGeom prst="rect">
            <a:avLst/>
          </a:prstGeom>
          <a:noFill/>
          <a:ln/>
        </p:spPr>
        <p:txBody>
          <a:bodyPr wrap="none" lIns="0" tIns="0" rIns="0" bIns="0" rtlCol="0" anchor="t"/>
          <a:lstStyle/>
          <a:p>
            <a:pPr marL="0" indent="0" algn="l">
              <a:lnSpc>
                <a:spcPct val="104000"/>
              </a:lnSpc>
              <a:buNone/>
            </a:pPr>
            <a:endParaRPr lang="en-US" sz="950" dirty="0"/>
          </a:p>
        </p:txBody>
      </p:sp>
      <p:sp>
        <p:nvSpPr>
          <p:cNvPr id="20" name="Text 17"/>
          <p:cNvSpPr/>
          <p:nvPr/>
        </p:nvSpPr>
        <p:spPr>
          <a:xfrm>
            <a:off x="1028998" y="2891433"/>
            <a:ext cx="4076402" cy="331663"/>
          </a:xfrm>
          <a:prstGeom prst="rect">
            <a:avLst/>
          </a:prstGeom>
          <a:noFill/>
          <a:ln/>
        </p:spPr>
        <p:txBody>
          <a:bodyPr wrap="none" lIns="0" tIns="0" rIns="0" bIns="0" rtlCol="0" anchor="t"/>
          <a:lstStyle/>
          <a:p>
            <a:pPr marL="0" indent="0" algn="l">
              <a:lnSpc>
                <a:spcPct val="113000"/>
              </a:lnSpc>
              <a:buNone/>
            </a:pPr>
            <a:r>
              <a:rPr lang="en-US" dirty="0">
                <a:latin typeface="Times New Roman" panose="02020603050405020304" pitchFamily="18" charset="0"/>
                <a:ea typeface="Public Sans" pitchFamily="34" charset="-122"/>
                <a:cs typeface="Times New Roman" panose="02020603050405020304" pitchFamily="18" charset="0"/>
              </a:rPr>
              <a:t>Tạo thông tin vé</a:t>
            </a:r>
            <a:endParaRPr lang="en-US" dirty="0">
              <a:latin typeface="Times New Roman" panose="02020603050405020304" pitchFamily="18" charset="0"/>
              <a:cs typeface="Times New Roman" panose="02020603050405020304" pitchFamily="18" charset="0"/>
            </a:endParaRPr>
          </a:p>
        </p:txBody>
      </p:sp>
      <p:sp>
        <p:nvSpPr>
          <p:cNvPr id="21" name="Shape 18"/>
          <p:cNvSpPr/>
          <p:nvPr/>
        </p:nvSpPr>
        <p:spPr>
          <a:xfrm>
            <a:off x="496119" y="3442767"/>
            <a:ext cx="4722763" cy="595387"/>
          </a:xfrm>
          <a:prstGeom prst="roundRect">
            <a:avLst>
              <a:gd name="adj" fmla="val 7000"/>
            </a:avLst>
          </a:prstGeom>
          <a:solidFill>
            <a:srgbClr val="FFFAF6"/>
          </a:solidFill>
          <a:ln w="14288">
            <a:solidFill>
              <a:srgbClr val="E1C2C2"/>
            </a:solidFill>
            <a:prstDash val="solid"/>
          </a:ln>
          <a:effectLst>
            <a:outerShdw dist="12700" dir="2700000" algn="bl" rotWithShape="0">
              <a:srgbClr val="E1C2C2">
                <a:alpha val="100000"/>
              </a:srgbClr>
            </a:outerShdw>
          </a:effectLst>
        </p:spPr>
      </p:sp>
      <p:sp>
        <p:nvSpPr>
          <p:cNvPr id="22" name="Shape 19"/>
          <p:cNvSpPr/>
          <p:nvPr/>
        </p:nvSpPr>
        <p:spPr>
          <a:xfrm>
            <a:off x="510406" y="3457054"/>
            <a:ext cx="396925" cy="566812"/>
          </a:xfrm>
          <a:prstGeom prst="roundRect">
            <a:avLst>
              <a:gd name="adj" fmla="val 6181"/>
            </a:avLst>
          </a:prstGeom>
          <a:solidFill>
            <a:srgbClr val="E1C2C2">
              <a:alpha val="50000"/>
            </a:srgbClr>
          </a:solidFill>
          <a:ln/>
          <a:effectLst>
            <a:outerShdw dist="12700" dir="2700000" algn="bl" rotWithShape="0">
              <a:srgbClr val="C7A8A8">
                <a:alpha val="100000"/>
              </a:srgbClr>
            </a:outerShdw>
          </a:effectLst>
        </p:spPr>
      </p:sp>
      <p:sp>
        <p:nvSpPr>
          <p:cNvPr id="23" name="Text 20"/>
          <p:cNvSpPr/>
          <p:nvPr/>
        </p:nvSpPr>
        <p:spPr>
          <a:xfrm>
            <a:off x="632073" y="3647405"/>
            <a:ext cx="148828" cy="186035"/>
          </a:xfrm>
          <a:prstGeom prst="rect">
            <a:avLst/>
          </a:prstGeom>
          <a:noFill/>
          <a:ln/>
        </p:spPr>
        <p:txBody>
          <a:bodyPr wrap="none" lIns="0" tIns="0" rIns="0" bIns="0" rtlCol="0" anchor="ctr"/>
          <a:lstStyle/>
          <a:p>
            <a:pPr marL="0" indent="0" algn="ctr">
              <a:lnSpc>
                <a:spcPct val="100000"/>
              </a:lnSpc>
              <a:buNone/>
            </a:pPr>
            <a:r>
              <a:rPr lang="en-US" sz="1150" dirty="0">
                <a:solidFill>
                  <a:srgbClr val="000000"/>
                </a:solidFill>
                <a:latin typeface="Playfair Display SemiBold" pitchFamily="34" charset="0"/>
                <a:ea typeface="Playfair Display SemiBold" pitchFamily="34" charset="-122"/>
                <a:cs typeface="Playfair Display SemiBold" pitchFamily="34" charset="-120"/>
              </a:rPr>
              <a:t>4</a:t>
            </a:r>
            <a:endParaRPr lang="en-US" sz="1150" dirty="0"/>
          </a:p>
        </p:txBody>
      </p:sp>
      <p:sp>
        <p:nvSpPr>
          <p:cNvPr id="24" name="Text 21"/>
          <p:cNvSpPr/>
          <p:nvPr/>
        </p:nvSpPr>
        <p:spPr>
          <a:xfrm>
            <a:off x="976759" y="3556248"/>
            <a:ext cx="1240408" cy="155004"/>
          </a:xfrm>
          <a:prstGeom prst="rect">
            <a:avLst/>
          </a:prstGeom>
          <a:noFill/>
          <a:ln/>
        </p:spPr>
        <p:txBody>
          <a:bodyPr wrap="none" lIns="0" tIns="0" rIns="0" bIns="0" rtlCol="0" anchor="t"/>
          <a:lstStyle/>
          <a:p>
            <a:pPr marL="0" indent="0" algn="l">
              <a:lnSpc>
                <a:spcPct val="104000"/>
              </a:lnSpc>
              <a:buNone/>
            </a:pPr>
            <a:endParaRPr lang="en-US" sz="950" dirty="0"/>
          </a:p>
        </p:txBody>
      </p:sp>
      <p:sp>
        <p:nvSpPr>
          <p:cNvPr id="25" name="Text 22"/>
          <p:cNvSpPr/>
          <p:nvPr/>
        </p:nvSpPr>
        <p:spPr>
          <a:xfrm>
            <a:off x="981075" y="3518580"/>
            <a:ext cx="4124325" cy="369332"/>
          </a:xfrm>
          <a:prstGeom prst="rect">
            <a:avLst/>
          </a:prstGeom>
          <a:noFill/>
          <a:ln/>
        </p:spPr>
        <p:txBody>
          <a:bodyPr wrap="none" lIns="0" tIns="0" rIns="0" bIns="0" rtlCol="0" anchor="t"/>
          <a:lstStyle/>
          <a:p>
            <a:pPr marL="0" indent="0" algn="l">
              <a:lnSpc>
                <a:spcPct val="113000"/>
              </a:lnSpc>
              <a:buNone/>
            </a:pPr>
            <a:r>
              <a:rPr lang="en-US" dirty="0" err="1">
                <a:latin typeface="Times New Roman" panose="02020603050405020304" pitchFamily="18" charset="0"/>
                <a:ea typeface="Public Sans" pitchFamily="34" charset="-122"/>
                <a:cs typeface="Times New Roman" panose="02020603050405020304" pitchFamily="18" charset="0"/>
              </a:rPr>
              <a:t>Xác</a:t>
            </a:r>
            <a:r>
              <a:rPr lang="en-US" dirty="0">
                <a:latin typeface="Times New Roman" panose="02020603050405020304" pitchFamily="18" charset="0"/>
                <a:ea typeface="Public Sans" pitchFamily="34" charset="-122"/>
                <a:cs typeface="Times New Roman" panose="02020603050405020304" pitchFamily="18" charset="0"/>
              </a:rPr>
              <a:t> </a:t>
            </a:r>
            <a:r>
              <a:rPr lang="en-US" dirty="0" err="1">
                <a:latin typeface="Times New Roman" panose="02020603050405020304" pitchFamily="18" charset="0"/>
                <a:ea typeface="Public Sans" pitchFamily="34" charset="-122"/>
                <a:cs typeface="Times New Roman" panose="02020603050405020304" pitchFamily="18" charset="0"/>
              </a:rPr>
              <a:t>nhận</a:t>
            </a:r>
            <a:r>
              <a:rPr lang="en-US" dirty="0">
                <a:latin typeface="Times New Roman" panose="02020603050405020304" pitchFamily="18" charset="0"/>
                <a:ea typeface="Public Sans" pitchFamily="34" charset="-122"/>
                <a:cs typeface="Times New Roman" panose="02020603050405020304" pitchFamily="18" charset="0"/>
              </a:rPr>
              <a:t> </a:t>
            </a:r>
            <a:r>
              <a:rPr lang="en-US" dirty="0" err="1">
                <a:latin typeface="Times New Roman" panose="02020603050405020304" pitchFamily="18" charset="0"/>
                <a:ea typeface="Public Sans" pitchFamily="34" charset="-122"/>
                <a:cs typeface="Times New Roman" panose="02020603050405020304" pitchFamily="18" charset="0"/>
              </a:rPr>
              <a:t>thanh</a:t>
            </a:r>
            <a:r>
              <a:rPr lang="en-US" dirty="0">
                <a:latin typeface="Times New Roman" panose="02020603050405020304" pitchFamily="18" charset="0"/>
                <a:ea typeface="Public Sans" pitchFamily="34" charset="-122"/>
                <a:cs typeface="Times New Roman" panose="02020603050405020304" pitchFamily="18" charset="0"/>
              </a:rPr>
              <a:t> </a:t>
            </a:r>
            <a:r>
              <a:rPr lang="en-US" dirty="0" err="1">
                <a:latin typeface="Times New Roman" panose="02020603050405020304" pitchFamily="18" charset="0"/>
                <a:ea typeface="Public Sans" pitchFamily="34" charset="-122"/>
                <a:cs typeface="Times New Roman" panose="02020603050405020304" pitchFamily="18" charset="0"/>
              </a:rPr>
              <a:t>toán</a:t>
            </a:r>
            <a:endParaRPr lang="en-US" dirty="0">
              <a:latin typeface="Times New Roman" panose="02020603050405020304" pitchFamily="18" charset="0"/>
              <a:cs typeface="Times New Roman" panose="02020603050405020304" pitchFamily="18" charset="0"/>
            </a:endParaRPr>
          </a:p>
        </p:txBody>
      </p:sp>
      <p:sp>
        <p:nvSpPr>
          <p:cNvPr id="26" name="Shape 23"/>
          <p:cNvSpPr/>
          <p:nvPr/>
        </p:nvSpPr>
        <p:spPr>
          <a:xfrm>
            <a:off x="510406" y="4476987"/>
            <a:ext cx="4886982" cy="595387"/>
          </a:xfrm>
          <a:prstGeom prst="roundRect">
            <a:avLst>
              <a:gd name="adj" fmla="val 10312"/>
            </a:avLst>
          </a:prstGeom>
          <a:solidFill>
            <a:srgbClr val="FCF2B5"/>
          </a:solidFill>
          <a:ln/>
        </p:spPr>
      </p:sp>
      <p:sp>
        <p:nvSpPr>
          <p:cNvPr id="28" name="Text 24"/>
          <p:cNvSpPr/>
          <p:nvPr/>
        </p:nvSpPr>
        <p:spPr>
          <a:xfrm>
            <a:off x="632073" y="4498342"/>
            <a:ext cx="4487614" cy="373062"/>
          </a:xfrm>
          <a:prstGeom prst="rect">
            <a:avLst/>
          </a:prstGeom>
          <a:noFill/>
          <a:ln/>
        </p:spPr>
        <p:txBody>
          <a:bodyPr wrap="square" lIns="0" tIns="0" rIns="0" bIns="0" rtlCol="0" anchor="t">
            <a:noAutofit/>
          </a:bodyPr>
          <a:lstStyle/>
          <a:p>
            <a:pPr marL="0" indent="0" algn="l">
              <a:lnSpc>
                <a:spcPct val="113000"/>
              </a:lnSpc>
              <a:buNone/>
            </a:pPr>
            <a:r>
              <a:rPr lang="en-US" sz="1500" dirty="0">
                <a:solidFill>
                  <a:srgbClr val="000000"/>
                </a:solidFill>
                <a:latin typeface="Times New Roman" panose="02020603050405020304" pitchFamily="18" charset="0"/>
                <a:ea typeface="Public Sans" pitchFamily="34" charset="-122"/>
                <a:cs typeface="Times New Roman" panose="02020603050405020304" pitchFamily="18" charset="0"/>
              </a:rPr>
              <a:t>⚠️ Nếu giảm ghế thành công nhưng tạo </a:t>
            </a:r>
            <a:r>
              <a:rPr lang="en-US" sz="1500" dirty="0" err="1">
                <a:solidFill>
                  <a:srgbClr val="000000"/>
                </a:solidFill>
                <a:latin typeface="Times New Roman" panose="02020603050405020304" pitchFamily="18" charset="0"/>
                <a:ea typeface="Public Sans" pitchFamily="34" charset="-122"/>
                <a:cs typeface="Times New Roman" panose="02020603050405020304" pitchFamily="18" charset="0"/>
              </a:rPr>
              <a:t>vé</a:t>
            </a:r>
            <a:r>
              <a:rPr lang="en-US" sz="1500" dirty="0">
                <a:solidFill>
                  <a:srgbClr val="000000"/>
                </a:solidFill>
                <a:latin typeface="Times New Roman" panose="02020603050405020304" pitchFamily="18" charset="0"/>
                <a:ea typeface="Public Sans" pitchFamily="34" charset="-122"/>
                <a:cs typeface="Times New Roman" panose="02020603050405020304" pitchFamily="18" charset="0"/>
              </a:rPr>
              <a:t> </a:t>
            </a:r>
            <a:r>
              <a:rPr lang="en-US" sz="1500" dirty="0" err="1">
                <a:solidFill>
                  <a:srgbClr val="000000"/>
                </a:solidFill>
                <a:latin typeface="Times New Roman" panose="02020603050405020304" pitchFamily="18" charset="0"/>
                <a:ea typeface="Public Sans" pitchFamily="34" charset="-122"/>
                <a:cs typeface="Times New Roman" panose="02020603050405020304" pitchFamily="18" charset="0"/>
              </a:rPr>
              <a:t>lỗi</a:t>
            </a:r>
            <a:endParaRPr lang="vi-VN" sz="1500" dirty="0">
              <a:solidFill>
                <a:srgbClr val="000000"/>
              </a:solidFill>
              <a:latin typeface="Times New Roman" panose="02020603050405020304" pitchFamily="18" charset="0"/>
              <a:ea typeface="Public Sans" pitchFamily="34" charset="-122"/>
              <a:cs typeface="Times New Roman" panose="02020603050405020304" pitchFamily="18" charset="0"/>
            </a:endParaRPr>
          </a:p>
          <a:p>
            <a:pPr marL="0" indent="0" algn="l">
              <a:lnSpc>
                <a:spcPct val="113000"/>
              </a:lnSpc>
              <a:buNone/>
            </a:pPr>
            <a:r>
              <a:rPr lang="en-US" sz="1500" dirty="0">
                <a:solidFill>
                  <a:srgbClr val="000000"/>
                </a:solidFill>
                <a:latin typeface="Times New Roman" panose="02020603050405020304" pitchFamily="18" charset="0"/>
                <a:ea typeface="Public Sans" pitchFamily="34" charset="-122"/>
                <a:cs typeface="Times New Roman" panose="02020603050405020304" pitchFamily="18" charset="0"/>
              </a:rPr>
              <a:t> → hệ thống phải </a:t>
            </a:r>
            <a:r>
              <a:rPr lang="en-US" sz="1500" b="1" dirty="0">
                <a:solidFill>
                  <a:srgbClr val="000000"/>
                </a:solidFill>
                <a:latin typeface="Times New Roman" panose="02020603050405020304" pitchFamily="18" charset="0"/>
                <a:ea typeface="Public Sans" pitchFamily="34" charset="-122"/>
                <a:cs typeface="Times New Roman" panose="02020603050405020304" pitchFamily="18" charset="0"/>
              </a:rPr>
              <a:t>ROLLBACK</a:t>
            </a:r>
            <a:r>
              <a:rPr lang="en-US" sz="1500" dirty="0">
                <a:solidFill>
                  <a:srgbClr val="000000"/>
                </a:solidFill>
                <a:latin typeface="Times New Roman" panose="02020603050405020304" pitchFamily="18" charset="0"/>
                <a:ea typeface="Public Sans" pitchFamily="34" charset="-122"/>
                <a:cs typeface="Times New Roman" panose="02020603050405020304" pitchFamily="18" charset="0"/>
              </a:rPr>
              <a:t> để tránh mất dữ liệu.</a:t>
            </a:r>
            <a:endParaRPr lang="en-US" sz="1500"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1C64030B-4202-D1F6-FADE-C4608810C832}"/>
              </a:ext>
            </a:extLst>
          </p:cNvPr>
          <p:cNvSpPr txBox="1"/>
          <p:nvPr/>
        </p:nvSpPr>
        <p:spPr>
          <a:xfrm>
            <a:off x="258945" y="4008461"/>
            <a:ext cx="5899093" cy="369332"/>
          </a:xfrm>
          <a:prstGeom prst="rect">
            <a:avLst/>
          </a:prstGeom>
          <a:noFill/>
        </p:spPr>
        <p:txBody>
          <a:bodyPr wrap="square" rtlCol="0">
            <a:spAutoFit/>
          </a:bodyPr>
          <a:lstStyle/>
          <a:p>
            <a:r>
              <a:rPr lang="en-US" sz="1500" i="1" dirty="0" err="1">
                <a:latin typeface="Times New Roman" panose="02020603050405020304" pitchFamily="18" charset="0"/>
                <a:cs typeface="Times New Roman" panose="02020603050405020304" pitchFamily="18" charset="0"/>
              </a:rPr>
              <a:t>Ví</a:t>
            </a:r>
            <a:r>
              <a:rPr lang="en-US" sz="1500" i="1" dirty="0">
                <a:latin typeface="Times New Roman" panose="02020603050405020304" pitchFamily="18" charset="0"/>
                <a:cs typeface="Times New Roman" panose="02020603050405020304" pitchFamily="18" charset="0"/>
              </a:rPr>
              <a:t> </a:t>
            </a:r>
            <a:r>
              <a:rPr lang="en-US" sz="1500" i="1" dirty="0" err="1">
                <a:latin typeface="Times New Roman" panose="02020603050405020304" pitchFamily="18" charset="0"/>
                <a:cs typeface="Times New Roman" panose="02020603050405020304" pitchFamily="18" charset="0"/>
              </a:rPr>
              <a:t>dụ</a:t>
            </a:r>
            <a:r>
              <a:rPr lang="en-US" sz="1500" i="1" dirty="0">
                <a:latin typeface="Times New Roman" panose="02020603050405020304" pitchFamily="18" charset="0"/>
                <a:cs typeface="Times New Roman" panose="02020603050405020304" pitchFamily="18" charset="0"/>
              </a:rPr>
              <a:t> </a:t>
            </a:r>
            <a:r>
              <a:rPr lang="vi-VN" sz="1500" i="1" dirty="0">
                <a:latin typeface="Times New Roman" panose="02020603050405020304" pitchFamily="18" charset="0"/>
                <a:cs typeface="Times New Roman" panose="02020603050405020304" pitchFamily="18" charset="0"/>
              </a:rPr>
              <a:t>: T</a:t>
            </a:r>
            <a:r>
              <a:rPr lang="en-US" sz="1500" i="1" dirty="0" err="1">
                <a:latin typeface="Times New Roman" panose="02020603050405020304" pitchFamily="18" charset="0"/>
                <a:cs typeface="Times New Roman" panose="02020603050405020304" pitchFamily="18" charset="0"/>
              </a:rPr>
              <a:t>rong</a:t>
            </a:r>
            <a:r>
              <a:rPr lang="en-US" sz="1500" i="1" dirty="0">
                <a:latin typeface="Times New Roman" panose="02020603050405020304" pitchFamily="18" charset="0"/>
                <a:cs typeface="Times New Roman" panose="02020603050405020304" pitchFamily="18" charset="0"/>
              </a:rPr>
              <a:t> </a:t>
            </a:r>
            <a:r>
              <a:rPr lang="en-US" sz="1500" i="1" dirty="0" err="1">
                <a:latin typeface="Times New Roman" panose="02020603050405020304" pitchFamily="18" charset="0"/>
                <a:cs typeface="Times New Roman" panose="02020603050405020304" pitchFamily="18" charset="0"/>
              </a:rPr>
              <a:t>bán</a:t>
            </a:r>
            <a:r>
              <a:rPr lang="en-US" sz="1500" i="1" dirty="0">
                <a:latin typeface="Times New Roman" panose="02020603050405020304" pitchFamily="18" charset="0"/>
                <a:cs typeface="Times New Roman" panose="02020603050405020304" pitchFamily="18" charset="0"/>
              </a:rPr>
              <a:t> </a:t>
            </a:r>
            <a:r>
              <a:rPr lang="en-US" sz="1500" i="1" dirty="0" err="1">
                <a:latin typeface="Times New Roman" panose="02020603050405020304" pitchFamily="18" charset="0"/>
                <a:cs typeface="Times New Roman" panose="02020603050405020304" pitchFamily="18" charset="0"/>
              </a:rPr>
              <a:t>vé</a:t>
            </a:r>
            <a:r>
              <a:rPr lang="en-US" sz="1500" i="1" dirty="0">
                <a:latin typeface="Times New Roman" panose="02020603050405020304" pitchFamily="18" charset="0"/>
                <a:cs typeface="Times New Roman" panose="02020603050405020304" pitchFamily="18" charset="0"/>
              </a:rPr>
              <a:t> </a:t>
            </a:r>
            <a:r>
              <a:rPr lang="en-US" sz="1500" i="1" dirty="0" err="1">
                <a:latin typeface="Times New Roman" panose="02020603050405020304" pitchFamily="18" charset="0"/>
                <a:cs typeface="Times New Roman" panose="02020603050405020304" pitchFamily="18" charset="0"/>
              </a:rPr>
              <a:t>máy</a:t>
            </a:r>
            <a:r>
              <a:rPr lang="en-US" sz="1500" i="1" dirty="0">
                <a:latin typeface="Times New Roman" panose="02020603050405020304" pitchFamily="18" charset="0"/>
                <a:cs typeface="Times New Roman" panose="02020603050405020304" pitchFamily="18" charset="0"/>
              </a:rPr>
              <a:t> bay</a:t>
            </a:r>
            <a:r>
              <a:rPr lang="vi-VN" sz="1500" i="1" dirty="0">
                <a:latin typeface="Times New Roman" panose="02020603050405020304" pitchFamily="18" charset="0"/>
                <a:cs typeface="Times New Roman" panose="02020603050405020304" pitchFamily="18" charset="0"/>
              </a:rPr>
              <a:t> </a:t>
            </a:r>
            <a:r>
              <a:rPr lang="vi-VN" sz="1500" dirty="0">
                <a:latin typeface="Times New Roman" panose="02020603050405020304" pitchFamily="18" charset="0"/>
                <a:cs typeface="Times New Roman" panose="02020603050405020304" pitchFamily="18" charset="0"/>
              </a:rPr>
              <a:t>phải nằm trong cùng một transaction</a:t>
            </a:r>
            <a:r>
              <a:rPr lang="vi-VN" dirty="0">
                <a:latin typeface="Times New Roman" panose="02020603050405020304" pitchFamily="18" charset="0"/>
                <a:cs typeface="Times New Roman" panose="02020603050405020304" pitchFamily="18" charset="0"/>
              </a:rPr>
              <a:t>.</a:t>
            </a:r>
            <a:endParaRPr lang="en-US" i="1" dirty="0">
              <a:latin typeface="Times New Roman" panose="02020603050405020304" pitchFamily="18" charset="0"/>
              <a:cs typeface="Times New Roman" panose="02020603050405020304" pitchFamily="18" charset="0"/>
            </a:endParaRPr>
          </a:p>
        </p:txBody>
      </p:sp>
      <p:pic>
        <p:nvPicPr>
          <p:cNvPr id="1030" name="Picture 6" descr="5 lỗi chuyển khoản và cách khắc phục nhanh chóng nhất">
            <a:extLst>
              <a:ext uri="{FF2B5EF4-FFF2-40B4-BE49-F238E27FC236}">
                <a16:creationId xmlns:a16="http://schemas.microsoft.com/office/drawing/2014/main" id="{EB4FD80B-F17B-5E6E-FAA4-74EA80EC1E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8039" y="1074378"/>
            <a:ext cx="2985961" cy="40632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474538"/>
            <a:ext cx="3824139" cy="420886"/>
          </a:xfrm>
          <a:prstGeom prst="rect">
            <a:avLst/>
          </a:prstGeom>
          <a:noFill/>
          <a:ln/>
        </p:spPr>
        <p:txBody>
          <a:bodyPr wrap="none" lIns="0" tIns="0" rIns="0" bIns="0" rtlCol="0" anchor="t"/>
          <a:lstStyle/>
          <a:p>
            <a:pPr marL="0" indent="0" algn="l">
              <a:lnSpc>
                <a:spcPct val="104000"/>
              </a:lnSpc>
              <a:buNone/>
            </a:pPr>
            <a:r>
              <a:rPr lang="en-US" sz="2650" b="1" dirty="0">
                <a:latin typeface="Times New Roman" panose="02020603050405020304" pitchFamily="18" charset="0"/>
                <a:ea typeface="Playfair Display SemiBold" pitchFamily="34" charset="-122"/>
                <a:cs typeface="Times New Roman" panose="02020603050405020304" pitchFamily="18" charset="0"/>
              </a:rPr>
              <a:t>2. Tính Chất ACID</a:t>
            </a:r>
            <a:endParaRPr lang="en-US" sz="2650" b="1" dirty="0">
              <a:latin typeface="Times New Roman" panose="02020603050405020304" pitchFamily="18" charset="0"/>
              <a:cs typeface="Times New Roman" panose="02020603050405020304" pitchFamily="18" charset="0"/>
            </a:endParaRPr>
          </a:p>
        </p:txBody>
      </p:sp>
      <p:sp>
        <p:nvSpPr>
          <p:cNvPr id="3" name="Text 1"/>
          <p:cNvSpPr/>
          <p:nvPr/>
        </p:nvSpPr>
        <p:spPr>
          <a:xfrm>
            <a:off x="635496" y="972143"/>
            <a:ext cx="8469586" cy="389189"/>
          </a:xfrm>
          <a:prstGeom prst="rect">
            <a:avLst/>
          </a:prstGeom>
          <a:noFill/>
          <a:ln/>
        </p:spPr>
        <p:txBody>
          <a:bodyPr wrap="none" lIns="0" tIns="0" rIns="0" bIns="0" rtlCol="0" anchor="t"/>
          <a:lstStyle/>
          <a:p>
            <a:pPr marL="0" indent="0" algn="l">
              <a:lnSpc>
                <a:spcPct val="130000"/>
              </a:lnSpc>
              <a:buNone/>
            </a:pPr>
            <a:r>
              <a:rPr lang="en-US" sz="2000" dirty="0">
                <a:latin typeface="Times New Roman" panose="02020603050405020304" pitchFamily="18" charset="0"/>
                <a:ea typeface="Public Sans" pitchFamily="34" charset="-122"/>
                <a:cs typeface="Times New Roman" panose="02020603050405020304" pitchFamily="18" charset="0"/>
              </a:rPr>
              <a:t>ACID là 4 tính chất quan trọng của transaction.</a:t>
            </a:r>
            <a:endParaRPr lang="en-US" sz="2000" dirty="0">
              <a:latin typeface="Times New Roman" panose="02020603050405020304" pitchFamily="18" charset="0"/>
              <a:cs typeface="Times New Roman" panose="02020603050405020304" pitchFamily="18" charset="0"/>
            </a:endParaRPr>
          </a:p>
        </p:txBody>
      </p:sp>
      <p:sp>
        <p:nvSpPr>
          <p:cNvPr id="4" name="Shape 2"/>
          <p:cNvSpPr/>
          <p:nvPr/>
        </p:nvSpPr>
        <p:spPr>
          <a:xfrm>
            <a:off x="496119" y="1505248"/>
            <a:ext cx="4011885" cy="1517898"/>
          </a:xfrm>
          <a:prstGeom prst="roundRect">
            <a:avLst>
              <a:gd name="adj" fmla="val 3727"/>
            </a:avLst>
          </a:prstGeom>
          <a:solidFill>
            <a:srgbClr val="F0DEDC"/>
          </a:solidFill>
          <a:ln w="4763">
            <a:solidFill>
              <a:srgbClr val="E1C2C2"/>
            </a:solidFill>
            <a:prstDash val="solid"/>
          </a:ln>
          <a:effectLst>
            <a:outerShdw dist="17780" dir="2700000" algn="bl" rotWithShape="0">
              <a:srgbClr val="E1C2C2">
                <a:alpha val="100000"/>
              </a:srgbClr>
            </a:outerShdw>
          </a:effectLst>
        </p:spPr>
      </p:sp>
      <p:sp>
        <p:nvSpPr>
          <p:cNvPr id="5" name="Shape 3"/>
          <p:cNvSpPr/>
          <p:nvPr/>
        </p:nvSpPr>
        <p:spPr>
          <a:xfrm>
            <a:off x="635496" y="1644625"/>
            <a:ext cx="403994" cy="403994"/>
          </a:xfrm>
          <a:prstGeom prst="roundRect">
            <a:avLst>
              <a:gd name="adj" fmla="val 14144835"/>
            </a:avLst>
          </a:prstGeom>
          <a:solidFill>
            <a:srgbClr val="E1C2C2"/>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6596" y="1755651"/>
            <a:ext cx="181794" cy="181794"/>
          </a:xfrm>
          <a:prstGeom prst="rect">
            <a:avLst/>
          </a:prstGeom>
        </p:spPr>
      </p:pic>
      <p:sp>
        <p:nvSpPr>
          <p:cNvPr id="7" name="Text 4"/>
          <p:cNvSpPr/>
          <p:nvPr/>
        </p:nvSpPr>
        <p:spPr>
          <a:xfrm>
            <a:off x="1178866" y="1644625"/>
            <a:ext cx="3012807" cy="420142"/>
          </a:xfrm>
          <a:prstGeom prst="rect">
            <a:avLst/>
          </a:prstGeom>
          <a:noFill/>
          <a:ln/>
        </p:spPr>
        <p:txBody>
          <a:bodyPr wrap="none" lIns="0" tIns="0" rIns="0" bIns="0" rtlCol="0" anchor="t"/>
          <a:lstStyle/>
          <a:p>
            <a:pPr marL="0" indent="0" algn="l">
              <a:lnSpc>
                <a:spcPct val="104000"/>
              </a:lnSpc>
              <a:buNone/>
            </a:pPr>
            <a:r>
              <a:rPr lang="en-US" sz="1700" dirty="0">
                <a:latin typeface="Times New Roman" panose="02020603050405020304" pitchFamily="18" charset="0"/>
                <a:ea typeface="Playfair Display SemiBold" pitchFamily="34" charset="-122"/>
                <a:cs typeface="Times New Roman" panose="02020603050405020304" pitchFamily="18" charset="0"/>
              </a:rPr>
              <a:t>Atomicity — Tính Nguyên Tử</a:t>
            </a:r>
            <a:endParaRPr lang="en-US" sz="1700" dirty="0">
              <a:latin typeface="Times New Roman" panose="02020603050405020304" pitchFamily="18" charset="0"/>
              <a:cs typeface="Times New Roman" panose="02020603050405020304" pitchFamily="18" charset="0"/>
            </a:endParaRPr>
          </a:p>
        </p:txBody>
      </p:sp>
      <p:sp>
        <p:nvSpPr>
          <p:cNvPr id="8" name="Text 5"/>
          <p:cNvSpPr/>
          <p:nvPr/>
        </p:nvSpPr>
        <p:spPr>
          <a:xfrm>
            <a:off x="928390" y="2014165"/>
            <a:ext cx="3440236" cy="869603"/>
          </a:xfrm>
          <a:prstGeom prst="rect">
            <a:avLst/>
          </a:prstGeom>
          <a:noFill/>
          <a:ln/>
        </p:spPr>
        <p:txBody>
          <a:bodyPr wrap="square" lIns="0" tIns="0" rIns="0" bIns="0" rtlCol="0" anchor="t">
            <a:noAutofit/>
          </a:bodyPr>
          <a:lstStyle/>
          <a:p>
            <a:pPr marL="0" indent="0">
              <a:lnSpc>
                <a:spcPct val="130000"/>
              </a:lnSpc>
              <a:buNone/>
            </a:pPr>
            <a:r>
              <a:rPr lang="en-US" sz="1600" dirty="0">
                <a:latin typeface="Times New Roman" panose="02020603050405020304" pitchFamily="18" charset="0"/>
                <a:ea typeface="Public Sans" pitchFamily="34" charset="-122"/>
                <a:cs typeface="Times New Roman" panose="02020603050405020304" pitchFamily="18" charset="0"/>
              </a:rPr>
              <a:t>Một transaction: </a:t>
            </a:r>
            <a:r>
              <a:rPr lang="en-US" sz="1600" b="1" dirty="0">
                <a:latin typeface="Times New Roman" panose="02020603050405020304" pitchFamily="18" charset="0"/>
                <a:ea typeface="Public Sans" pitchFamily="34" charset="-122"/>
                <a:cs typeface="Times New Roman" panose="02020603050405020304" pitchFamily="18" charset="0"/>
              </a:rPr>
              <a:t>hoặc thực hiện toàn bộ, hoặc không thực hiện gì cả</a:t>
            </a:r>
            <a:r>
              <a:rPr lang="en-US" sz="1600" dirty="0">
                <a:latin typeface="Times New Roman" panose="02020603050405020304" pitchFamily="18" charset="0"/>
                <a:ea typeface="Public Sans" pitchFamily="34" charset="-122"/>
                <a:cs typeface="Times New Roman" panose="02020603050405020304" pitchFamily="18" charset="0"/>
              </a:rPr>
              <a:t>. Không được phép thành công một phần.</a:t>
            </a:r>
            <a:endParaRPr lang="en-US" sz="1600" dirty="0">
              <a:latin typeface="Times New Roman" panose="02020603050405020304" pitchFamily="18" charset="0"/>
              <a:cs typeface="Times New Roman" panose="02020603050405020304" pitchFamily="18" charset="0"/>
            </a:endParaRPr>
          </a:p>
        </p:txBody>
      </p:sp>
      <p:sp>
        <p:nvSpPr>
          <p:cNvPr id="9" name="Shape 6"/>
          <p:cNvSpPr/>
          <p:nvPr/>
        </p:nvSpPr>
        <p:spPr>
          <a:xfrm>
            <a:off x="4635922" y="1505248"/>
            <a:ext cx="4011960" cy="1517898"/>
          </a:xfrm>
          <a:prstGeom prst="roundRect">
            <a:avLst>
              <a:gd name="adj" fmla="val 3727"/>
            </a:avLst>
          </a:prstGeom>
          <a:solidFill>
            <a:srgbClr val="F0DEDC"/>
          </a:solidFill>
          <a:ln w="4763">
            <a:solidFill>
              <a:srgbClr val="CCC4EC"/>
            </a:solidFill>
            <a:prstDash val="solid"/>
          </a:ln>
          <a:effectLst>
            <a:outerShdw dist="17780" dir="2700000" algn="bl" rotWithShape="0">
              <a:srgbClr val="CCC4EC">
                <a:alpha val="100000"/>
              </a:srgbClr>
            </a:outerShdw>
          </a:effectLst>
        </p:spPr>
      </p:sp>
      <p:sp>
        <p:nvSpPr>
          <p:cNvPr id="10" name="Shape 7"/>
          <p:cNvSpPr/>
          <p:nvPr/>
        </p:nvSpPr>
        <p:spPr>
          <a:xfrm>
            <a:off x="4775299" y="1644625"/>
            <a:ext cx="403994" cy="403994"/>
          </a:xfrm>
          <a:prstGeom prst="roundRect">
            <a:avLst>
              <a:gd name="adj" fmla="val 14144835"/>
            </a:avLst>
          </a:prstGeom>
          <a:solidFill>
            <a:srgbClr val="CCC4EC"/>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86399" y="1755651"/>
            <a:ext cx="181794" cy="181794"/>
          </a:xfrm>
          <a:prstGeom prst="rect">
            <a:avLst/>
          </a:prstGeom>
        </p:spPr>
      </p:pic>
      <p:sp>
        <p:nvSpPr>
          <p:cNvPr id="12" name="Text 8"/>
          <p:cNvSpPr/>
          <p:nvPr/>
        </p:nvSpPr>
        <p:spPr>
          <a:xfrm>
            <a:off x="5318669" y="1776339"/>
            <a:ext cx="3078735" cy="610568"/>
          </a:xfrm>
          <a:prstGeom prst="rect">
            <a:avLst/>
          </a:prstGeom>
          <a:noFill/>
          <a:ln/>
        </p:spPr>
        <p:txBody>
          <a:bodyPr wrap="none" lIns="0" tIns="0" rIns="0" bIns="0" rtlCol="0" anchor="t"/>
          <a:lstStyle/>
          <a:p>
            <a:pPr marL="0" indent="0" algn="l">
              <a:lnSpc>
                <a:spcPct val="104000"/>
              </a:lnSpc>
              <a:buNone/>
            </a:pPr>
            <a:r>
              <a:rPr lang="en-US" sz="1700" dirty="0">
                <a:solidFill>
                  <a:srgbClr val="000000"/>
                </a:solidFill>
                <a:latin typeface="Times New Roman" panose="02020603050405020304" pitchFamily="18" charset="0"/>
                <a:ea typeface="Playfair Display SemiBold" pitchFamily="34" charset="-122"/>
                <a:cs typeface="Times New Roman" panose="02020603050405020304" pitchFamily="18" charset="0"/>
              </a:rPr>
              <a:t>Consistency — Tính Nhất Quán</a:t>
            </a:r>
            <a:endParaRPr lang="en-US" sz="1700" dirty="0">
              <a:latin typeface="Times New Roman" panose="02020603050405020304" pitchFamily="18" charset="0"/>
              <a:cs typeface="Times New Roman" panose="02020603050405020304" pitchFamily="18" charset="0"/>
            </a:endParaRPr>
          </a:p>
        </p:txBody>
      </p:sp>
      <p:sp>
        <p:nvSpPr>
          <p:cNvPr id="13" name="Text 9"/>
          <p:cNvSpPr/>
          <p:nvPr/>
        </p:nvSpPr>
        <p:spPr>
          <a:xfrm>
            <a:off x="5068193" y="2208536"/>
            <a:ext cx="3440311" cy="675232"/>
          </a:xfrm>
          <a:prstGeom prst="rect">
            <a:avLst/>
          </a:prstGeom>
          <a:noFill/>
          <a:ln/>
        </p:spPr>
        <p:txBody>
          <a:bodyPr wrap="square" lIns="0" tIns="0" rIns="0" bIns="0" rtlCol="0" anchor="t">
            <a:noAutofit/>
          </a:bodyPr>
          <a:lstStyle/>
          <a:p>
            <a:pPr marL="0" indent="0" algn="l">
              <a:lnSpc>
                <a:spcPct val="130000"/>
              </a:lnSpc>
              <a:buNone/>
            </a:pPr>
            <a:r>
              <a:rPr lang="en-US" sz="1700" dirty="0">
                <a:solidFill>
                  <a:srgbClr val="000000"/>
                </a:solidFill>
                <a:latin typeface="Times New Roman" panose="02020603050405020304" pitchFamily="18" charset="0"/>
                <a:ea typeface="Public Sans" pitchFamily="34" charset="-122"/>
                <a:cs typeface="Times New Roman" panose="02020603050405020304" pitchFamily="18" charset="0"/>
              </a:rPr>
              <a:t>Dữ liệu trước và sau transaction luôn hợp lệ. Số ghế còn lại không được âm.</a:t>
            </a:r>
            <a:endParaRPr lang="en-US" sz="1700" dirty="0">
              <a:latin typeface="Times New Roman" panose="02020603050405020304" pitchFamily="18" charset="0"/>
              <a:cs typeface="Times New Roman" panose="02020603050405020304" pitchFamily="18" charset="0"/>
            </a:endParaRPr>
          </a:p>
        </p:txBody>
      </p:sp>
      <p:sp>
        <p:nvSpPr>
          <p:cNvPr id="14" name="Shape 10"/>
          <p:cNvSpPr/>
          <p:nvPr/>
        </p:nvSpPr>
        <p:spPr>
          <a:xfrm>
            <a:off x="496119" y="3151063"/>
            <a:ext cx="4011885" cy="1517898"/>
          </a:xfrm>
          <a:prstGeom prst="roundRect">
            <a:avLst>
              <a:gd name="adj" fmla="val 3727"/>
            </a:avLst>
          </a:prstGeom>
          <a:solidFill>
            <a:srgbClr val="F0DEDC"/>
          </a:solidFill>
          <a:ln w="4763">
            <a:solidFill>
              <a:srgbClr val="B4DAE4"/>
            </a:solidFill>
            <a:prstDash val="solid"/>
          </a:ln>
          <a:effectLst>
            <a:outerShdw dist="17780" dir="2700000" algn="bl" rotWithShape="0">
              <a:srgbClr val="B4DAE4">
                <a:alpha val="100000"/>
              </a:srgbClr>
            </a:outerShdw>
          </a:effectLst>
        </p:spPr>
      </p:sp>
      <p:sp>
        <p:nvSpPr>
          <p:cNvPr id="15" name="Shape 11"/>
          <p:cNvSpPr/>
          <p:nvPr/>
        </p:nvSpPr>
        <p:spPr>
          <a:xfrm>
            <a:off x="635496" y="3290441"/>
            <a:ext cx="403994" cy="403994"/>
          </a:xfrm>
          <a:prstGeom prst="roundRect">
            <a:avLst>
              <a:gd name="adj" fmla="val 14144835"/>
            </a:avLst>
          </a:prstGeom>
          <a:solidFill>
            <a:srgbClr val="B4DAE4"/>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6596" y="3401467"/>
            <a:ext cx="181794" cy="181794"/>
          </a:xfrm>
          <a:prstGeom prst="rect">
            <a:avLst/>
          </a:prstGeom>
        </p:spPr>
      </p:pic>
      <p:sp>
        <p:nvSpPr>
          <p:cNvPr id="17" name="Text 12"/>
          <p:cNvSpPr/>
          <p:nvPr/>
        </p:nvSpPr>
        <p:spPr>
          <a:xfrm>
            <a:off x="1178866" y="3438153"/>
            <a:ext cx="1300387" cy="594569"/>
          </a:xfrm>
          <a:prstGeom prst="rect">
            <a:avLst/>
          </a:prstGeom>
          <a:noFill/>
          <a:ln/>
        </p:spPr>
        <p:txBody>
          <a:bodyPr wrap="none" lIns="0" tIns="0" rIns="0" bIns="0" rtlCol="0" anchor="t"/>
          <a:lstStyle/>
          <a:p>
            <a:pPr marL="0" indent="0" algn="l">
              <a:lnSpc>
                <a:spcPct val="104000"/>
              </a:lnSpc>
              <a:buNone/>
            </a:pPr>
            <a:r>
              <a:rPr lang="en-US" sz="1700" dirty="0">
                <a:solidFill>
                  <a:srgbClr val="000000"/>
                </a:solidFill>
                <a:latin typeface="Times New Roman" panose="02020603050405020304" pitchFamily="18" charset="0"/>
                <a:ea typeface="Playfair Display SemiBold" pitchFamily="34" charset="-122"/>
                <a:cs typeface="Times New Roman" panose="02020603050405020304" pitchFamily="18" charset="0"/>
              </a:rPr>
              <a:t>Isolation — Tính Cô Lập</a:t>
            </a:r>
            <a:endParaRPr lang="en-US" sz="1700" dirty="0">
              <a:latin typeface="Times New Roman" panose="02020603050405020304" pitchFamily="18" charset="0"/>
              <a:cs typeface="Times New Roman" panose="02020603050405020304" pitchFamily="18" charset="0"/>
            </a:endParaRPr>
          </a:p>
        </p:txBody>
      </p:sp>
      <p:sp>
        <p:nvSpPr>
          <p:cNvPr id="18" name="Text 13"/>
          <p:cNvSpPr/>
          <p:nvPr/>
        </p:nvSpPr>
        <p:spPr>
          <a:xfrm>
            <a:off x="928390" y="3805461"/>
            <a:ext cx="3440236" cy="724123"/>
          </a:xfrm>
          <a:prstGeom prst="rect">
            <a:avLst/>
          </a:prstGeom>
          <a:noFill/>
          <a:ln/>
        </p:spPr>
        <p:txBody>
          <a:bodyPr wrap="square" lIns="0" tIns="0" rIns="0" bIns="0" rtlCol="0" anchor="t">
            <a:noAutofit/>
          </a:bodyPr>
          <a:lstStyle/>
          <a:p>
            <a:pPr marL="0" indent="0" algn="l">
              <a:lnSpc>
                <a:spcPct val="130000"/>
              </a:lnSpc>
              <a:buNone/>
            </a:pPr>
            <a:r>
              <a:rPr lang="en-US" sz="1700" dirty="0">
                <a:solidFill>
                  <a:srgbClr val="000000"/>
                </a:solidFill>
                <a:latin typeface="Times New Roman" panose="02020603050405020304" pitchFamily="18" charset="0"/>
                <a:ea typeface="Public Sans" pitchFamily="34" charset="-122"/>
                <a:cs typeface="Times New Roman" panose="02020603050405020304" pitchFamily="18" charset="0"/>
              </a:rPr>
              <a:t>Các transaction chạy đồng thời không được làm sai dữ liệu của nhau.</a:t>
            </a:r>
            <a:endParaRPr lang="en-US" sz="1700" dirty="0">
              <a:latin typeface="Times New Roman" panose="02020603050405020304" pitchFamily="18" charset="0"/>
              <a:cs typeface="Times New Roman" panose="02020603050405020304" pitchFamily="18" charset="0"/>
            </a:endParaRPr>
          </a:p>
        </p:txBody>
      </p:sp>
      <p:sp>
        <p:nvSpPr>
          <p:cNvPr id="19" name="Shape 14"/>
          <p:cNvSpPr/>
          <p:nvPr/>
        </p:nvSpPr>
        <p:spPr>
          <a:xfrm>
            <a:off x="4635922" y="3151063"/>
            <a:ext cx="4011960" cy="1517898"/>
          </a:xfrm>
          <a:prstGeom prst="roundRect">
            <a:avLst>
              <a:gd name="adj" fmla="val 3727"/>
            </a:avLst>
          </a:prstGeom>
          <a:solidFill>
            <a:srgbClr val="F0DEDC"/>
          </a:solidFill>
          <a:ln w="4763">
            <a:solidFill>
              <a:srgbClr val="E1C2C2"/>
            </a:solidFill>
            <a:prstDash val="solid"/>
          </a:ln>
          <a:effectLst>
            <a:outerShdw dist="17780" dir="2700000" algn="bl" rotWithShape="0">
              <a:srgbClr val="E1C2C2">
                <a:alpha val="100000"/>
              </a:srgbClr>
            </a:outerShdw>
          </a:effectLst>
        </p:spPr>
      </p:sp>
      <p:sp>
        <p:nvSpPr>
          <p:cNvPr id="20" name="Shape 15"/>
          <p:cNvSpPr/>
          <p:nvPr/>
        </p:nvSpPr>
        <p:spPr>
          <a:xfrm>
            <a:off x="4775299" y="3290441"/>
            <a:ext cx="403994" cy="403994"/>
          </a:xfrm>
          <a:prstGeom prst="roundRect">
            <a:avLst>
              <a:gd name="adj" fmla="val 14144835"/>
            </a:avLst>
          </a:prstGeom>
          <a:solidFill>
            <a:srgbClr val="E1C2C2"/>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86399" y="3401467"/>
            <a:ext cx="181794" cy="181794"/>
          </a:xfrm>
          <a:prstGeom prst="rect">
            <a:avLst/>
          </a:prstGeom>
        </p:spPr>
      </p:pic>
      <p:sp>
        <p:nvSpPr>
          <p:cNvPr id="22" name="Text 16"/>
          <p:cNvSpPr/>
          <p:nvPr/>
        </p:nvSpPr>
        <p:spPr>
          <a:xfrm>
            <a:off x="5318669" y="3455343"/>
            <a:ext cx="1600648" cy="577379"/>
          </a:xfrm>
          <a:prstGeom prst="rect">
            <a:avLst/>
          </a:prstGeom>
          <a:noFill/>
          <a:ln/>
        </p:spPr>
        <p:txBody>
          <a:bodyPr wrap="none" lIns="0" tIns="0" rIns="0" bIns="0" rtlCol="0" anchor="t"/>
          <a:lstStyle/>
          <a:p>
            <a:pPr marL="0" indent="0" algn="l">
              <a:lnSpc>
                <a:spcPct val="104000"/>
              </a:lnSpc>
              <a:buNone/>
            </a:pPr>
            <a:r>
              <a:rPr lang="en-US" sz="1700" dirty="0">
                <a:solidFill>
                  <a:srgbClr val="000000"/>
                </a:solidFill>
                <a:latin typeface="Times New Roman" panose="02020603050405020304" pitchFamily="18" charset="0"/>
                <a:ea typeface="Playfair Display SemiBold" pitchFamily="34" charset="-122"/>
                <a:cs typeface="Times New Roman" panose="02020603050405020304" pitchFamily="18" charset="0"/>
              </a:rPr>
              <a:t>Durability — Tính Bền Vững</a:t>
            </a:r>
            <a:endParaRPr lang="en-US" sz="1700" dirty="0">
              <a:latin typeface="Times New Roman" panose="02020603050405020304" pitchFamily="18" charset="0"/>
              <a:cs typeface="Times New Roman" panose="02020603050405020304" pitchFamily="18" charset="0"/>
            </a:endParaRPr>
          </a:p>
        </p:txBody>
      </p:sp>
      <p:sp>
        <p:nvSpPr>
          <p:cNvPr id="23" name="Text 17"/>
          <p:cNvSpPr/>
          <p:nvPr/>
        </p:nvSpPr>
        <p:spPr>
          <a:xfrm>
            <a:off x="4940275" y="3887541"/>
            <a:ext cx="3835525" cy="642043"/>
          </a:xfrm>
          <a:prstGeom prst="rect">
            <a:avLst/>
          </a:prstGeom>
          <a:noFill/>
          <a:ln/>
        </p:spPr>
        <p:txBody>
          <a:bodyPr wrap="square" lIns="0" tIns="0" rIns="0" bIns="0" rtlCol="0" anchor="t">
            <a:noAutofit/>
          </a:bodyPr>
          <a:lstStyle/>
          <a:p>
            <a:pPr marL="0" indent="0" algn="l">
              <a:lnSpc>
                <a:spcPct val="130000"/>
              </a:lnSpc>
              <a:buNone/>
            </a:pPr>
            <a:r>
              <a:rPr lang="en-US" sz="1700" dirty="0">
                <a:solidFill>
                  <a:srgbClr val="000000"/>
                </a:solidFill>
                <a:latin typeface="Times New Roman" panose="02020603050405020304" pitchFamily="18" charset="0"/>
                <a:ea typeface="Public Sans" pitchFamily="34" charset="-122"/>
                <a:cs typeface="Times New Roman" panose="02020603050405020304" pitchFamily="18" charset="0"/>
              </a:rPr>
              <a:t>Sau khi COMMIT, dữ liệu được lưu vĩnh viễn dù mất điện hay crash hệ thống.</a:t>
            </a:r>
            <a:endParaRPr lang="en-US" sz="17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DFCD98FF-1CBA-26E0-DD98-AC6C1E479B48}"/>
              </a:ext>
            </a:extLst>
          </p:cNvPr>
          <p:cNvPicPr>
            <a:picLocks noChangeAspect="1"/>
          </p:cNvPicPr>
          <p:nvPr/>
        </p:nvPicPr>
        <p:blipFill>
          <a:blip r:embed="rId7"/>
          <a:stretch>
            <a:fillRect/>
          </a:stretch>
        </p:blipFill>
        <p:spPr>
          <a:xfrm>
            <a:off x="7711710" y="4790931"/>
            <a:ext cx="1432290" cy="35105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8935" y="267419"/>
            <a:ext cx="2995414" cy="2995414"/>
          </a:xfrm>
          <a:prstGeom prst="rect">
            <a:avLst/>
          </a:prstGeom>
        </p:spPr>
      </p:pic>
      <p:sp>
        <p:nvSpPr>
          <p:cNvPr id="5" name="Text 2"/>
          <p:cNvSpPr/>
          <p:nvPr/>
        </p:nvSpPr>
        <p:spPr>
          <a:xfrm>
            <a:off x="3474988" y="405442"/>
            <a:ext cx="3063835" cy="370935"/>
          </a:xfrm>
          <a:prstGeom prst="rect">
            <a:avLst/>
          </a:prstGeom>
          <a:noFill/>
          <a:ln/>
        </p:spPr>
        <p:txBody>
          <a:bodyPr wrap="none" lIns="0" tIns="0" rIns="0" bIns="0" rtlCol="0" anchor="t"/>
          <a:lstStyle/>
          <a:p>
            <a:pPr marL="0" indent="0" algn="l">
              <a:lnSpc>
                <a:spcPct val="104000"/>
              </a:lnSpc>
              <a:buNone/>
            </a:pPr>
            <a:r>
              <a:rPr lang="en-US" sz="2200" b="1" dirty="0">
                <a:latin typeface="Playfair Display SemiBold" pitchFamily="34" charset="0"/>
                <a:ea typeface="Playfair Display SemiBold" pitchFamily="34" charset="-122"/>
                <a:cs typeface="Playfair Display SemiBold" pitchFamily="34" charset="-120"/>
              </a:rPr>
              <a:t>Ví Dụ Thực Tế</a:t>
            </a:r>
            <a:endParaRPr lang="en-US" sz="2200" b="1" dirty="0"/>
          </a:p>
        </p:txBody>
      </p:sp>
      <p:sp>
        <p:nvSpPr>
          <p:cNvPr id="6" name="Text 3"/>
          <p:cNvSpPr/>
          <p:nvPr/>
        </p:nvSpPr>
        <p:spPr>
          <a:xfrm>
            <a:off x="3474988" y="2147441"/>
            <a:ext cx="5177582" cy="453628"/>
          </a:xfrm>
          <a:prstGeom prst="rect">
            <a:avLst/>
          </a:prstGeom>
          <a:noFill/>
          <a:ln/>
        </p:spPr>
        <p:txBody>
          <a:bodyPr wrap="square" lIns="0" tIns="0" rIns="0" bIns="0" rtlCol="0" anchor="t">
            <a:noAutofit/>
          </a:bodyPr>
          <a:lstStyle/>
          <a:p>
            <a:pPr marL="0" indent="0" algn="l">
              <a:lnSpc>
                <a:spcPct val="133000"/>
              </a:lnSpc>
              <a:buNone/>
            </a:pPr>
            <a:endParaRPr lang="en-US" sz="1700" dirty="0">
              <a:latin typeface="Time's New Roman"/>
            </a:endParaRPr>
          </a:p>
        </p:txBody>
      </p:sp>
      <p:sp>
        <p:nvSpPr>
          <p:cNvPr id="7" name="Shape 4"/>
          <p:cNvSpPr/>
          <p:nvPr/>
        </p:nvSpPr>
        <p:spPr>
          <a:xfrm>
            <a:off x="128935" y="3262833"/>
            <a:ext cx="4391274" cy="1723235"/>
          </a:xfrm>
          <a:prstGeom prst="roundRect">
            <a:avLst>
              <a:gd name="adj" fmla="val 8416"/>
            </a:avLst>
          </a:prstGeom>
          <a:solidFill>
            <a:srgbClr val="FFFAF6"/>
          </a:solidFill>
          <a:ln w="19050">
            <a:solidFill>
              <a:srgbClr val="E1C2C2"/>
            </a:solidFill>
            <a:prstDash val="solid"/>
          </a:ln>
          <a:effectLst>
            <a:outerShdw dist="17780" dir="2700000" algn="bl" rotWithShape="0">
              <a:srgbClr val="E1C2C2">
                <a:alpha val="100000"/>
              </a:srgbClr>
            </a:outerShdw>
          </a:effectLst>
        </p:spPr>
        <p:txBody>
          <a:bodyPr/>
          <a:lstStyle/>
          <a:p>
            <a:endParaRPr lang="en-US" dirty="0"/>
          </a:p>
        </p:txBody>
      </p:sp>
      <p:sp>
        <p:nvSpPr>
          <p:cNvPr id="9" name="Text 6"/>
          <p:cNvSpPr/>
          <p:nvPr/>
        </p:nvSpPr>
        <p:spPr>
          <a:xfrm>
            <a:off x="714077" y="3742581"/>
            <a:ext cx="1772022" cy="221456"/>
          </a:xfrm>
          <a:prstGeom prst="rect">
            <a:avLst/>
          </a:prstGeom>
          <a:noFill/>
          <a:ln/>
        </p:spPr>
        <p:txBody>
          <a:bodyPr wrap="none" lIns="0" tIns="0" rIns="0" bIns="0" rtlCol="0" anchor="t"/>
          <a:lstStyle/>
          <a:p>
            <a:pPr marL="0" indent="0" algn="l">
              <a:lnSpc>
                <a:spcPct val="104000"/>
              </a:lnSpc>
              <a:buNone/>
            </a:pPr>
            <a:endParaRPr lang="en-US" sz="1350" dirty="0"/>
          </a:p>
        </p:txBody>
      </p:sp>
      <p:sp>
        <p:nvSpPr>
          <p:cNvPr id="10" name="Text 7"/>
          <p:cNvSpPr/>
          <p:nvPr/>
        </p:nvSpPr>
        <p:spPr>
          <a:xfrm>
            <a:off x="714077" y="4049092"/>
            <a:ext cx="3626197" cy="231577"/>
          </a:xfrm>
          <a:prstGeom prst="rect">
            <a:avLst/>
          </a:prstGeom>
          <a:noFill/>
          <a:ln/>
        </p:spPr>
        <p:txBody>
          <a:bodyPr wrap="none" lIns="0" tIns="0" rIns="0" bIns="0" rtlCol="0" anchor="t"/>
          <a:lstStyle/>
          <a:p>
            <a:pPr marL="0" indent="0" algn="l">
              <a:lnSpc>
                <a:spcPct val="133000"/>
              </a:lnSpc>
              <a:buNone/>
            </a:pPr>
            <a:endParaRPr lang="en-US" sz="1100" dirty="0"/>
          </a:p>
        </p:txBody>
      </p:sp>
      <p:sp>
        <p:nvSpPr>
          <p:cNvPr id="11" name="Shape 8"/>
          <p:cNvSpPr/>
          <p:nvPr/>
        </p:nvSpPr>
        <p:spPr>
          <a:xfrm>
            <a:off x="4623789" y="3262833"/>
            <a:ext cx="4459826" cy="1809499"/>
          </a:xfrm>
          <a:prstGeom prst="roundRect">
            <a:avLst>
              <a:gd name="adj" fmla="val 8416"/>
            </a:avLst>
          </a:prstGeom>
          <a:solidFill>
            <a:srgbClr val="FFFAF6"/>
          </a:solidFill>
          <a:ln w="19050">
            <a:solidFill>
              <a:srgbClr val="CCC4EC"/>
            </a:solidFill>
            <a:prstDash val="solid"/>
          </a:ln>
          <a:effectLst>
            <a:outerShdw dist="17780" dir="2700000" algn="bl" rotWithShape="0">
              <a:srgbClr val="CCC4EC">
                <a:alpha val="100000"/>
              </a:srgbClr>
            </a:outerShdw>
          </a:effectLst>
        </p:spPr>
      </p:sp>
      <p:sp>
        <p:nvSpPr>
          <p:cNvPr id="12" name="Shape 9"/>
          <p:cNvSpPr/>
          <p:nvPr/>
        </p:nvSpPr>
        <p:spPr>
          <a:xfrm>
            <a:off x="4623792" y="3581772"/>
            <a:ext cx="76200" cy="1086520"/>
          </a:xfrm>
          <a:prstGeom prst="roundRect">
            <a:avLst>
              <a:gd name="adj" fmla="val 78140"/>
            </a:avLst>
          </a:prstGeom>
          <a:solidFill>
            <a:srgbClr val="CCC4EC"/>
          </a:solidFill>
          <a:ln/>
        </p:spPr>
      </p:sp>
      <p:sp>
        <p:nvSpPr>
          <p:cNvPr id="13" name="Text 10"/>
          <p:cNvSpPr/>
          <p:nvPr/>
        </p:nvSpPr>
        <p:spPr>
          <a:xfrm>
            <a:off x="4860801" y="3742581"/>
            <a:ext cx="1772022" cy="221456"/>
          </a:xfrm>
          <a:prstGeom prst="rect">
            <a:avLst/>
          </a:prstGeom>
          <a:noFill/>
          <a:ln/>
        </p:spPr>
        <p:txBody>
          <a:bodyPr wrap="none" lIns="0" tIns="0" rIns="0" bIns="0" rtlCol="0" anchor="t"/>
          <a:lstStyle/>
          <a:p>
            <a:pPr marL="0" indent="0" algn="l">
              <a:lnSpc>
                <a:spcPct val="104000"/>
              </a:lnSpc>
              <a:buNone/>
            </a:pPr>
            <a:endParaRPr lang="en-US" sz="1350" dirty="0"/>
          </a:p>
        </p:txBody>
      </p:sp>
      <p:sp>
        <p:nvSpPr>
          <p:cNvPr id="14" name="Text 11"/>
          <p:cNvSpPr/>
          <p:nvPr/>
        </p:nvSpPr>
        <p:spPr>
          <a:xfrm>
            <a:off x="4860801" y="4049092"/>
            <a:ext cx="3626272" cy="458391"/>
          </a:xfrm>
          <a:prstGeom prst="rect">
            <a:avLst/>
          </a:prstGeom>
          <a:noFill/>
          <a:ln/>
        </p:spPr>
        <p:txBody>
          <a:bodyPr wrap="square" lIns="0" tIns="0" rIns="0" bIns="0" rtlCol="0" anchor="t">
            <a:normAutofit/>
          </a:bodyPr>
          <a:lstStyle/>
          <a:p>
            <a:pPr marL="0" indent="0" algn="l">
              <a:lnSpc>
                <a:spcPct val="133000"/>
              </a:lnSpc>
              <a:buNone/>
            </a:pPr>
            <a:endParaRPr lang="en-US" sz="1100" dirty="0"/>
          </a:p>
        </p:txBody>
      </p:sp>
      <p:sp>
        <p:nvSpPr>
          <p:cNvPr id="18" name="TextBox 17">
            <a:extLst>
              <a:ext uri="{FF2B5EF4-FFF2-40B4-BE49-F238E27FC236}">
                <a16:creationId xmlns:a16="http://schemas.microsoft.com/office/drawing/2014/main" id="{37F30C00-65A4-B5B7-BFCE-5F66AB46E942}"/>
              </a:ext>
            </a:extLst>
          </p:cNvPr>
          <p:cNvSpPr txBox="1"/>
          <p:nvPr/>
        </p:nvSpPr>
        <p:spPr>
          <a:xfrm>
            <a:off x="3248989" y="776377"/>
            <a:ext cx="5101381" cy="2708434"/>
          </a:xfrm>
          <a:prstGeom prst="rect">
            <a:avLst/>
          </a:prstGeom>
          <a:noFill/>
        </p:spPr>
        <p:txBody>
          <a:bodyPr wrap="square" rtlCol="0">
            <a:spAutoFit/>
          </a:bodyPr>
          <a:lstStyle/>
          <a:p>
            <a:r>
              <a:rPr lang="vi-VN" sz="1700" b="1" dirty="0">
                <a:latin typeface="+mj-lt"/>
              </a:rPr>
              <a:t>Đặt vé máy bay</a:t>
            </a:r>
          </a:p>
          <a:p>
            <a:r>
              <a:rPr lang="vi-VN" sz="1700" dirty="0">
                <a:latin typeface="+mj-lt"/>
              </a:rPr>
              <a:t>Khách đặt vé gồm 2 bước:</a:t>
            </a:r>
          </a:p>
          <a:p>
            <a:r>
              <a:rPr lang="vi-VN" sz="1700" dirty="0">
                <a:latin typeface="+mj-lt"/>
              </a:rPr>
              <a:t>    1 Giảm số ghế trống </a:t>
            </a:r>
          </a:p>
          <a:p>
            <a:r>
              <a:rPr lang="vi-VN" sz="1700" dirty="0">
                <a:latin typeface="+mj-lt"/>
              </a:rPr>
              <a:t>    2 Tạo vé cho khách </a:t>
            </a:r>
          </a:p>
          <a:p>
            <a:endParaRPr lang="vi-VN" sz="1700" dirty="0">
              <a:latin typeface="+mj-lt"/>
            </a:endParaRPr>
          </a:p>
          <a:p>
            <a:r>
              <a:rPr lang="vi-VN" sz="1700" dirty="0">
                <a:latin typeface="+mj-lt"/>
              </a:rPr>
              <a:t>Nếu bước 2 bị lỗi mà không hoàn tác (ROLLBACK):</a:t>
            </a:r>
          </a:p>
          <a:p>
            <a:r>
              <a:rPr lang="vi-VN" sz="1700" dirty="0">
                <a:latin typeface="+mj-lt"/>
              </a:rPr>
              <a:t>    - Ghế đã bị trừ </a:t>
            </a:r>
          </a:p>
          <a:p>
            <a:r>
              <a:rPr lang="vi-VN" sz="1700" dirty="0">
                <a:latin typeface="+mj-lt"/>
              </a:rPr>
              <a:t>    - Nhưng khách không nhận được vé </a:t>
            </a:r>
          </a:p>
          <a:p>
            <a:r>
              <a:rPr lang="vi-VN" sz="1700" dirty="0">
                <a:latin typeface="+mj-lt"/>
              </a:rPr>
              <a:t>→ Dữ liệu bị sai.</a:t>
            </a:r>
          </a:p>
          <a:p>
            <a:endParaRPr lang="en-US" sz="1700" dirty="0">
              <a:latin typeface="+mj-lt"/>
            </a:endParaRPr>
          </a:p>
        </p:txBody>
      </p:sp>
      <p:sp>
        <p:nvSpPr>
          <p:cNvPr id="19" name="TextBox 18">
            <a:extLst>
              <a:ext uri="{FF2B5EF4-FFF2-40B4-BE49-F238E27FC236}">
                <a16:creationId xmlns:a16="http://schemas.microsoft.com/office/drawing/2014/main" id="{B991E711-302C-3019-119E-999BA0FEE7DE}"/>
              </a:ext>
            </a:extLst>
          </p:cNvPr>
          <p:cNvSpPr txBox="1"/>
          <p:nvPr/>
        </p:nvSpPr>
        <p:spPr>
          <a:xfrm>
            <a:off x="128936" y="3484811"/>
            <a:ext cx="4334048" cy="1661993"/>
          </a:xfrm>
          <a:prstGeom prst="rect">
            <a:avLst/>
          </a:prstGeom>
          <a:noFill/>
        </p:spPr>
        <p:txBody>
          <a:bodyPr wrap="square" rtlCol="0">
            <a:spAutoFit/>
          </a:bodyPr>
          <a:lstStyle/>
          <a:p>
            <a:r>
              <a:rPr lang="vi-VN" sz="1700" b="1" dirty="0">
                <a:latin typeface="+mj-lt"/>
              </a:rPr>
              <a:t>Atomicity — Tính nguyên tử</a:t>
            </a:r>
          </a:p>
          <a:p>
            <a:r>
              <a:rPr lang="vi-VN" sz="1700" dirty="0">
                <a:latin typeface="+mj-lt"/>
              </a:rPr>
              <a:t>Giao dịch phải thực hiện toàn bộ hoặc hủy toàn bộ. </a:t>
            </a:r>
          </a:p>
          <a:p>
            <a:r>
              <a:rPr lang="vi-VN" sz="1700" dirty="0">
                <a:latin typeface="+mj-lt"/>
              </a:rPr>
              <a:t>Nếu có lỗi → hệ thống ROLLBACK. </a:t>
            </a:r>
          </a:p>
          <a:p>
            <a:r>
              <a:rPr lang="en-US" sz="1700" dirty="0">
                <a:latin typeface="+mj-lt"/>
              </a:rPr>
              <a:t>👉 </a:t>
            </a:r>
            <a:r>
              <a:rPr lang="vi-VN" sz="1700" dirty="0">
                <a:latin typeface="+mj-lt"/>
              </a:rPr>
              <a:t>Không được phép “làm nửa chừng”</a:t>
            </a:r>
          </a:p>
          <a:p>
            <a:endParaRPr lang="en-US" sz="1700" dirty="0">
              <a:latin typeface="+mj-lt"/>
            </a:endParaRPr>
          </a:p>
        </p:txBody>
      </p:sp>
      <p:sp>
        <p:nvSpPr>
          <p:cNvPr id="20" name="TextBox 19">
            <a:extLst>
              <a:ext uri="{FF2B5EF4-FFF2-40B4-BE49-F238E27FC236}">
                <a16:creationId xmlns:a16="http://schemas.microsoft.com/office/drawing/2014/main" id="{46068547-F4B0-B114-FB87-B4D334281B9D}"/>
              </a:ext>
            </a:extLst>
          </p:cNvPr>
          <p:cNvSpPr txBox="1"/>
          <p:nvPr/>
        </p:nvSpPr>
        <p:spPr>
          <a:xfrm>
            <a:off x="4699992" y="3484811"/>
            <a:ext cx="4192492" cy="1138773"/>
          </a:xfrm>
          <a:prstGeom prst="rect">
            <a:avLst/>
          </a:prstGeom>
          <a:noFill/>
        </p:spPr>
        <p:txBody>
          <a:bodyPr wrap="square" rtlCol="0">
            <a:spAutoFit/>
          </a:bodyPr>
          <a:lstStyle/>
          <a:p>
            <a:r>
              <a:rPr lang="vi-VN" sz="1700" b="1" dirty="0">
                <a:latin typeface="+mj-lt"/>
              </a:rPr>
              <a:t>Consistency — Tính nhất quán</a:t>
            </a:r>
          </a:p>
          <a:p>
            <a:r>
              <a:rPr lang="vi-VN" sz="1700" dirty="0">
                <a:latin typeface="+mj-lt"/>
              </a:rPr>
              <a:t>Sau giao dịch, dữ liệu phải luôn đúng. </a:t>
            </a:r>
          </a:p>
          <a:p>
            <a:r>
              <a:rPr lang="vi-VN" sz="1700" dirty="0">
                <a:latin typeface="+mj-lt"/>
              </a:rPr>
              <a:t>Ví dụ: số ghế không được âm. </a:t>
            </a:r>
          </a:p>
          <a:p>
            <a:r>
              <a:rPr lang="en-US" sz="1700" dirty="0">
                <a:latin typeface="+mj-lt"/>
              </a:rPr>
              <a:t>👉 </a:t>
            </a:r>
            <a:r>
              <a:rPr lang="vi-VN" sz="1700" dirty="0">
                <a:latin typeface="+mj-lt"/>
              </a:rPr>
              <a:t>Database luôn ở trạng thái hợp lệ.</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9396" y="288951"/>
            <a:ext cx="6148175" cy="849436"/>
          </a:xfrm>
          <a:prstGeom prst="rect">
            <a:avLst/>
          </a:prstGeom>
          <a:noFill/>
          <a:ln/>
        </p:spPr>
        <p:txBody>
          <a:bodyPr wrap="none" lIns="0" tIns="0" rIns="0" bIns="0" rtlCol="0" anchor="t"/>
          <a:lstStyle/>
          <a:p>
            <a:pPr marL="0" indent="0" algn="l">
              <a:lnSpc>
                <a:spcPct val="104000"/>
              </a:lnSpc>
              <a:buNone/>
            </a:pPr>
            <a:r>
              <a:rPr lang="en-US" sz="2750" b="1" dirty="0">
                <a:latin typeface="Time's New Roman"/>
                <a:ea typeface="Playfair Display SemiBold" pitchFamily="34" charset="-122"/>
                <a:cs typeface="Playfair Display SemiBold" pitchFamily="34" charset="-120"/>
              </a:rPr>
              <a:t>Isolation &amp; Durability — Chi Tiết</a:t>
            </a:r>
            <a:endParaRPr lang="en-US" sz="2750" b="1" dirty="0">
              <a:latin typeface="Time's New Roman"/>
            </a:endParaRPr>
          </a:p>
        </p:txBody>
      </p:sp>
      <p:sp>
        <p:nvSpPr>
          <p:cNvPr id="3" name="Text 1"/>
          <p:cNvSpPr/>
          <p:nvPr/>
        </p:nvSpPr>
        <p:spPr>
          <a:xfrm>
            <a:off x="389260" y="948906"/>
            <a:ext cx="2854272" cy="812474"/>
          </a:xfrm>
          <a:prstGeom prst="rect">
            <a:avLst/>
          </a:prstGeom>
          <a:noFill/>
          <a:ln/>
        </p:spPr>
        <p:txBody>
          <a:bodyPr wrap="none" lIns="0" tIns="0" rIns="0" bIns="0" rtlCol="0" anchor="t"/>
          <a:lstStyle/>
          <a:p>
            <a:pPr marL="0" indent="0" algn="l">
              <a:lnSpc>
                <a:spcPct val="104000"/>
              </a:lnSpc>
              <a:buNone/>
            </a:pPr>
            <a:r>
              <a:rPr lang="en-US" sz="2000" b="1" dirty="0">
                <a:latin typeface="Time's New Roman"/>
                <a:ea typeface="Playfair Display SemiBold" pitchFamily="34" charset="-122"/>
                <a:cs typeface="Playfair Display SemiBold" pitchFamily="34" charset="-120"/>
              </a:rPr>
              <a:t>Isolation — Tính Cô Lập</a:t>
            </a:r>
            <a:endParaRPr lang="en-US" sz="2000" b="1" dirty="0">
              <a:latin typeface="Time's New Roman"/>
            </a:endParaRPr>
          </a:p>
        </p:txBody>
      </p:sp>
      <p:sp>
        <p:nvSpPr>
          <p:cNvPr id="4" name="Text 2"/>
          <p:cNvSpPr/>
          <p:nvPr/>
        </p:nvSpPr>
        <p:spPr>
          <a:xfrm>
            <a:off x="389260" y="1414732"/>
            <a:ext cx="4009801" cy="573463"/>
          </a:xfrm>
          <a:prstGeom prst="rect">
            <a:avLst/>
          </a:prstGeom>
          <a:noFill/>
          <a:ln/>
        </p:spPr>
        <p:txBody>
          <a:bodyPr wrap="none" lIns="0" tIns="0" rIns="0" bIns="0" rtlCol="0" anchor="t"/>
          <a:lstStyle/>
          <a:p>
            <a:pPr marL="0" indent="0" algn="l">
              <a:lnSpc>
                <a:spcPct val="133000"/>
              </a:lnSpc>
              <a:buNone/>
            </a:pPr>
            <a:r>
              <a:rPr lang="en-US" sz="2000" dirty="0" err="1">
                <a:latin typeface="Time's New Roman"/>
                <a:ea typeface="Public Sans" pitchFamily="34" charset="-122"/>
                <a:cs typeface="Public Sans" pitchFamily="34" charset="-120"/>
              </a:rPr>
              <a:t>Chuyến</a:t>
            </a:r>
            <a:r>
              <a:rPr lang="en-US" sz="2000" dirty="0">
                <a:latin typeface="Time's New Roman"/>
                <a:ea typeface="Public Sans" pitchFamily="34" charset="-122"/>
                <a:cs typeface="Public Sans" pitchFamily="34" charset="-120"/>
              </a:rPr>
              <a:t> bay </a:t>
            </a:r>
            <a:r>
              <a:rPr lang="en-US" sz="2000" dirty="0" err="1">
                <a:latin typeface="Time's New Roman"/>
                <a:ea typeface="Public Sans" pitchFamily="34" charset="-122"/>
                <a:cs typeface="Public Sans" pitchFamily="34" charset="-120"/>
              </a:rPr>
              <a:t>chỉ</a:t>
            </a:r>
            <a:r>
              <a:rPr lang="en-US" sz="2000" dirty="0">
                <a:latin typeface="Time's New Roman"/>
                <a:ea typeface="Public Sans" pitchFamily="34" charset="-122"/>
                <a:cs typeface="Public Sans" pitchFamily="34" charset="-120"/>
              </a:rPr>
              <a:t> </a:t>
            </a:r>
            <a:r>
              <a:rPr lang="en-US" sz="2000" dirty="0" err="1">
                <a:latin typeface="Time's New Roman"/>
                <a:ea typeface="Public Sans" pitchFamily="34" charset="-122"/>
                <a:cs typeface="Public Sans" pitchFamily="34" charset="-120"/>
              </a:rPr>
              <a:t>còn</a:t>
            </a:r>
            <a:r>
              <a:rPr lang="en-US" sz="2000" dirty="0">
                <a:latin typeface="Time's New Roman"/>
                <a:ea typeface="Public Sans" pitchFamily="34" charset="-122"/>
                <a:cs typeface="Public Sans" pitchFamily="34" charset="-120"/>
              </a:rPr>
              <a:t> </a:t>
            </a:r>
            <a:r>
              <a:rPr lang="en-US" sz="2000" b="1" dirty="0">
                <a:latin typeface="Time's New Roman"/>
                <a:ea typeface="Public Sans" pitchFamily="34" charset="-122"/>
                <a:cs typeface="Public Sans" pitchFamily="34" charset="-120"/>
              </a:rPr>
              <a:t>1 </a:t>
            </a:r>
            <a:r>
              <a:rPr lang="en-US" sz="2000" b="1" dirty="0" err="1">
                <a:latin typeface="Time's New Roman"/>
                <a:ea typeface="Public Sans" pitchFamily="34" charset="-122"/>
                <a:cs typeface="Public Sans" pitchFamily="34" charset="-120"/>
              </a:rPr>
              <a:t>ghế</a:t>
            </a:r>
            <a:r>
              <a:rPr lang="en-US" sz="2000" dirty="0">
                <a:latin typeface="Time's New Roman"/>
                <a:ea typeface="Public Sans" pitchFamily="34" charset="-122"/>
                <a:cs typeface="Public Sans" pitchFamily="34" charset="-120"/>
              </a:rPr>
              <a:t>.</a:t>
            </a:r>
            <a:endParaRPr lang="vi-VN" sz="2000" dirty="0">
              <a:latin typeface="Time's New Roman"/>
              <a:ea typeface="Public Sans" pitchFamily="34" charset="-122"/>
              <a:cs typeface="Public Sans" pitchFamily="34" charset="-120"/>
            </a:endParaRPr>
          </a:p>
          <a:p>
            <a:pPr marL="0" indent="0" algn="l">
              <a:lnSpc>
                <a:spcPct val="133000"/>
              </a:lnSpc>
              <a:buNone/>
            </a:pPr>
            <a:r>
              <a:rPr lang="en-US" sz="2000" dirty="0">
                <a:latin typeface="Time's New Roman"/>
                <a:ea typeface="Public Sans" pitchFamily="34" charset="-122"/>
                <a:cs typeface="Public Sans" pitchFamily="34" charset="-120"/>
              </a:rPr>
              <a:t> Hai </a:t>
            </a:r>
            <a:r>
              <a:rPr lang="en-US" sz="2000" dirty="0" err="1">
                <a:latin typeface="Time's New Roman"/>
                <a:ea typeface="Public Sans" pitchFamily="34" charset="-122"/>
                <a:cs typeface="Public Sans" pitchFamily="34" charset="-120"/>
              </a:rPr>
              <a:t>khách</a:t>
            </a:r>
            <a:r>
              <a:rPr lang="en-US" sz="2000" dirty="0">
                <a:latin typeface="Time's New Roman"/>
                <a:ea typeface="Public Sans" pitchFamily="34" charset="-122"/>
                <a:cs typeface="Public Sans" pitchFamily="34" charset="-120"/>
              </a:rPr>
              <a:t> </a:t>
            </a:r>
            <a:r>
              <a:rPr lang="en-US" sz="2000" dirty="0" err="1">
                <a:latin typeface="Time's New Roman"/>
                <a:ea typeface="Public Sans" pitchFamily="34" charset="-122"/>
                <a:cs typeface="Public Sans" pitchFamily="34" charset="-120"/>
              </a:rPr>
              <a:t>cùng</a:t>
            </a:r>
            <a:r>
              <a:rPr lang="en-US" sz="2000" dirty="0">
                <a:latin typeface="Time's New Roman"/>
                <a:ea typeface="Public Sans" pitchFamily="34" charset="-122"/>
                <a:cs typeface="Public Sans" pitchFamily="34" charset="-120"/>
              </a:rPr>
              <a:t> </a:t>
            </a:r>
            <a:r>
              <a:rPr lang="en-US" sz="2000" dirty="0" err="1">
                <a:latin typeface="Time's New Roman"/>
                <a:ea typeface="Public Sans" pitchFamily="34" charset="-122"/>
                <a:cs typeface="Public Sans" pitchFamily="34" charset="-120"/>
              </a:rPr>
              <a:t>đặt</a:t>
            </a:r>
            <a:r>
              <a:rPr lang="en-US" sz="2000" dirty="0">
                <a:latin typeface="Time's New Roman"/>
                <a:ea typeface="Public Sans" pitchFamily="34" charset="-122"/>
                <a:cs typeface="Public Sans" pitchFamily="34" charset="-120"/>
              </a:rPr>
              <a:t> </a:t>
            </a:r>
            <a:r>
              <a:rPr lang="en-US" sz="2000" dirty="0" err="1">
                <a:latin typeface="Time's New Roman"/>
                <a:ea typeface="Public Sans" pitchFamily="34" charset="-122"/>
                <a:cs typeface="Public Sans" pitchFamily="34" charset="-120"/>
              </a:rPr>
              <a:t>vé</a:t>
            </a:r>
            <a:r>
              <a:rPr lang="en-US" sz="2000" dirty="0">
                <a:latin typeface="Time's New Roman"/>
                <a:ea typeface="Public Sans" pitchFamily="34" charset="-122"/>
                <a:cs typeface="Public Sans" pitchFamily="34" charset="-120"/>
              </a:rPr>
              <a:t>:</a:t>
            </a:r>
            <a:endParaRPr lang="en-US" sz="2000" dirty="0">
              <a:latin typeface="Time's New Roman"/>
            </a:endParaRPr>
          </a:p>
        </p:txBody>
      </p:sp>
      <p:sp>
        <p:nvSpPr>
          <p:cNvPr id="5" name="Shape 3"/>
          <p:cNvSpPr/>
          <p:nvPr/>
        </p:nvSpPr>
        <p:spPr>
          <a:xfrm>
            <a:off x="496119" y="2242245"/>
            <a:ext cx="3902943" cy="1238399"/>
          </a:xfrm>
          <a:prstGeom prst="roundRect">
            <a:avLst>
              <a:gd name="adj" fmla="val 4808"/>
            </a:avLst>
          </a:prstGeom>
          <a:noFill/>
          <a:ln w="4763">
            <a:solidFill>
              <a:srgbClr val="000000">
                <a:alpha val="8000"/>
              </a:srgbClr>
            </a:solidFill>
            <a:prstDash val="solid"/>
          </a:ln>
        </p:spPr>
      </p:sp>
      <p:sp>
        <p:nvSpPr>
          <p:cNvPr id="6" name="Text 4"/>
          <p:cNvSpPr/>
          <p:nvPr/>
        </p:nvSpPr>
        <p:spPr>
          <a:xfrm>
            <a:off x="642714" y="2336825"/>
            <a:ext cx="2117973" cy="226814"/>
          </a:xfrm>
          <a:prstGeom prst="rect">
            <a:avLst/>
          </a:prstGeom>
          <a:noFill/>
          <a:ln/>
        </p:spPr>
        <p:txBody>
          <a:bodyPr wrap="none" lIns="0" tIns="0" rIns="0" bIns="0" rtlCol="0" anchor="t"/>
          <a:lstStyle/>
          <a:p>
            <a:pPr marL="0" indent="0" algn="l">
              <a:lnSpc>
                <a:spcPct val="133000"/>
              </a:lnSpc>
              <a:buNone/>
            </a:pPr>
            <a:r>
              <a:rPr lang="en-US" sz="1500" b="1" dirty="0">
                <a:latin typeface="Public Sans" pitchFamily="34" charset="0"/>
                <a:ea typeface="Public Sans" pitchFamily="34" charset="-122"/>
                <a:cs typeface="Public Sans" pitchFamily="34" charset="-120"/>
              </a:rPr>
              <a:t>Transaction</a:t>
            </a:r>
            <a:endParaRPr lang="en-US" sz="1500" dirty="0"/>
          </a:p>
        </p:txBody>
      </p:sp>
      <p:sp>
        <p:nvSpPr>
          <p:cNvPr id="7" name="Text 5"/>
          <p:cNvSpPr/>
          <p:nvPr/>
        </p:nvSpPr>
        <p:spPr>
          <a:xfrm>
            <a:off x="2591767" y="2336825"/>
            <a:ext cx="2117973" cy="226814"/>
          </a:xfrm>
          <a:prstGeom prst="rect">
            <a:avLst/>
          </a:prstGeom>
          <a:noFill/>
          <a:ln/>
        </p:spPr>
        <p:txBody>
          <a:bodyPr wrap="none" lIns="0" tIns="0" rIns="0" bIns="0" rtlCol="0" anchor="t"/>
          <a:lstStyle/>
          <a:p>
            <a:pPr marL="0" indent="0" algn="l">
              <a:lnSpc>
                <a:spcPct val="133000"/>
              </a:lnSpc>
              <a:buNone/>
            </a:pPr>
            <a:r>
              <a:rPr lang="en-US" sz="1500" b="1" dirty="0">
                <a:latin typeface="Public Sans" pitchFamily="34" charset="0"/>
                <a:ea typeface="Public Sans" pitchFamily="34" charset="-122"/>
                <a:cs typeface="Public Sans" pitchFamily="34" charset="-120"/>
              </a:rPr>
              <a:t>Hành động</a:t>
            </a:r>
            <a:endParaRPr lang="en-US" sz="1500" dirty="0"/>
          </a:p>
        </p:txBody>
      </p:sp>
      <p:sp>
        <p:nvSpPr>
          <p:cNvPr id="8" name="Text 6"/>
          <p:cNvSpPr/>
          <p:nvPr/>
        </p:nvSpPr>
        <p:spPr>
          <a:xfrm>
            <a:off x="642714" y="2748037"/>
            <a:ext cx="2117973" cy="226814"/>
          </a:xfrm>
          <a:prstGeom prst="rect">
            <a:avLst/>
          </a:prstGeom>
          <a:noFill/>
          <a:ln/>
        </p:spPr>
        <p:txBody>
          <a:bodyPr wrap="none" lIns="0" tIns="0" rIns="0" bIns="0" rtlCol="0" anchor="t"/>
          <a:lstStyle/>
          <a:p>
            <a:pPr marL="0" indent="0" algn="l">
              <a:lnSpc>
                <a:spcPct val="133000"/>
              </a:lnSpc>
              <a:buNone/>
            </a:pPr>
            <a:r>
              <a:rPr lang="en-US" sz="1500" dirty="0">
                <a:latin typeface="Public Sans" pitchFamily="34" charset="0"/>
                <a:ea typeface="Public Sans" pitchFamily="34" charset="-122"/>
                <a:cs typeface="Public Sans" pitchFamily="34" charset="-120"/>
              </a:rPr>
              <a:t>T1</a:t>
            </a:r>
            <a:endParaRPr lang="en-US" sz="1500" dirty="0"/>
          </a:p>
        </p:txBody>
      </p:sp>
      <p:sp>
        <p:nvSpPr>
          <p:cNvPr id="9" name="Text 7"/>
          <p:cNvSpPr/>
          <p:nvPr/>
        </p:nvSpPr>
        <p:spPr>
          <a:xfrm>
            <a:off x="2591767" y="2748037"/>
            <a:ext cx="2117973" cy="226814"/>
          </a:xfrm>
          <a:prstGeom prst="rect">
            <a:avLst/>
          </a:prstGeom>
          <a:noFill/>
          <a:ln/>
        </p:spPr>
        <p:txBody>
          <a:bodyPr wrap="none" lIns="0" tIns="0" rIns="0" bIns="0" rtlCol="0" anchor="t"/>
          <a:lstStyle/>
          <a:p>
            <a:pPr marL="0" indent="0" algn="l">
              <a:lnSpc>
                <a:spcPct val="133000"/>
              </a:lnSpc>
              <a:buNone/>
            </a:pPr>
            <a:r>
              <a:rPr lang="en-US" sz="1500" dirty="0">
                <a:latin typeface="Public Sans" pitchFamily="34" charset="0"/>
                <a:ea typeface="Public Sans" pitchFamily="34" charset="-122"/>
                <a:cs typeface="Public Sans" pitchFamily="34" charset="-120"/>
              </a:rPr>
              <a:t>Đặt ghế</a:t>
            </a:r>
            <a:endParaRPr lang="en-US" sz="1500" dirty="0"/>
          </a:p>
        </p:txBody>
      </p:sp>
      <p:sp>
        <p:nvSpPr>
          <p:cNvPr id="10" name="Text 8"/>
          <p:cNvSpPr/>
          <p:nvPr/>
        </p:nvSpPr>
        <p:spPr>
          <a:xfrm>
            <a:off x="642714" y="3159249"/>
            <a:ext cx="2117973" cy="226814"/>
          </a:xfrm>
          <a:prstGeom prst="rect">
            <a:avLst/>
          </a:prstGeom>
          <a:noFill/>
          <a:ln/>
        </p:spPr>
        <p:txBody>
          <a:bodyPr wrap="none" lIns="0" tIns="0" rIns="0" bIns="0" rtlCol="0" anchor="t"/>
          <a:lstStyle/>
          <a:p>
            <a:pPr marL="0" indent="0" algn="l">
              <a:lnSpc>
                <a:spcPct val="133000"/>
              </a:lnSpc>
              <a:buNone/>
            </a:pPr>
            <a:r>
              <a:rPr lang="en-US" sz="1500" dirty="0">
                <a:latin typeface="Public Sans" pitchFamily="34" charset="0"/>
                <a:ea typeface="Public Sans" pitchFamily="34" charset="-122"/>
                <a:cs typeface="Public Sans" pitchFamily="34" charset="-120"/>
              </a:rPr>
              <a:t>T2</a:t>
            </a:r>
            <a:endParaRPr lang="en-US" sz="1500" dirty="0"/>
          </a:p>
        </p:txBody>
      </p:sp>
      <p:sp>
        <p:nvSpPr>
          <p:cNvPr id="11" name="Text 9"/>
          <p:cNvSpPr/>
          <p:nvPr/>
        </p:nvSpPr>
        <p:spPr>
          <a:xfrm>
            <a:off x="2591767" y="3159249"/>
            <a:ext cx="2117973" cy="226814"/>
          </a:xfrm>
          <a:prstGeom prst="rect">
            <a:avLst/>
          </a:prstGeom>
          <a:noFill/>
          <a:ln/>
        </p:spPr>
        <p:txBody>
          <a:bodyPr wrap="none" lIns="0" tIns="0" rIns="0" bIns="0" rtlCol="0" anchor="t"/>
          <a:lstStyle/>
          <a:p>
            <a:pPr marL="0" indent="0" algn="l">
              <a:lnSpc>
                <a:spcPct val="133000"/>
              </a:lnSpc>
              <a:buNone/>
            </a:pPr>
            <a:r>
              <a:rPr lang="en-US" sz="1500" dirty="0">
                <a:latin typeface="Public Sans" pitchFamily="34" charset="0"/>
                <a:ea typeface="Public Sans" pitchFamily="34" charset="-122"/>
                <a:cs typeface="Public Sans" pitchFamily="34" charset="-120"/>
              </a:rPr>
              <a:t>Đặt ghế</a:t>
            </a:r>
            <a:endParaRPr lang="en-US" sz="1500" dirty="0"/>
          </a:p>
        </p:txBody>
      </p:sp>
      <p:sp>
        <p:nvSpPr>
          <p:cNvPr id="12" name="Text 10"/>
          <p:cNvSpPr/>
          <p:nvPr/>
        </p:nvSpPr>
        <p:spPr>
          <a:xfrm>
            <a:off x="129397" y="3640113"/>
            <a:ext cx="4269666" cy="680442"/>
          </a:xfrm>
          <a:prstGeom prst="rect">
            <a:avLst/>
          </a:prstGeom>
          <a:noFill/>
          <a:ln/>
        </p:spPr>
        <p:txBody>
          <a:bodyPr wrap="square" lIns="0" tIns="0" rIns="0" bIns="0" rtlCol="0" anchor="t">
            <a:noAutofit/>
          </a:bodyPr>
          <a:lstStyle/>
          <a:p>
            <a:pPr marL="0" indent="0" algn="l">
              <a:lnSpc>
                <a:spcPct val="133000"/>
              </a:lnSpc>
              <a:buNone/>
            </a:pPr>
            <a:r>
              <a:rPr lang="en-US" sz="1700" dirty="0">
                <a:latin typeface="Time's New Roman"/>
                <a:ea typeface="Public Sans" pitchFamily="34" charset="-122"/>
                <a:cs typeface="Public Sans" pitchFamily="34" charset="-120"/>
              </a:rPr>
              <a:t>Nếu không có khóa → cả 2 đều mua được cùng 1 ghế. SQL Server dùng Shared Lock và Exclusive Lock để khóa dữ liệu. Khi T1 đang update, T2 phải chờ.</a:t>
            </a:r>
            <a:endParaRPr lang="en-US" sz="1700" dirty="0">
              <a:latin typeface="Time's New Roman"/>
            </a:endParaRPr>
          </a:p>
        </p:txBody>
      </p:sp>
      <p:sp>
        <p:nvSpPr>
          <p:cNvPr id="13" name="Shape 11"/>
          <p:cNvSpPr/>
          <p:nvPr/>
        </p:nvSpPr>
        <p:spPr>
          <a:xfrm>
            <a:off x="4572000" y="1010569"/>
            <a:ext cx="4572000" cy="4044509"/>
          </a:xfrm>
          <a:prstGeom prst="roundRect">
            <a:avLst>
              <a:gd name="adj" fmla="val 3296"/>
            </a:avLst>
          </a:prstGeom>
          <a:solidFill>
            <a:srgbClr val="E1C2C2"/>
          </a:solidFill>
          <a:ln/>
        </p:spPr>
      </p:sp>
      <p:sp>
        <p:nvSpPr>
          <p:cNvPr id="14" name="Text 12"/>
          <p:cNvSpPr/>
          <p:nvPr/>
        </p:nvSpPr>
        <p:spPr>
          <a:xfrm>
            <a:off x="4789363" y="1138387"/>
            <a:ext cx="2714104" cy="575815"/>
          </a:xfrm>
          <a:prstGeom prst="rect">
            <a:avLst/>
          </a:prstGeom>
          <a:noFill/>
          <a:ln/>
        </p:spPr>
        <p:txBody>
          <a:bodyPr wrap="none" lIns="0" tIns="0" rIns="0" bIns="0" rtlCol="0" anchor="t"/>
          <a:lstStyle/>
          <a:p>
            <a:pPr marL="0" indent="0" algn="l">
              <a:lnSpc>
                <a:spcPct val="104000"/>
              </a:lnSpc>
              <a:buNone/>
            </a:pPr>
            <a:r>
              <a:rPr lang="en-US" b="1" dirty="0">
                <a:solidFill>
                  <a:srgbClr val="000000"/>
                </a:solidFill>
                <a:latin typeface="Time's New Roman"/>
                <a:ea typeface="Playfair Display SemiBold" pitchFamily="34" charset="-122"/>
                <a:cs typeface="Playfair Display SemiBold" pitchFamily="34" charset="-120"/>
              </a:rPr>
              <a:t>Durability — Tính Bền Vững</a:t>
            </a:r>
            <a:endParaRPr lang="en-US" b="1" dirty="0">
              <a:latin typeface="Time's New Roman"/>
            </a:endParaRPr>
          </a:p>
        </p:txBody>
      </p:sp>
      <p:sp>
        <p:nvSpPr>
          <p:cNvPr id="15" name="Text 13"/>
          <p:cNvSpPr/>
          <p:nvPr/>
        </p:nvSpPr>
        <p:spPr>
          <a:xfrm>
            <a:off x="4709739" y="1487017"/>
            <a:ext cx="4360441" cy="600522"/>
          </a:xfrm>
          <a:prstGeom prst="rect">
            <a:avLst/>
          </a:prstGeom>
          <a:noFill/>
          <a:ln/>
        </p:spPr>
        <p:txBody>
          <a:bodyPr wrap="none" lIns="0" tIns="0" rIns="0" bIns="0" rtlCol="0" anchor="t"/>
          <a:lstStyle/>
          <a:p>
            <a:pPr marL="0" indent="0" algn="l">
              <a:lnSpc>
                <a:spcPct val="133000"/>
              </a:lnSpc>
              <a:buNone/>
            </a:pPr>
            <a:r>
              <a:rPr lang="en-US" sz="1700" dirty="0">
                <a:solidFill>
                  <a:srgbClr val="000000"/>
                </a:solidFill>
                <a:latin typeface="Time's New Roman"/>
                <a:ea typeface="Public Sans" pitchFamily="34" charset="-122"/>
                <a:cs typeface="Public Sans" pitchFamily="34" charset="-120"/>
              </a:rPr>
              <a:t>Sau khi </a:t>
            </a:r>
            <a:r>
              <a:rPr lang="en-US" sz="1700" dirty="0">
                <a:solidFill>
                  <a:srgbClr val="000000"/>
                </a:solidFill>
                <a:highlight>
                  <a:srgbClr val="D4B5B5"/>
                </a:highlight>
                <a:latin typeface="Time's New Roman"/>
                <a:ea typeface="Consolas" pitchFamily="34" charset="-122"/>
                <a:cs typeface="Consolas" pitchFamily="34" charset="-120"/>
              </a:rPr>
              <a:t>COMMIT;</a:t>
            </a:r>
            <a:r>
              <a:rPr lang="en-US" sz="1700" dirty="0">
                <a:solidFill>
                  <a:srgbClr val="000000"/>
                </a:solidFill>
                <a:latin typeface="Time's New Roman"/>
                <a:ea typeface="Public Sans" pitchFamily="34" charset="-122"/>
                <a:cs typeface="Public Sans" pitchFamily="34" charset="-120"/>
              </a:rPr>
              <a:t>, dữ liệu được lưu vĩnh viễn dù:</a:t>
            </a:r>
            <a:endParaRPr lang="en-US" sz="1700" dirty="0">
              <a:latin typeface="Time's New Roman"/>
            </a:endParaRPr>
          </a:p>
        </p:txBody>
      </p:sp>
      <p:sp>
        <p:nvSpPr>
          <p:cNvPr id="16" name="Text 14"/>
          <p:cNvSpPr/>
          <p:nvPr/>
        </p:nvSpPr>
        <p:spPr>
          <a:xfrm>
            <a:off x="4789363" y="2215083"/>
            <a:ext cx="3823618" cy="779562"/>
          </a:xfrm>
          <a:prstGeom prst="rect">
            <a:avLst/>
          </a:prstGeom>
          <a:noFill/>
          <a:ln/>
        </p:spPr>
        <p:txBody>
          <a:bodyPr wrap="square" lIns="0" tIns="0" rIns="0" bIns="0" rtlCol="0" anchor="t">
            <a:noAutofit/>
          </a:bodyPr>
          <a:lstStyle/>
          <a:p>
            <a:pPr marL="342900" indent="-342900" algn="l">
              <a:lnSpc>
                <a:spcPct val="133000"/>
              </a:lnSpc>
              <a:buSzPct val="100000"/>
              <a:buChar char="•"/>
            </a:pPr>
            <a:r>
              <a:rPr lang="en-US" sz="1700" dirty="0">
                <a:solidFill>
                  <a:srgbClr val="000000"/>
                </a:solidFill>
                <a:latin typeface="Time's New Roman"/>
                <a:ea typeface="Public Sans" pitchFamily="34" charset="-122"/>
                <a:cs typeface="Public Sans" pitchFamily="34" charset="-120"/>
              </a:rPr>
              <a:t>Mất điện</a:t>
            </a:r>
            <a:endParaRPr lang="en-US" sz="1700" dirty="0">
              <a:latin typeface="Time's New Roman"/>
            </a:endParaRPr>
          </a:p>
          <a:p>
            <a:pPr marL="342900" indent="-342900" algn="l">
              <a:lnSpc>
                <a:spcPct val="133000"/>
              </a:lnSpc>
              <a:buSzPct val="100000"/>
              <a:buChar char="•"/>
            </a:pPr>
            <a:r>
              <a:rPr lang="en-US" sz="1700" dirty="0">
                <a:solidFill>
                  <a:srgbClr val="000000"/>
                </a:solidFill>
                <a:latin typeface="Time's New Roman"/>
                <a:ea typeface="Public Sans" pitchFamily="34" charset="-122"/>
                <a:cs typeface="Public Sans" pitchFamily="34" charset="-120"/>
              </a:rPr>
              <a:t>Tắt máy</a:t>
            </a:r>
            <a:endParaRPr lang="en-US" sz="1700" dirty="0">
              <a:latin typeface="Time's New Roman"/>
            </a:endParaRPr>
          </a:p>
          <a:p>
            <a:pPr marL="342900" indent="-342900" algn="l">
              <a:lnSpc>
                <a:spcPct val="133000"/>
              </a:lnSpc>
              <a:buSzPct val="100000"/>
              <a:buChar char="•"/>
            </a:pPr>
            <a:r>
              <a:rPr lang="en-US" sz="1700" dirty="0">
                <a:solidFill>
                  <a:srgbClr val="000000"/>
                </a:solidFill>
                <a:latin typeface="Time's New Roman"/>
                <a:ea typeface="Public Sans" pitchFamily="34" charset="-122"/>
                <a:cs typeface="Public Sans" pitchFamily="34" charset="-120"/>
              </a:rPr>
              <a:t>Crash hệ thống</a:t>
            </a:r>
            <a:endParaRPr lang="en-US" sz="1700" dirty="0">
              <a:latin typeface="Time's New Roman"/>
            </a:endParaRPr>
          </a:p>
        </p:txBody>
      </p:sp>
      <p:sp>
        <p:nvSpPr>
          <p:cNvPr id="17" name="Text 15"/>
          <p:cNvSpPr/>
          <p:nvPr/>
        </p:nvSpPr>
        <p:spPr>
          <a:xfrm>
            <a:off x="4789363" y="3466915"/>
            <a:ext cx="3823618" cy="108903"/>
          </a:xfrm>
          <a:prstGeom prst="rect">
            <a:avLst/>
          </a:prstGeom>
          <a:noFill/>
          <a:ln/>
        </p:spPr>
        <p:txBody>
          <a:bodyPr wrap="square" lIns="0" tIns="0" rIns="0" bIns="0" rtlCol="0" anchor="t">
            <a:noAutofit/>
          </a:bodyPr>
          <a:lstStyle/>
          <a:p>
            <a:pPr marL="0" indent="0" algn="l">
              <a:lnSpc>
                <a:spcPct val="133000"/>
              </a:lnSpc>
              <a:buNone/>
            </a:pPr>
            <a:r>
              <a:rPr lang="en-US" sz="1700" dirty="0">
                <a:solidFill>
                  <a:srgbClr val="000000"/>
                </a:solidFill>
                <a:latin typeface="Time's New Roman"/>
                <a:ea typeface="Public Sans" pitchFamily="34" charset="-122"/>
                <a:cs typeface="Public Sans" pitchFamily="34" charset="-120"/>
              </a:rPr>
              <a:t>Sau khi đặt vé thành công, thông tin vé vẫn còn trong database.</a:t>
            </a:r>
            <a:endParaRPr lang="en-US" sz="1700" dirty="0">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82340" y="1545069"/>
            <a:ext cx="3771900" cy="3187750"/>
          </a:xfrm>
          <a:prstGeom prst="rect">
            <a:avLst/>
          </a:prstGeom>
          <a:solidFill>
            <a:srgbClr val="F0DEDC"/>
          </a:solidFill>
          <a:ln/>
        </p:spPr>
      </p:sp>
      <p:pic>
        <p:nvPicPr>
          <p:cNvPr id="3" name="Image 0" descr="preencoded.png"/>
          <p:cNvPicPr>
            <a:picLocks noChangeAspect="1"/>
          </p:cNvPicPr>
          <p:nvPr/>
        </p:nvPicPr>
        <p:blipFill>
          <a:blip r:embed="rId3"/>
          <a:stretch>
            <a:fillRect/>
          </a:stretch>
        </p:blipFill>
        <p:spPr>
          <a:xfrm>
            <a:off x="861580" y="1685270"/>
            <a:ext cx="2109054" cy="2812107"/>
          </a:xfrm>
          <a:prstGeom prst="rect">
            <a:avLst/>
          </a:prstGeom>
        </p:spPr>
      </p:pic>
      <p:sp>
        <p:nvSpPr>
          <p:cNvPr id="4" name="Text 1"/>
          <p:cNvSpPr/>
          <p:nvPr/>
        </p:nvSpPr>
        <p:spPr>
          <a:xfrm>
            <a:off x="129397" y="107605"/>
            <a:ext cx="8755812" cy="1006896"/>
          </a:xfrm>
          <a:prstGeom prst="rect">
            <a:avLst/>
          </a:prstGeom>
          <a:noFill/>
          <a:ln/>
        </p:spPr>
        <p:txBody>
          <a:bodyPr wrap="square" lIns="0" tIns="0" rIns="0" bIns="0" rtlCol="0" anchor="t">
            <a:normAutofit/>
          </a:bodyPr>
          <a:lstStyle/>
          <a:p>
            <a:pPr marL="0" indent="0" algn="l">
              <a:lnSpc>
                <a:spcPct val="104000"/>
              </a:lnSpc>
              <a:buNone/>
            </a:pPr>
            <a:r>
              <a:rPr lang="en-US" sz="2300" b="1" dirty="0">
                <a:latin typeface="Time's New Roman"/>
                <a:ea typeface="Playfair Display SemiBold" pitchFamily="34" charset="-122"/>
                <a:cs typeface="Playfair Display SemiBold" pitchFamily="34" charset="-120"/>
              </a:rPr>
              <a:t>3. Giao Dịch Phân Tán (Distributed Transaction)</a:t>
            </a:r>
            <a:endParaRPr lang="en-US" sz="2300" b="1" dirty="0">
              <a:latin typeface="Time's New Roman"/>
            </a:endParaRPr>
          </a:p>
        </p:txBody>
      </p:sp>
      <p:sp>
        <p:nvSpPr>
          <p:cNvPr id="5" name="Text 2"/>
          <p:cNvSpPr/>
          <p:nvPr/>
        </p:nvSpPr>
        <p:spPr>
          <a:xfrm>
            <a:off x="129397" y="502771"/>
            <a:ext cx="8885208" cy="1237551"/>
          </a:xfrm>
          <a:prstGeom prst="rect">
            <a:avLst/>
          </a:prstGeom>
          <a:noFill/>
          <a:ln/>
        </p:spPr>
        <p:txBody>
          <a:bodyPr wrap="square" lIns="0" tIns="0" rIns="0" bIns="0" rtlCol="0" anchor="t">
            <a:noAutofit/>
          </a:bodyPr>
          <a:lstStyle/>
          <a:p>
            <a:pPr marL="0" indent="0" algn="l">
              <a:lnSpc>
                <a:spcPct val="120000"/>
              </a:lnSpc>
              <a:buNone/>
            </a:pPr>
            <a:r>
              <a:rPr lang="en-US" sz="1700" dirty="0">
                <a:latin typeface="Time's New Roman"/>
                <a:ea typeface="Public Sans" pitchFamily="34" charset="-122"/>
                <a:cs typeface="Public Sans" pitchFamily="34" charset="-120"/>
              </a:rPr>
              <a:t>Giao dịch phân tán là transaction thao tác trên dữ liệu nằm ở </a:t>
            </a:r>
            <a:r>
              <a:rPr lang="en-US" sz="1700" b="1" dirty="0">
                <a:latin typeface="Time's New Roman"/>
                <a:ea typeface="Public Sans" pitchFamily="34" charset="-122"/>
                <a:cs typeface="Public Sans" pitchFamily="34" charset="-120"/>
              </a:rPr>
              <a:t>nhiều site khác nhau</a:t>
            </a:r>
            <a:r>
              <a:rPr lang="en-US" sz="1700" dirty="0">
                <a:latin typeface="Time's New Roman"/>
                <a:ea typeface="Public Sans" pitchFamily="34" charset="-122"/>
                <a:cs typeface="Public Sans" pitchFamily="34" charset="-120"/>
              </a:rPr>
              <a:t>. Ví dụ: khách tại Hà Nội đặt vé chuyến bay nằm ở TP.HCM — transaction khởi tạo ở Hà Nội nhưng cập nhật dữ liệu ở TP.HCM.</a:t>
            </a:r>
            <a:endParaRPr lang="en-US" sz="1700" dirty="0">
              <a:latin typeface="Time's New Roman"/>
            </a:endParaRPr>
          </a:p>
        </p:txBody>
      </p:sp>
      <p:pic>
        <p:nvPicPr>
          <p:cNvPr id="6" name="Image 1" descr="preencoded.png"/>
          <p:cNvPicPr>
            <a:picLocks noChangeAspect="1"/>
          </p:cNvPicPr>
          <p:nvPr/>
        </p:nvPicPr>
        <p:blipFill>
          <a:blip r:embed="rId4"/>
          <a:stretch>
            <a:fillRect/>
          </a:stretch>
        </p:blipFill>
        <p:spPr>
          <a:xfrm>
            <a:off x="3832213" y="1233563"/>
            <a:ext cx="752845" cy="903414"/>
          </a:xfrm>
          <a:prstGeom prst="rect">
            <a:avLst/>
          </a:prstGeom>
        </p:spPr>
      </p:pic>
      <p:sp>
        <p:nvSpPr>
          <p:cNvPr id="7" name="Text 3"/>
          <p:cNvSpPr/>
          <p:nvPr/>
        </p:nvSpPr>
        <p:spPr>
          <a:xfrm>
            <a:off x="4582864" y="1955750"/>
            <a:ext cx="1417662" cy="177180"/>
          </a:xfrm>
          <a:prstGeom prst="rect">
            <a:avLst/>
          </a:prstGeom>
          <a:noFill/>
          <a:ln/>
        </p:spPr>
        <p:txBody>
          <a:bodyPr wrap="none" lIns="0" tIns="0" rIns="0" bIns="0" rtlCol="0" anchor="t"/>
          <a:lstStyle/>
          <a:p>
            <a:pPr marL="0" indent="0" algn="l">
              <a:lnSpc>
                <a:spcPct val="104000"/>
              </a:lnSpc>
              <a:buNone/>
            </a:pPr>
            <a:endParaRPr lang="en-US" sz="1100" dirty="0"/>
          </a:p>
        </p:txBody>
      </p:sp>
      <p:sp>
        <p:nvSpPr>
          <p:cNvPr id="8" name="Text 4"/>
          <p:cNvSpPr/>
          <p:nvPr/>
        </p:nvSpPr>
        <p:spPr>
          <a:xfrm>
            <a:off x="4582864" y="2187327"/>
            <a:ext cx="4065017" cy="163264"/>
          </a:xfrm>
          <a:prstGeom prst="rect">
            <a:avLst/>
          </a:prstGeom>
          <a:noFill/>
          <a:ln/>
        </p:spPr>
        <p:txBody>
          <a:bodyPr wrap="none" lIns="0" tIns="0" rIns="0" bIns="0" rtlCol="0" anchor="t"/>
          <a:lstStyle/>
          <a:p>
            <a:pPr marL="0" indent="0" algn="l">
              <a:lnSpc>
                <a:spcPct val="120000"/>
              </a:lnSpc>
              <a:buNone/>
            </a:pPr>
            <a:endParaRPr lang="en-US" sz="850" dirty="0"/>
          </a:p>
        </p:txBody>
      </p:sp>
      <p:pic>
        <p:nvPicPr>
          <p:cNvPr id="9" name="Image 2" descr="preencoded.png"/>
          <p:cNvPicPr>
            <a:picLocks noChangeAspect="1"/>
          </p:cNvPicPr>
          <p:nvPr/>
        </p:nvPicPr>
        <p:blipFill>
          <a:blip r:embed="rId5"/>
          <a:stretch>
            <a:fillRect/>
          </a:stretch>
        </p:blipFill>
        <p:spPr>
          <a:xfrm>
            <a:off x="3870449" y="2212069"/>
            <a:ext cx="710531" cy="852637"/>
          </a:xfrm>
          <a:prstGeom prst="rect">
            <a:avLst/>
          </a:prstGeom>
        </p:spPr>
      </p:pic>
      <p:sp>
        <p:nvSpPr>
          <p:cNvPr id="10" name="Text 5"/>
          <p:cNvSpPr/>
          <p:nvPr/>
        </p:nvSpPr>
        <p:spPr>
          <a:xfrm>
            <a:off x="4582864" y="2636193"/>
            <a:ext cx="1417662" cy="177180"/>
          </a:xfrm>
          <a:prstGeom prst="rect">
            <a:avLst/>
          </a:prstGeom>
          <a:noFill/>
          <a:ln/>
        </p:spPr>
        <p:txBody>
          <a:bodyPr wrap="none" lIns="0" tIns="0" rIns="0" bIns="0" rtlCol="0" anchor="t"/>
          <a:lstStyle/>
          <a:p>
            <a:pPr marL="0" indent="0" algn="l">
              <a:lnSpc>
                <a:spcPct val="104000"/>
              </a:lnSpc>
              <a:buNone/>
            </a:pPr>
            <a:endParaRPr lang="en-US" sz="1100" dirty="0"/>
          </a:p>
        </p:txBody>
      </p:sp>
      <p:sp>
        <p:nvSpPr>
          <p:cNvPr id="11" name="Text 6"/>
          <p:cNvSpPr/>
          <p:nvPr/>
        </p:nvSpPr>
        <p:spPr>
          <a:xfrm>
            <a:off x="4582864" y="2867769"/>
            <a:ext cx="4065017" cy="163264"/>
          </a:xfrm>
          <a:prstGeom prst="rect">
            <a:avLst/>
          </a:prstGeom>
          <a:noFill/>
          <a:ln/>
        </p:spPr>
        <p:txBody>
          <a:bodyPr wrap="none" lIns="0" tIns="0" rIns="0" bIns="0" rtlCol="0" anchor="t"/>
          <a:lstStyle/>
          <a:p>
            <a:pPr marL="0" indent="0" algn="l">
              <a:lnSpc>
                <a:spcPct val="120000"/>
              </a:lnSpc>
              <a:buNone/>
            </a:pPr>
            <a:endParaRPr lang="en-US" sz="850" dirty="0"/>
          </a:p>
        </p:txBody>
      </p:sp>
      <p:pic>
        <p:nvPicPr>
          <p:cNvPr id="12" name="Image 3" descr="preencoded.png"/>
          <p:cNvPicPr>
            <a:picLocks noChangeAspect="1"/>
          </p:cNvPicPr>
          <p:nvPr/>
        </p:nvPicPr>
        <p:blipFill>
          <a:blip r:embed="rId6"/>
          <a:stretch>
            <a:fillRect/>
          </a:stretch>
        </p:blipFill>
        <p:spPr>
          <a:xfrm>
            <a:off x="3892891" y="3076827"/>
            <a:ext cx="688089" cy="825707"/>
          </a:xfrm>
          <a:prstGeom prst="rect">
            <a:avLst/>
          </a:prstGeom>
        </p:spPr>
      </p:pic>
      <p:sp>
        <p:nvSpPr>
          <p:cNvPr id="13" name="Text 7"/>
          <p:cNvSpPr/>
          <p:nvPr/>
        </p:nvSpPr>
        <p:spPr>
          <a:xfrm>
            <a:off x="4582864" y="3316635"/>
            <a:ext cx="1417662" cy="177180"/>
          </a:xfrm>
          <a:prstGeom prst="rect">
            <a:avLst/>
          </a:prstGeom>
          <a:noFill/>
          <a:ln/>
        </p:spPr>
        <p:txBody>
          <a:bodyPr wrap="none" lIns="0" tIns="0" rIns="0" bIns="0" rtlCol="0" anchor="t"/>
          <a:lstStyle/>
          <a:p>
            <a:pPr marL="0" indent="0" algn="l">
              <a:lnSpc>
                <a:spcPct val="104000"/>
              </a:lnSpc>
              <a:buNone/>
            </a:pPr>
            <a:endParaRPr lang="en-US" sz="1100" dirty="0"/>
          </a:p>
        </p:txBody>
      </p:sp>
      <p:sp>
        <p:nvSpPr>
          <p:cNvPr id="14" name="Text 8"/>
          <p:cNvSpPr/>
          <p:nvPr/>
        </p:nvSpPr>
        <p:spPr>
          <a:xfrm>
            <a:off x="4582864" y="3548211"/>
            <a:ext cx="4065017" cy="163264"/>
          </a:xfrm>
          <a:prstGeom prst="rect">
            <a:avLst/>
          </a:prstGeom>
          <a:noFill/>
          <a:ln/>
        </p:spPr>
        <p:txBody>
          <a:bodyPr wrap="none" lIns="0" tIns="0" rIns="0" bIns="0" rtlCol="0" anchor="t"/>
          <a:lstStyle/>
          <a:p>
            <a:pPr marL="0" indent="0" algn="l">
              <a:lnSpc>
                <a:spcPct val="120000"/>
              </a:lnSpc>
              <a:buNone/>
            </a:pPr>
            <a:endParaRPr lang="en-US" sz="850" dirty="0"/>
          </a:p>
        </p:txBody>
      </p:sp>
      <p:sp>
        <p:nvSpPr>
          <p:cNvPr id="15" name="Shape 9"/>
          <p:cNvSpPr/>
          <p:nvPr/>
        </p:nvSpPr>
        <p:spPr>
          <a:xfrm>
            <a:off x="3925118" y="3985692"/>
            <a:ext cx="5218881" cy="1096500"/>
          </a:xfrm>
          <a:prstGeom prst="roundRect">
            <a:avLst>
              <a:gd name="adj" fmla="val 6335"/>
            </a:avLst>
          </a:prstGeom>
          <a:solidFill>
            <a:srgbClr val="B6D6FC"/>
          </a:solidFill>
          <a:ln/>
        </p:spPr>
      </p:sp>
      <p:pic>
        <p:nvPicPr>
          <p:cNvPr id="16" name="Image 4" descr="preencoded.png"/>
          <p:cNvPicPr>
            <a:picLocks noChangeAspect="1"/>
          </p:cNvPicPr>
          <p:nvPr/>
        </p:nvPicPr>
        <p:blipFill>
          <a:blip r:embed="rId7"/>
          <a:stretch>
            <a:fillRect/>
          </a:stretch>
        </p:blipFill>
        <p:spPr>
          <a:xfrm>
            <a:off x="4038526" y="4152007"/>
            <a:ext cx="141759" cy="113407"/>
          </a:xfrm>
          <a:prstGeom prst="rect">
            <a:avLst/>
          </a:prstGeom>
        </p:spPr>
      </p:pic>
      <p:sp>
        <p:nvSpPr>
          <p:cNvPr id="17" name="Text 10"/>
          <p:cNvSpPr/>
          <p:nvPr/>
        </p:nvSpPr>
        <p:spPr>
          <a:xfrm>
            <a:off x="3936580" y="4095885"/>
            <a:ext cx="5207420" cy="503425"/>
          </a:xfrm>
          <a:prstGeom prst="rect">
            <a:avLst/>
          </a:prstGeom>
          <a:noFill/>
          <a:ln/>
        </p:spPr>
        <p:txBody>
          <a:bodyPr wrap="square" lIns="0" tIns="0" rIns="0" bIns="0" rtlCol="0" anchor="t">
            <a:noAutofit/>
          </a:bodyPr>
          <a:lstStyle/>
          <a:p>
            <a:pPr marL="0" indent="0" algn="just">
              <a:lnSpc>
                <a:spcPct val="120000"/>
              </a:lnSpc>
              <a:buNone/>
            </a:pPr>
            <a:r>
              <a:rPr lang="en-US" sz="1600" dirty="0">
                <a:solidFill>
                  <a:srgbClr val="000000"/>
                </a:solidFill>
                <a:latin typeface="Time's New Roman"/>
                <a:ea typeface="Public Sans" pitchFamily="34" charset="-122"/>
                <a:cs typeface="Public Sans" pitchFamily="34" charset="-120"/>
              </a:rPr>
              <a:t>✅ Giao dịch phân tán giúp quản lý dữ liệu nhiều chi nhánh, tăng khả năng mở rộng, xử lý dữ liệu từ xa và hoạt động đồng thời nhiều site. Cú pháp: </a:t>
            </a:r>
            <a:r>
              <a:rPr lang="en-US" sz="1600" dirty="0">
                <a:solidFill>
                  <a:srgbClr val="000000"/>
                </a:solidFill>
                <a:highlight>
                  <a:srgbClr val="F2EDE9"/>
                </a:highlight>
                <a:latin typeface="Time's New Roman"/>
                <a:ea typeface="Consolas" pitchFamily="34" charset="-122"/>
                <a:cs typeface="Consolas" pitchFamily="34" charset="-120"/>
              </a:rPr>
              <a:t>BEGIN DISTRIBUTED TRANSACTION;</a:t>
            </a:r>
            <a:endParaRPr lang="en-US" sz="1600" dirty="0">
              <a:latin typeface="Time's New Roman"/>
            </a:endParaRPr>
          </a:p>
        </p:txBody>
      </p:sp>
      <p:sp>
        <p:nvSpPr>
          <p:cNvPr id="22" name="TextBox 21">
            <a:extLst>
              <a:ext uri="{FF2B5EF4-FFF2-40B4-BE49-F238E27FC236}">
                <a16:creationId xmlns:a16="http://schemas.microsoft.com/office/drawing/2014/main" id="{6301D954-6C11-D490-2079-4AF92BF5BB97}"/>
              </a:ext>
            </a:extLst>
          </p:cNvPr>
          <p:cNvSpPr txBox="1"/>
          <p:nvPr/>
        </p:nvSpPr>
        <p:spPr>
          <a:xfrm>
            <a:off x="4571999" y="1233563"/>
            <a:ext cx="4934309" cy="2862322"/>
          </a:xfrm>
          <a:prstGeom prst="rect">
            <a:avLst/>
          </a:prstGeom>
          <a:noFill/>
        </p:spPr>
        <p:txBody>
          <a:bodyPr wrap="square" rtlCol="0">
            <a:spAutoFit/>
          </a:bodyPr>
          <a:lstStyle/>
          <a:p>
            <a:r>
              <a:rPr lang="vi-VN" dirty="0">
                <a:latin typeface="+mj-lt"/>
              </a:rPr>
              <a:t>Site Hà Nội</a:t>
            </a:r>
            <a:br>
              <a:rPr lang="vi-VN" dirty="0">
                <a:latin typeface="+mj-lt"/>
              </a:rPr>
            </a:br>
            <a:r>
              <a:rPr lang="vi-VN" dirty="0">
                <a:latin typeface="+mj-lt"/>
              </a:rPr>
              <a:t>→ Nơi lưu dữ liệu khách hàng và vé ở Hà Nội</a:t>
            </a:r>
          </a:p>
          <a:p>
            <a:endParaRPr lang="vi-VN" dirty="0">
              <a:latin typeface="+mj-lt"/>
            </a:endParaRPr>
          </a:p>
          <a:p>
            <a:r>
              <a:rPr lang="vi-VN" dirty="0">
                <a:latin typeface="+mj-lt"/>
              </a:rPr>
              <a:t>Kết nối mạng</a:t>
            </a:r>
            <a:br>
              <a:rPr lang="vi-VN" dirty="0">
                <a:latin typeface="+mj-lt"/>
              </a:rPr>
            </a:br>
            <a:r>
              <a:rPr lang="vi-VN" dirty="0">
                <a:latin typeface="+mj-lt"/>
              </a:rPr>
              <a:t>→ Hai nơi trao đổi dữ liệu với nhau qua Internet/network</a:t>
            </a:r>
          </a:p>
          <a:p>
            <a:endParaRPr lang="vi-VN" dirty="0">
              <a:latin typeface="+mj-lt"/>
            </a:endParaRPr>
          </a:p>
          <a:p>
            <a:r>
              <a:rPr lang="vi-VN" dirty="0">
                <a:latin typeface="+mj-lt"/>
              </a:rPr>
              <a:t>Site TP.HCM</a:t>
            </a:r>
            <a:br>
              <a:rPr lang="vi-VN" dirty="0">
                <a:latin typeface="+mj-lt"/>
              </a:rPr>
            </a:br>
            <a:r>
              <a:rPr lang="vi-VN" dirty="0">
                <a:latin typeface="+mj-lt"/>
              </a:rPr>
              <a:t>→ Nơi lưu dữ liệu khách hàng và vé ở TP.HCM</a:t>
            </a:r>
          </a:p>
          <a:p>
            <a:endParaRPr lang="en-US" dirty="0">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79053" y="219373"/>
            <a:ext cx="4552429" cy="224210"/>
          </a:xfrm>
          <a:prstGeom prst="rect">
            <a:avLst/>
          </a:prstGeom>
          <a:noFill/>
          <a:ln/>
        </p:spPr>
        <p:txBody>
          <a:bodyPr wrap="none" lIns="0" tIns="0" rIns="0" bIns="0" rtlCol="0" anchor="t"/>
          <a:lstStyle/>
          <a:p>
            <a:pPr marL="0" indent="0" algn="l">
              <a:lnSpc>
                <a:spcPct val="104000"/>
              </a:lnSpc>
              <a:buNone/>
            </a:pPr>
            <a:r>
              <a:rPr lang="en-US" sz="2000" b="1" dirty="0">
                <a:latin typeface="Time's New Roman"/>
                <a:ea typeface="Playfair Display SemiBold" pitchFamily="34" charset="-122"/>
                <a:cs typeface="Playfair Display SemiBold" pitchFamily="34" charset="-120"/>
              </a:rPr>
              <a:t>4. Điều Khiển Tương Tranh (Concurrency Control)</a:t>
            </a:r>
            <a:endParaRPr lang="en-US" sz="2000" b="1" dirty="0">
              <a:latin typeface="Time's New Roman"/>
            </a:endParaRPr>
          </a:p>
        </p:txBody>
      </p:sp>
      <p:sp>
        <p:nvSpPr>
          <p:cNvPr id="3" name="Text 1"/>
          <p:cNvSpPr/>
          <p:nvPr/>
        </p:nvSpPr>
        <p:spPr>
          <a:xfrm>
            <a:off x="279054" y="516210"/>
            <a:ext cx="14790617" cy="873319"/>
          </a:xfrm>
          <a:prstGeom prst="rect">
            <a:avLst/>
          </a:prstGeom>
          <a:noFill/>
          <a:ln/>
        </p:spPr>
        <p:txBody>
          <a:bodyPr wrap="none" lIns="0" tIns="0" rIns="0" bIns="0" rtlCol="0" anchor="t"/>
          <a:lstStyle/>
          <a:p>
            <a:pPr marL="0" indent="0" algn="l">
              <a:lnSpc>
                <a:spcPct val="100000"/>
              </a:lnSpc>
              <a:buNone/>
            </a:pPr>
            <a:r>
              <a:rPr lang="en-US" sz="1700" dirty="0">
                <a:latin typeface="Time's New Roman"/>
                <a:ea typeface="Public Sans" pitchFamily="34" charset="-122"/>
                <a:cs typeface="Public Sans" pitchFamily="34" charset="-120"/>
              </a:rPr>
              <a:t>Điều khiển tương tranh là cơ chế quản lý nhiều transaction chạy đồng thời nhưng vẫn đảm bảo </a:t>
            </a:r>
            <a:r>
              <a:rPr lang="en-US" sz="1700" dirty="0" err="1">
                <a:latin typeface="Time's New Roman"/>
                <a:ea typeface="Public Sans" pitchFamily="34" charset="-122"/>
                <a:cs typeface="Public Sans" pitchFamily="34" charset="-120"/>
              </a:rPr>
              <a:t>dữ</a:t>
            </a:r>
            <a:r>
              <a:rPr lang="en-US" sz="1700" dirty="0">
                <a:latin typeface="Time's New Roman"/>
                <a:ea typeface="Public Sans" pitchFamily="34" charset="-122"/>
                <a:cs typeface="Public Sans" pitchFamily="34" charset="-120"/>
              </a:rPr>
              <a:t> </a:t>
            </a:r>
            <a:endParaRPr lang="vi-VN" sz="1700" dirty="0">
              <a:latin typeface="Time's New Roman"/>
              <a:ea typeface="Public Sans" pitchFamily="34" charset="-122"/>
              <a:cs typeface="Public Sans" pitchFamily="34" charset="-120"/>
            </a:endParaRPr>
          </a:p>
          <a:p>
            <a:pPr marL="0" indent="0" algn="l">
              <a:lnSpc>
                <a:spcPct val="100000"/>
              </a:lnSpc>
              <a:buNone/>
            </a:pPr>
            <a:r>
              <a:rPr lang="en-US" sz="1700" dirty="0" err="1">
                <a:latin typeface="Time's New Roman"/>
                <a:ea typeface="Public Sans" pitchFamily="34" charset="-122"/>
                <a:cs typeface="Public Sans" pitchFamily="34" charset="-120"/>
              </a:rPr>
              <a:t>liệu</a:t>
            </a:r>
            <a:r>
              <a:rPr lang="en-US" sz="1700" dirty="0">
                <a:latin typeface="Time's New Roman"/>
                <a:ea typeface="Public Sans" pitchFamily="34" charset="-122"/>
                <a:cs typeface="Public Sans" pitchFamily="34" charset="-120"/>
              </a:rPr>
              <a:t> chính xác. Trong hệ thống bán vé, hàng nghìn người đặt vé cùng lúc — nếu không kiểm soát </a:t>
            </a:r>
            <a:r>
              <a:rPr lang="en-US" sz="1700" dirty="0" err="1">
                <a:latin typeface="Time's New Roman"/>
                <a:ea typeface="Public Sans" pitchFamily="34" charset="-122"/>
                <a:cs typeface="Public Sans" pitchFamily="34" charset="-120"/>
              </a:rPr>
              <a:t>sẽ</a:t>
            </a:r>
            <a:r>
              <a:rPr lang="en-US" sz="1700" dirty="0">
                <a:latin typeface="Time's New Roman"/>
                <a:ea typeface="Public Sans" pitchFamily="34" charset="-122"/>
                <a:cs typeface="Public Sans" pitchFamily="34" charset="-120"/>
              </a:rPr>
              <a:t> </a:t>
            </a:r>
            <a:endParaRPr lang="vi-VN" sz="1700" dirty="0">
              <a:latin typeface="Time's New Roman"/>
              <a:ea typeface="Public Sans" pitchFamily="34" charset="-122"/>
              <a:cs typeface="Public Sans" pitchFamily="34" charset="-120"/>
            </a:endParaRPr>
          </a:p>
          <a:p>
            <a:pPr marL="0" indent="0" algn="l">
              <a:lnSpc>
                <a:spcPct val="100000"/>
              </a:lnSpc>
              <a:buNone/>
            </a:pPr>
            <a:r>
              <a:rPr lang="en-US" sz="1700" dirty="0" err="1">
                <a:latin typeface="Time's New Roman"/>
                <a:ea typeface="Public Sans" pitchFamily="34" charset="-122"/>
                <a:cs typeface="Public Sans" pitchFamily="34" charset="-120"/>
              </a:rPr>
              <a:t>dẫn</a:t>
            </a:r>
            <a:r>
              <a:rPr lang="en-US" sz="1700" dirty="0">
                <a:latin typeface="Time's New Roman"/>
                <a:ea typeface="Public Sans" pitchFamily="34" charset="-122"/>
                <a:cs typeface="Public Sans" pitchFamily="34" charset="-120"/>
              </a:rPr>
              <a:t> đến bán trùng ghế, sai số ghế, mất dữ liệu.</a:t>
            </a:r>
            <a:endParaRPr lang="en-US" sz="1700" dirty="0">
              <a:latin typeface="Time's New Roman"/>
            </a:endParaRPr>
          </a:p>
        </p:txBody>
      </p:sp>
      <p:sp>
        <p:nvSpPr>
          <p:cNvPr id="6" name="Text 2"/>
          <p:cNvSpPr/>
          <p:nvPr/>
        </p:nvSpPr>
        <p:spPr>
          <a:xfrm>
            <a:off x="355550" y="3666564"/>
            <a:ext cx="3813039" cy="496949"/>
          </a:xfrm>
          <a:prstGeom prst="rect">
            <a:avLst/>
          </a:prstGeom>
          <a:noFill/>
          <a:ln/>
        </p:spPr>
        <p:txBody>
          <a:bodyPr wrap="none" lIns="0" tIns="0" rIns="0" bIns="0" rtlCol="0" anchor="t"/>
          <a:lstStyle/>
          <a:p>
            <a:pPr marL="0" indent="0" algn="l">
              <a:lnSpc>
                <a:spcPct val="104000"/>
              </a:lnSpc>
              <a:buNone/>
            </a:pPr>
            <a:r>
              <a:rPr lang="en-US" sz="1700" b="1" dirty="0">
                <a:latin typeface="Time's New Roman"/>
                <a:ea typeface="Playfair Display SemiBold" pitchFamily="34" charset="-122"/>
                <a:cs typeface="Playfair Display SemiBold" pitchFamily="34" charset="-120"/>
              </a:rPr>
              <a:t>Cơ Chế Khóa (Lock)</a:t>
            </a:r>
            <a:endParaRPr lang="en-US" sz="1700" b="1" dirty="0">
              <a:latin typeface="Time's New Roman"/>
            </a:endParaRPr>
          </a:p>
        </p:txBody>
      </p:sp>
      <p:sp>
        <p:nvSpPr>
          <p:cNvPr id="7" name="Text 3"/>
          <p:cNvSpPr/>
          <p:nvPr/>
        </p:nvSpPr>
        <p:spPr>
          <a:xfrm>
            <a:off x="355549" y="3917576"/>
            <a:ext cx="8788452" cy="224210"/>
          </a:xfrm>
          <a:prstGeom prst="rect">
            <a:avLst/>
          </a:prstGeom>
          <a:noFill/>
          <a:ln/>
        </p:spPr>
        <p:txBody>
          <a:bodyPr wrap="none" lIns="0" tIns="0" rIns="0" bIns="0" rtlCol="0" anchor="t"/>
          <a:lstStyle/>
          <a:p>
            <a:pPr marL="0" indent="0" algn="l">
              <a:lnSpc>
                <a:spcPct val="100000"/>
              </a:lnSpc>
              <a:buNone/>
            </a:pPr>
            <a:r>
              <a:rPr lang="en-US" sz="1700" dirty="0">
                <a:latin typeface="Time's New Roman"/>
                <a:ea typeface="Public Sans" pitchFamily="34" charset="-122"/>
                <a:cs typeface="Public Sans" pitchFamily="34" charset="-120"/>
              </a:rPr>
              <a:t>Khi </a:t>
            </a:r>
            <a:r>
              <a:rPr lang="en-US" sz="1700" dirty="0">
                <a:highlight>
                  <a:srgbClr val="F2EDE9"/>
                </a:highlight>
                <a:latin typeface="Time's New Roman"/>
                <a:ea typeface="Consolas" pitchFamily="34" charset="-122"/>
                <a:cs typeface="Consolas" pitchFamily="34" charset="-120"/>
              </a:rPr>
              <a:t>UPDATE ChuyenBay</a:t>
            </a:r>
            <a:r>
              <a:rPr lang="en-US" sz="1700" dirty="0">
                <a:latin typeface="Time's New Roman"/>
                <a:ea typeface="Public Sans" pitchFamily="34" charset="-122"/>
                <a:cs typeface="Public Sans" pitchFamily="34" charset="-120"/>
              </a:rPr>
              <a:t>, SQL Server đặt Exclusive Lock — transaction khác không thể update cùng lúc.</a:t>
            </a:r>
            <a:endParaRPr lang="en-US" sz="1700" dirty="0">
              <a:latin typeface="Time's New Roman"/>
            </a:endParaRPr>
          </a:p>
        </p:txBody>
      </p:sp>
      <p:sp>
        <p:nvSpPr>
          <p:cNvPr id="11" name="Shape 7"/>
          <p:cNvSpPr/>
          <p:nvPr/>
        </p:nvSpPr>
        <p:spPr>
          <a:xfrm>
            <a:off x="277639" y="4233147"/>
            <a:ext cx="4382413" cy="854629"/>
          </a:xfrm>
          <a:prstGeom prst="roundRect">
            <a:avLst>
              <a:gd name="adj" fmla="val 8076"/>
            </a:avLst>
          </a:prstGeom>
          <a:solidFill>
            <a:srgbClr val="CCC4EC">
              <a:alpha val="50000"/>
            </a:srgbClr>
          </a:solidFill>
          <a:ln w="4763">
            <a:solidFill>
              <a:srgbClr val="B2AAD2"/>
            </a:solidFill>
            <a:prstDash val="solid"/>
          </a:ln>
          <a:effectLst>
            <a:outerShdw dist="8890" dir="2700000" algn="bl" rotWithShape="0">
              <a:srgbClr val="B2AAD2">
                <a:alpha val="100000"/>
              </a:srgbClr>
            </a:outerShdw>
          </a:effectLst>
        </p:spPr>
      </p:sp>
      <p:graphicFrame>
        <p:nvGraphicFramePr>
          <p:cNvPr id="17" name="Table 16">
            <a:extLst>
              <a:ext uri="{FF2B5EF4-FFF2-40B4-BE49-F238E27FC236}">
                <a16:creationId xmlns:a16="http://schemas.microsoft.com/office/drawing/2014/main" id="{E42FF32C-6AFF-E22C-54C3-544B123E6AAC}"/>
              </a:ext>
            </a:extLst>
          </p:cNvPr>
          <p:cNvGraphicFramePr>
            <a:graphicFrameLocks noGrp="1"/>
          </p:cNvGraphicFramePr>
          <p:nvPr>
            <p:extLst>
              <p:ext uri="{D42A27DB-BD31-4B8C-83A1-F6EECF244321}">
                <p14:modId xmlns:p14="http://schemas.microsoft.com/office/powerpoint/2010/main" val="311988701"/>
              </p:ext>
            </p:extLst>
          </p:nvPr>
        </p:nvGraphicFramePr>
        <p:xfrm>
          <a:off x="355549" y="1747235"/>
          <a:ext cx="6233510" cy="1761265"/>
        </p:xfrm>
        <a:graphic>
          <a:graphicData uri="http://schemas.openxmlformats.org/drawingml/2006/table">
            <a:tbl>
              <a:tblPr/>
              <a:tblGrid>
                <a:gridCol w="3116755">
                  <a:extLst>
                    <a:ext uri="{9D8B030D-6E8A-4147-A177-3AD203B41FA5}">
                      <a16:colId xmlns:a16="http://schemas.microsoft.com/office/drawing/2014/main" val="874223469"/>
                    </a:ext>
                  </a:extLst>
                </a:gridCol>
                <a:gridCol w="3116755">
                  <a:extLst>
                    <a:ext uri="{9D8B030D-6E8A-4147-A177-3AD203B41FA5}">
                      <a16:colId xmlns:a16="http://schemas.microsoft.com/office/drawing/2014/main" val="2804262415"/>
                    </a:ext>
                  </a:extLst>
                </a:gridCol>
              </a:tblGrid>
              <a:tr h="352253">
                <a:tc>
                  <a:txBody>
                    <a:bodyPr/>
                    <a:lstStyle/>
                    <a:p>
                      <a:pPr algn="ctr">
                        <a:buNone/>
                      </a:pPr>
                      <a:r>
                        <a:rPr lang="en-US" sz="1700" b="0" dirty="0" err="1">
                          <a:latin typeface="Time's New Roman"/>
                        </a:rPr>
                        <a:t>Vấn</a:t>
                      </a:r>
                      <a:r>
                        <a:rPr lang="en-US" sz="1700" b="0" dirty="0">
                          <a:latin typeface="Time's New Roman"/>
                        </a:rPr>
                        <a:t> </a:t>
                      </a:r>
                      <a:r>
                        <a:rPr lang="en-US" sz="1700" b="0" dirty="0" err="1">
                          <a:latin typeface="Time's New Roman"/>
                        </a:rPr>
                        <a:t>đề</a:t>
                      </a:r>
                      <a:endParaRPr lang="en-US" sz="1700" b="0" dirty="0">
                        <a:latin typeface="Time's New Roman"/>
                      </a:endParaRPr>
                    </a:p>
                  </a:txBody>
                  <a:tcPr anchor="ctr">
                    <a:lnL>
                      <a:noFill/>
                    </a:lnL>
                    <a:lnR>
                      <a:noFill/>
                    </a:lnR>
                    <a:lnT>
                      <a:noFill/>
                    </a:lnT>
                    <a:lnB>
                      <a:noFill/>
                    </a:lnB>
                    <a:noFill/>
                  </a:tcPr>
                </a:tc>
                <a:tc>
                  <a:txBody>
                    <a:bodyPr/>
                    <a:lstStyle/>
                    <a:p>
                      <a:pPr algn="ctr">
                        <a:buNone/>
                      </a:pPr>
                      <a:r>
                        <a:rPr lang="en-US" sz="1700" b="0" dirty="0">
                          <a:latin typeface="Time's New Roman"/>
                        </a:rPr>
                        <a:t>Ý </a:t>
                      </a:r>
                      <a:r>
                        <a:rPr lang="en-US" sz="1700" b="0" dirty="0" err="1">
                          <a:latin typeface="Time's New Roman"/>
                        </a:rPr>
                        <a:t>nghĩa</a:t>
                      </a:r>
                      <a:endParaRPr lang="en-US" sz="1700" b="0" dirty="0">
                        <a:latin typeface="Time's New Roman"/>
                      </a:endParaRPr>
                    </a:p>
                  </a:txBody>
                  <a:tcPr anchor="ctr">
                    <a:lnL>
                      <a:noFill/>
                    </a:lnL>
                    <a:lnR>
                      <a:noFill/>
                    </a:lnR>
                    <a:lnT>
                      <a:noFill/>
                    </a:lnT>
                    <a:lnB>
                      <a:noFill/>
                    </a:lnB>
                    <a:noFill/>
                  </a:tcPr>
                </a:tc>
                <a:extLst>
                  <a:ext uri="{0D108BD9-81ED-4DB2-BD59-A6C34878D82A}">
                    <a16:rowId xmlns:a16="http://schemas.microsoft.com/office/drawing/2014/main" val="151500571"/>
                  </a:ext>
                </a:extLst>
              </a:tr>
              <a:tr h="352253">
                <a:tc>
                  <a:txBody>
                    <a:bodyPr/>
                    <a:lstStyle/>
                    <a:p>
                      <a:pPr algn="l">
                        <a:buNone/>
                      </a:pPr>
                      <a:r>
                        <a:rPr lang="en-US" sz="1700" b="0">
                          <a:latin typeface="Time's New Roman"/>
                        </a:rPr>
                        <a:t>Lost Update</a:t>
                      </a:r>
                    </a:p>
                  </a:txBody>
                  <a:tcPr anchor="ctr">
                    <a:lnL>
                      <a:noFill/>
                    </a:lnL>
                    <a:lnR>
                      <a:noFill/>
                    </a:lnR>
                    <a:lnT>
                      <a:noFill/>
                    </a:lnT>
                    <a:lnB>
                      <a:noFill/>
                    </a:lnB>
                    <a:noFill/>
                  </a:tcPr>
                </a:tc>
                <a:tc>
                  <a:txBody>
                    <a:bodyPr/>
                    <a:lstStyle/>
                    <a:p>
                      <a:pPr algn="l">
                        <a:buNone/>
                      </a:pPr>
                      <a:r>
                        <a:rPr lang="en-US" sz="1700" b="0">
                          <a:latin typeface="Time's New Roman"/>
                        </a:rPr>
                        <a:t>Ghi đè dữ liệu</a:t>
                      </a:r>
                    </a:p>
                  </a:txBody>
                  <a:tcPr anchor="ctr">
                    <a:lnL>
                      <a:noFill/>
                    </a:lnL>
                    <a:lnR>
                      <a:noFill/>
                    </a:lnR>
                    <a:lnT>
                      <a:noFill/>
                    </a:lnT>
                    <a:lnB>
                      <a:noFill/>
                    </a:lnB>
                    <a:noFill/>
                  </a:tcPr>
                </a:tc>
                <a:extLst>
                  <a:ext uri="{0D108BD9-81ED-4DB2-BD59-A6C34878D82A}">
                    <a16:rowId xmlns:a16="http://schemas.microsoft.com/office/drawing/2014/main" val="4022633091"/>
                  </a:ext>
                </a:extLst>
              </a:tr>
              <a:tr h="352253">
                <a:tc>
                  <a:txBody>
                    <a:bodyPr/>
                    <a:lstStyle/>
                    <a:p>
                      <a:pPr algn="l">
                        <a:buNone/>
                      </a:pPr>
                      <a:r>
                        <a:rPr lang="en-US" sz="1700" b="0" dirty="0">
                          <a:latin typeface="Time's New Roman"/>
                        </a:rPr>
                        <a:t>Dirty Read</a:t>
                      </a:r>
                    </a:p>
                  </a:txBody>
                  <a:tcPr anchor="ctr">
                    <a:lnL>
                      <a:noFill/>
                    </a:lnL>
                    <a:lnR>
                      <a:noFill/>
                    </a:lnR>
                    <a:lnT>
                      <a:noFill/>
                    </a:lnT>
                    <a:lnB>
                      <a:noFill/>
                    </a:lnB>
                    <a:noFill/>
                  </a:tcPr>
                </a:tc>
                <a:tc>
                  <a:txBody>
                    <a:bodyPr/>
                    <a:lstStyle/>
                    <a:p>
                      <a:pPr algn="l">
                        <a:buNone/>
                      </a:pPr>
                      <a:r>
                        <a:rPr lang="vi-VN" sz="1700" b="0" dirty="0">
                          <a:latin typeface="Time's New Roman"/>
                        </a:rPr>
                        <a:t>Đọc dữ liệu chưa commit</a:t>
                      </a:r>
                    </a:p>
                  </a:txBody>
                  <a:tcPr anchor="ctr">
                    <a:lnL>
                      <a:noFill/>
                    </a:lnL>
                    <a:lnR>
                      <a:noFill/>
                    </a:lnR>
                    <a:lnT>
                      <a:noFill/>
                    </a:lnT>
                    <a:lnB>
                      <a:noFill/>
                    </a:lnB>
                    <a:noFill/>
                  </a:tcPr>
                </a:tc>
                <a:extLst>
                  <a:ext uri="{0D108BD9-81ED-4DB2-BD59-A6C34878D82A}">
                    <a16:rowId xmlns:a16="http://schemas.microsoft.com/office/drawing/2014/main" val="2103242581"/>
                  </a:ext>
                </a:extLst>
              </a:tr>
              <a:tr h="352253">
                <a:tc>
                  <a:txBody>
                    <a:bodyPr/>
                    <a:lstStyle/>
                    <a:p>
                      <a:pPr algn="l">
                        <a:buNone/>
                      </a:pPr>
                      <a:r>
                        <a:rPr lang="en-US" sz="1700" b="0">
                          <a:latin typeface="Time's New Roman"/>
                        </a:rPr>
                        <a:t>Unrepeatable Read</a:t>
                      </a:r>
                    </a:p>
                  </a:txBody>
                  <a:tcPr anchor="ctr">
                    <a:lnL>
                      <a:noFill/>
                    </a:lnL>
                    <a:lnR>
                      <a:noFill/>
                    </a:lnR>
                    <a:lnT>
                      <a:noFill/>
                    </a:lnT>
                    <a:lnB>
                      <a:noFill/>
                    </a:lnB>
                    <a:noFill/>
                  </a:tcPr>
                </a:tc>
                <a:tc>
                  <a:txBody>
                    <a:bodyPr/>
                    <a:lstStyle/>
                    <a:p>
                      <a:pPr algn="l">
                        <a:buNone/>
                      </a:pPr>
                      <a:r>
                        <a:rPr lang="en-US" sz="1700" b="0" dirty="0" err="1">
                          <a:latin typeface="Time's New Roman"/>
                        </a:rPr>
                        <a:t>Đọc</a:t>
                      </a:r>
                      <a:r>
                        <a:rPr lang="en-US" sz="1700" b="0" dirty="0">
                          <a:latin typeface="Time's New Roman"/>
                        </a:rPr>
                        <a:t> </a:t>
                      </a:r>
                      <a:r>
                        <a:rPr lang="en-US" sz="1700" b="0" dirty="0" err="1">
                          <a:latin typeface="Time's New Roman"/>
                        </a:rPr>
                        <a:t>cùng</a:t>
                      </a:r>
                      <a:r>
                        <a:rPr lang="en-US" sz="1700" b="0" dirty="0">
                          <a:latin typeface="Time's New Roman"/>
                        </a:rPr>
                        <a:t> </a:t>
                      </a:r>
                      <a:r>
                        <a:rPr lang="en-US" sz="1700" b="0" dirty="0" err="1">
                          <a:latin typeface="Time's New Roman"/>
                        </a:rPr>
                        <a:t>dữ</a:t>
                      </a:r>
                      <a:r>
                        <a:rPr lang="en-US" sz="1700" b="0" dirty="0">
                          <a:latin typeface="Time's New Roman"/>
                        </a:rPr>
                        <a:t> </a:t>
                      </a:r>
                      <a:r>
                        <a:rPr lang="en-US" sz="1700" b="0" dirty="0" err="1">
                          <a:latin typeface="Time's New Roman"/>
                        </a:rPr>
                        <a:t>liệu</a:t>
                      </a:r>
                      <a:r>
                        <a:rPr lang="en-US" sz="1700" b="0" dirty="0">
                          <a:latin typeface="Time's New Roman"/>
                        </a:rPr>
                        <a:t> </a:t>
                      </a:r>
                      <a:r>
                        <a:rPr lang="en-US" sz="1700" b="0" dirty="0" err="1">
                          <a:latin typeface="Time's New Roman"/>
                        </a:rPr>
                        <a:t>ra</a:t>
                      </a:r>
                      <a:r>
                        <a:rPr lang="en-US" sz="1700" b="0" dirty="0">
                          <a:latin typeface="Time's New Roman"/>
                        </a:rPr>
                        <a:t> </a:t>
                      </a:r>
                      <a:r>
                        <a:rPr lang="en-US" sz="1700" b="0" dirty="0" err="1">
                          <a:latin typeface="Time's New Roman"/>
                        </a:rPr>
                        <a:t>kết</a:t>
                      </a:r>
                      <a:r>
                        <a:rPr lang="en-US" sz="1700" b="0" dirty="0">
                          <a:latin typeface="Time's New Roman"/>
                        </a:rPr>
                        <a:t> </a:t>
                      </a:r>
                      <a:r>
                        <a:rPr lang="en-US" sz="1700" b="0" dirty="0" err="1">
                          <a:latin typeface="Time's New Roman"/>
                        </a:rPr>
                        <a:t>quả</a:t>
                      </a:r>
                      <a:r>
                        <a:rPr lang="en-US" sz="1700" b="0" dirty="0">
                          <a:latin typeface="Time's New Roman"/>
                        </a:rPr>
                        <a:t> </a:t>
                      </a:r>
                      <a:r>
                        <a:rPr lang="en-US" sz="1700" b="0" dirty="0" err="1">
                          <a:latin typeface="Time's New Roman"/>
                        </a:rPr>
                        <a:t>khác</a:t>
                      </a:r>
                      <a:endParaRPr lang="en-US" sz="1700" b="0" dirty="0">
                        <a:latin typeface="Time's New Roman"/>
                      </a:endParaRPr>
                    </a:p>
                  </a:txBody>
                  <a:tcPr anchor="ctr">
                    <a:lnL>
                      <a:noFill/>
                    </a:lnL>
                    <a:lnR>
                      <a:noFill/>
                    </a:lnR>
                    <a:lnT>
                      <a:noFill/>
                    </a:lnT>
                    <a:lnB>
                      <a:noFill/>
                    </a:lnB>
                    <a:noFill/>
                  </a:tcPr>
                </a:tc>
                <a:extLst>
                  <a:ext uri="{0D108BD9-81ED-4DB2-BD59-A6C34878D82A}">
                    <a16:rowId xmlns:a16="http://schemas.microsoft.com/office/drawing/2014/main" val="2550503263"/>
                  </a:ext>
                </a:extLst>
              </a:tr>
              <a:tr h="352253">
                <a:tc>
                  <a:txBody>
                    <a:bodyPr/>
                    <a:lstStyle/>
                    <a:p>
                      <a:pPr algn="l">
                        <a:buNone/>
                      </a:pPr>
                      <a:r>
                        <a:rPr lang="en-US" sz="1700" b="0" dirty="0">
                          <a:latin typeface="Time's New Roman"/>
                        </a:rPr>
                        <a:t>Phantom Read</a:t>
                      </a:r>
                    </a:p>
                  </a:txBody>
                  <a:tcPr anchor="ctr">
                    <a:lnL>
                      <a:noFill/>
                    </a:lnL>
                    <a:lnR>
                      <a:noFill/>
                    </a:lnR>
                    <a:lnT>
                      <a:noFill/>
                    </a:lnT>
                    <a:lnB>
                      <a:noFill/>
                    </a:lnB>
                    <a:noFill/>
                  </a:tcPr>
                </a:tc>
                <a:tc>
                  <a:txBody>
                    <a:bodyPr/>
                    <a:lstStyle/>
                    <a:p>
                      <a:pPr algn="l">
                        <a:buNone/>
                      </a:pPr>
                      <a:r>
                        <a:rPr lang="en-US" sz="1700" b="0" dirty="0" err="1">
                          <a:latin typeface="Time's New Roman"/>
                        </a:rPr>
                        <a:t>Xuất</a:t>
                      </a:r>
                      <a:r>
                        <a:rPr lang="en-US" sz="1700" b="0" dirty="0">
                          <a:latin typeface="Time's New Roman"/>
                        </a:rPr>
                        <a:t> </a:t>
                      </a:r>
                      <a:r>
                        <a:rPr lang="en-US" sz="1700" b="0" dirty="0" err="1">
                          <a:latin typeface="Time's New Roman"/>
                        </a:rPr>
                        <a:t>hiện</a:t>
                      </a:r>
                      <a:r>
                        <a:rPr lang="en-US" sz="1700" b="0" dirty="0">
                          <a:latin typeface="Time's New Roman"/>
                        </a:rPr>
                        <a:t> </a:t>
                      </a:r>
                      <a:r>
                        <a:rPr lang="en-US" sz="1700" b="0" dirty="0" err="1">
                          <a:latin typeface="Time's New Roman"/>
                        </a:rPr>
                        <a:t>dữ</a:t>
                      </a:r>
                      <a:r>
                        <a:rPr lang="en-US" sz="1700" b="0" dirty="0">
                          <a:latin typeface="Time's New Roman"/>
                        </a:rPr>
                        <a:t> </a:t>
                      </a:r>
                      <a:r>
                        <a:rPr lang="en-US" sz="1700" b="0" dirty="0" err="1">
                          <a:latin typeface="Time's New Roman"/>
                        </a:rPr>
                        <a:t>liệu</a:t>
                      </a:r>
                      <a:r>
                        <a:rPr lang="en-US" sz="1700" b="0" dirty="0">
                          <a:latin typeface="Time's New Roman"/>
                        </a:rPr>
                        <a:t> “</a:t>
                      </a:r>
                      <a:r>
                        <a:rPr lang="en-US" sz="1700" b="0" dirty="0" err="1">
                          <a:latin typeface="Time's New Roman"/>
                        </a:rPr>
                        <a:t>ảo</a:t>
                      </a:r>
                      <a:r>
                        <a:rPr lang="en-US" sz="1700" b="0" dirty="0">
                          <a:latin typeface="Time's New Roman"/>
                        </a:rPr>
                        <a:t>”</a:t>
                      </a:r>
                    </a:p>
                  </a:txBody>
                  <a:tcPr anchor="ctr">
                    <a:lnL>
                      <a:noFill/>
                    </a:lnL>
                    <a:lnR>
                      <a:noFill/>
                    </a:lnR>
                    <a:lnT>
                      <a:noFill/>
                    </a:lnT>
                    <a:lnB>
                      <a:noFill/>
                    </a:lnB>
                    <a:noFill/>
                  </a:tcPr>
                </a:tc>
                <a:extLst>
                  <a:ext uri="{0D108BD9-81ED-4DB2-BD59-A6C34878D82A}">
                    <a16:rowId xmlns:a16="http://schemas.microsoft.com/office/drawing/2014/main" val="1860011019"/>
                  </a:ext>
                </a:extLst>
              </a:tr>
            </a:tbl>
          </a:graphicData>
        </a:graphic>
      </p:graphicFrame>
      <p:sp>
        <p:nvSpPr>
          <p:cNvPr id="18" name="TextBox 17">
            <a:extLst>
              <a:ext uri="{FF2B5EF4-FFF2-40B4-BE49-F238E27FC236}">
                <a16:creationId xmlns:a16="http://schemas.microsoft.com/office/drawing/2014/main" id="{FBDB4AE1-CFB8-4D15-A372-FB1DBD33F306}"/>
              </a:ext>
            </a:extLst>
          </p:cNvPr>
          <p:cNvSpPr txBox="1"/>
          <p:nvPr/>
        </p:nvSpPr>
        <p:spPr>
          <a:xfrm>
            <a:off x="355550" y="1389529"/>
            <a:ext cx="6009391" cy="369332"/>
          </a:xfrm>
          <a:prstGeom prst="rect">
            <a:avLst/>
          </a:prstGeom>
          <a:noFill/>
        </p:spPr>
        <p:txBody>
          <a:bodyPr wrap="square" rtlCol="0">
            <a:spAutoFit/>
          </a:bodyPr>
          <a:lstStyle/>
          <a:p>
            <a:r>
              <a:rPr lang="vi-VN" b="1" dirty="0">
                <a:latin typeface="+mj-lt"/>
              </a:rPr>
              <a:t>Các vấn đề khi không điều khiển tương tranh</a:t>
            </a:r>
            <a:endParaRPr lang="en-US" b="1" dirty="0">
              <a:latin typeface="+mj-lt"/>
            </a:endParaRPr>
          </a:p>
        </p:txBody>
      </p:sp>
      <p:pic>
        <p:nvPicPr>
          <p:cNvPr id="20" name="Picture 19">
            <a:extLst>
              <a:ext uri="{FF2B5EF4-FFF2-40B4-BE49-F238E27FC236}">
                <a16:creationId xmlns:a16="http://schemas.microsoft.com/office/drawing/2014/main" id="{F40D8DAF-84C1-74D2-21ED-C9102EED1D12}"/>
              </a:ext>
            </a:extLst>
          </p:cNvPr>
          <p:cNvPicPr>
            <a:picLocks noChangeAspect="1"/>
          </p:cNvPicPr>
          <p:nvPr/>
        </p:nvPicPr>
        <p:blipFill>
          <a:blip r:embed="rId3"/>
          <a:stretch>
            <a:fillRect/>
          </a:stretch>
        </p:blipFill>
        <p:spPr>
          <a:xfrm>
            <a:off x="8095129" y="4678195"/>
            <a:ext cx="1048871" cy="426316"/>
          </a:xfrm>
          <a:prstGeom prst="rect">
            <a:avLst/>
          </a:prstGeom>
        </p:spPr>
      </p:pic>
      <p:sp>
        <p:nvSpPr>
          <p:cNvPr id="21" name="Shape 14">
            <a:extLst>
              <a:ext uri="{FF2B5EF4-FFF2-40B4-BE49-F238E27FC236}">
                <a16:creationId xmlns:a16="http://schemas.microsoft.com/office/drawing/2014/main" id="{4ACCE5AD-8740-F93D-9CBA-188C388507CF}"/>
              </a:ext>
            </a:extLst>
          </p:cNvPr>
          <p:cNvSpPr/>
          <p:nvPr/>
        </p:nvSpPr>
        <p:spPr>
          <a:xfrm>
            <a:off x="4735538" y="4233147"/>
            <a:ext cx="4382413" cy="911726"/>
          </a:xfrm>
          <a:prstGeom prst="roundRect">
            <a:avLst>
              <a:gd name="adj" fmla="val 3191"/>
            </a:avLst>
          </a:prstGeom>
          <a:solidFill>
            <a:srgbClr val="E1C2C2"/>
          </a:solidFill>
          <a:ln/>
        </p:spPr>
      </p:sp>
      <p:sp>
        <p:nvSpPr>
          <p:cNvPr id="22" name="TextBox 21">
            <a:extLst>
              <a:ext uri="{FF2B5EF4-FFF2-40B4-BE49-F238E27FC236}">
                <a16:creationId xmlns:a16="http://schemas.microsoft.com/office/drawing/2014/main" id="{4ADE02B4-367B-E3CA-F425-C481C630FC3F}"/>
              </a:ext>
            </a:extLst>
          </p:cNvPr>
          <p:cNvSpPr txBox="1"/>
          <p:nvPr/>
        </p:nvSpPr>
        <p:spPr>
          <a:xfrm>
            <a:off x="202153" y="4141786"/>
            <a:ext cx="4533385" cy="1138773"/>
          </a:xfrm>
          <a:prstGeom prst="rect">
            <a:avLst/>
          </a:prstGeom>
          <a:noFill/>
        </p:spPr>
        <p:txBody>
          <a:bodyPr wrap="square" rtlCol="0">
            <a:spAutoFit/>
          </a:bodyPr>
          <a:lstStyle/>
          <a:p>
            <a:r>
              <a:rPr lang="vi-VN" sz="1700" b="1" dirty="0">
                <a:latin typeface="+mj-lt"/>
              </a:rPr>
              <a:t>Shared Lock (S)</a:t>
            </a:r>
          </a:p>
          <a:p>
            <a:r>
              <a:rPr lang="vi-VN" sz="1700" dirty="0">
                <a:latin typeface="+mj-lt"/>
              </a:rPr>
              <a:t>Cho phép nhiều transaction cùng đọc dữ liệu, nhưng không được phép ghi hoặc cập nhật dữ liệu</a:t>
            </a:r>
          </a:p>
          <a:p>
            <a:endParaRPr lang="en-US" sz="1700" dirty="0">
              <a:latin typeface="+mj-lt"/>
            </a:endParaRPr>
          </a:p>
        </p:txBody>
      </p:sp>
      <p:sp>
        <p:nvSpPr>
          <p:cNvPr id="23" name="TextBox 22">
            <a:extLst>
              <a:ext uri="{FF2B5EF4-FFF2-40B4-BE49-F238E27FC236}">
                <a16:creationId xmlns:a16="http://schemas.microsoft.com/office/drawing/2014/main" id="{2FCA43C2-56AC-0538-F06D-13791E47A59E}"/>
              </a:ext>
            </a:extLst>
          </p:cNvPr>
          <p:cNvSpPr txBox="1"/>
          <p:nvPr/>
        </p:nvSpPr>
        <p:spPr>
          <a:xfrm>
            <a:off x="4761587" y="4233148"/>
            <a:ext cx="4382413" cy="1138773"/>
          </a:xfrm>
          <a:prstGeom prst="rect">
            <a:avLst/>
          </a:prstGeom>
          <a:noFill/>
        </p:spPr>
        <p:txBody>
          <a:bodyPr wrap="square" rtlCol="0">
            <a:spAutoFit/>
          </a:bodyPr>
          <a:lstStyle/>
          <a:p>
            <a:r>
              <a:rPr lang="vi-VN" sz="1700" b="1" dirty="0">
                <a:latin typeface="+mj-lt"/>
              </a:rPr>
              <a:t>Exclusive Lock (X)</a:t>
            </a:r>
          </a:p>
          <a:p>
            <a:r>
              <a:rPr lang="vi-VN" sz="1700" dirty="0">
                <a:latin typeface="+mj-lt"/>
              </a:rPr>
              <a:t>Chỉ một transaction được phép ghi/cập nhật dữ liệu.Các transaction khác phải</a:t>
            </a:r>
          </a:p>
          <a:p>
            <a:endParaRPr lang="en-US" sz="1700" dirty="0">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37767" y="334940"/>
            <a:ext cx="4377481" cy="910603"/>
          </a:xfrm>
          <a:prstGeom prst="rect">
            <a:avLst/>
          </a:prstGeom>
          <a:noFill/>
          <a:ln/>
        </p:spPr>
        <p:txBody>
          <a:bodyPr wrap="none" lIns="0" tIns="0" rIns="0" bIns="0" rtlCol="0" anchor="t"/>
          <a:lstStyle/>
          <a:p>
            <a:pPr marL="0" indent="0" algn="l">
              <a:lnSpc>
                <a:spcPct val="104000"/>
              </a:lnSpc>
              <a:buNone/>
            </a:pPr>
            <a:r>
              <a:rPr lang="en-US" sz="2500" b="1" dirty="0">
                <a:latin typeface="Playfair Display SemiBold" pitchFamily="34" charset="0"/>
                <a:ea typeface="Playfair Display SemiBold" pitchFamily="34" charset="-122"/>
                <a:cs typeface="Playfair Display SemiBold" pitchFamily="34" charset="-120"/>
              </a:rPr>
              <a:t>Hai Pha Khóa &amp; Deadlock</a:t>
            </a:r>
            <a:endParaRPr lang="en-US" sz="2500" b="1" dirty="0"/>
          </a:p>
        </p:txBody>
      </p:sp>
      <p:sp>
        <p:nvSpPr>
          <p:cNvPr id="3" name="Text 1"/>
          <p:cNvSpPr/>
          <p:nvPr/>
        </p:nvSpPr>
        <p:spPr>
          <a:xfrm>
            <a:off x="399529" y="878830"/>
            <a:ext cx="2369493" cy="853009"/>
          </a:xfrm>
          <a:prstGeom prst="rect">
            <a:avLst/>
          </a:prstGeom>
          <a:noFill/>
          <a:ln/>
        </p:spPr>
        <p:txBody>
          <a:bodyPr wrap="none" lIns="0" tIns="0" rIns="0" bIns="0" rtlCol="0" anchor="t"/>
          <a:lstStyle/>
          <a:p>
            <a:pPr marL="0" indent="0" algn="l">
              <a:lnSpc>
                <a:spcPct val="104000"/>
              </a:lnSpc>
              <a:buNone/>
            </a:pPr>
            <a:r>
              <a:rPr lang="en-US" sz="1700" b="1" dirty="0">
                <a:latin typeface="Playfair Display SemiBold" pitchFamily="34" charset="0"/>
                <a:ea typeface="Playfair Display SemiBold" pitchFamily="34" charset="-122"/>
                <a:cs typeface="Playfair Display SemiBold" pitchFamily="34" charset="-120"/>
              </a:rPr>
              <a:t>Two Phase Locking (2PL)</a:t>
            </a:r>
            <a:endParaRPr lang="en-US" sz="1700" b="1" dirty="0"/>
          </a:p>
        </p:txBody>
      </p:sp>
      <p:sp>
        <p:nvSpPr>
          <p:cNvPr id="4" name="Shape 2"/>
          <p:cNvSpPr/>
          <p:nvPr/>
        </p:nvSpPr>
        <p:spPr>
          <a:xfrm>
            <a:off x="2449116" y="1861021"/>
            <a:ext cx="14288" cy="2009180"/>
          </a:xfrm>
          <a:prstGeom prst="roundRect">
            <a:avLst>
              <a:gd name="adj" fmla="val 375056"/>
            </a:avLst>
          </a:prstGeom>
          <a:solidFill>
            <a:srgbClr val="000000">
              <a:alpha val="8000"/>
            </a:srgbClr>
          </a:solidFill>
          <a:ln/>
        </p:spPr>
      </p:sp>
      <p:sp>
        <p:nvSpPr>
          <p:cNvPr id="5" name="Shape 3"/>
          <p:cNvSpPr/>
          <p:nvPr/>
        </p:nvSpPr>
        <p:spPr>
          <a:xfrm>
            <a:off x="1944328" y="1997348"/>
            <a:ext cx="382712" cy="14288"/>
          </a:xfrm>
          <a:prstGeom prst="roundRect">
            <a:avLst>
              <a:gd name="adj" fmla="val 375056"/>
            </a:avLst>
          </a:prstGeom>
          <a:solidFill>
            <a:srgbClr val="C7A8A8"/>
          </a:solidFill>
          <a:ln/>
        </p:spPr>
      </p:sp>
      <p:sp>
        <p:nvSpPr>
          <p:cNvPr id="6" name="Shape 4"/>
          <p:cNvSpPr/>
          <p:nvPr/>
        </p:nvSpPr>
        <p:spPr>
          <a:xfrm>
            <a:off x="2312752" y="1861021"/>
            <a:ext cx="287015" cy="287015"/>
          </a:xfrm>
          <a:prstGeom prst="roundRect">
            <a:avLst>
              <a:gd name="adj" fmla="val 18671"/>
            </a:avLst>
          </a:prstGeom>
          <a:solidFill>
            <a:srgbClr val="E1C2C2">
              <a:alpha val="50000"/>
            </a:srgbClr>
          </a:solidFill>
          <a:ln w="4763">
            <a:solidFill>
              <a:srgbClr val="C7A8A8"/>
            </a:solidFill>
            <a:prstDash val="solid"/>
          </a:ln>
          <a:effectLst>
            <a:outerShdw dist="16510" dir="2700000" algn="bl" rotWithShape="0">
              <a:srgbClr val="C7A8A8">
                <a:alpha val="100000"/>
              </a:srgbClr>
            </a:outerShdw>
          </a:effectLst>
        </p:spPr>
      </p:sp>
      <p:sp>
        <p:nvSpPr>
          <p:cNvPr id="7" name="Text 5"/>
          <p:cNvSpPr/>
          <p:nvPr/>
        </p:nvSpPr>
        <p:spPr>
          <a:xfrm>
            <a:off x="2360563" y="1884908"/>
            <a:ext cx="191319" cy="239167"/>
          </a:xfrm>
          <a:prstGeom prst="rect">
            <a:avLst/>
          </a:prstGeom>
          <a:noFill/>
          <a:ln/>
        </p:spPr>
        <p:txBody>
          <a:bodyPr wrap="none" lIns="0" tIns="0" rIns="0" bIns="0" rtlCol="0" anchor="ctr"/>
          <a:lstStyle/>
          <a:p>
            <a:pPr marL="0" indent="0" algn="ctr">
              <a:lnSpc>
                <a:spcPct val="100000"/>
              </a:lnSpc>
              <a:buNone/>
            </a:pPr>
            <a:r>
              <a:rPr lang="en-US" sz="1500" dirty="0">
                <a:solidFill>
                  <a:srgbClr val="000000"/>
                </a:solidFill>
                <a:latin typeface="Playfair Display SemiBold" pitchFamily="34" charset="0"/>
                <a:ea typeface="Playfair Display SemiBold" pitchFamily="34" charset="-122"/>
                <a:cs typeface="Playfair Display SemiBold" pitchFamily="34" charset="-120"/>
              </a:rPr>
              <a:t>1</a:t>
            </a:r>
            <a:endParaRPr lang="en-US" sz="1500" dirty="0"/>
          </a:p>
        </p:txBody>
      </p:sp>
      <p:sp>
        <p:nvSpPr>
          <p:cNvPr id="8" name="Text 6"/>
          <p:cNvSpPr/>
          <p:nvPr/>
        </p:nvSpPr>
        <p:spPr>
          <a:xfrm>
            <a:off x="366527" y="1374727"/>
            <a:ext cx="1451782" cy="729406"/>
          </a:xfrm>
          <a:prstGeom prst="rect">
            <a:avLst/>
          </a:prstGeom>
          <a:noFill/>
          <a:ln/>
        </p:spPr>
        <p:txBody>
          <a:bodyPr wrap="none" lIns="0" tIns="0" rIns="0" bIns="0" rtlCol="0" anchor="t"/>
          <a:lstStyle/>
          <a:p>
            <a:pPr marL="0" indent="0" algn="r">
              <a:lnSpc>
                <a:spcPct val="104000"/>
              </a:lnSpc>
              <a:buNone/>
            </a:pPr>
            <a:r>
              <a:rPr lang="en-US" sz="1700" b="1" dirty="0">
                <a:latin typeface="Playfair Display SemiBold" pitchFamily="34" charset="0"/>
                <a:ea typeface="Playfair Display SemiBold" pitchFamily="34" charset="-122"/>
                <a:cs typeface="Playfair Display SemiBold" pitchFamily="34" charset="-120"/>
              </a:rPr>
              <a:t>Pha Growing</a:t>
            </a:r>
            <a:endParaRPr lang="en-US" sz="1700" b="1" dirty="0"/>
          </a:p>
        </p:txBody>
      </p:sp>
      <p:sp>
        <p:nvSpPr>
          <p:cNvPr id="9" name="Text 7"/>
          <p:cNvSpPr/>
          <p:nvPr/>
        </p:nvSpPr>
        <p:spPr>
          <a:xfrm>
            <a:off x="489050" y="1627429"/>
            <a:ext cx="1417811" cy="2328052"/>
          </a:xfrm>
          <a:prstGeom prst="rect">
            <a:avLst/>
          </a:prstGeom>
          <a:noFill/>
          <a:ln/>
        </p:spPr>
        <p:txBody>
          <a:bodyPr wrap="square" lIns="0" tIns="0" rIns="0" bIns="0" rtlCol="0" anchor="t">
            <a:noAutofit/>
          </a:bodyPr>
          <a:lstStyle/>
          <a:p>
            <a:pPr marL="0" indent="0" algn="r">
              <a:lnSpc>
                <a:spcPct val="127000"/>
              </a:lnSpc>
              <a:buNone/>
            </a:pPr>
            <a:r>
              <a:rPr lang="en-US" sz="1500" dirty="0">
                <a:latin typeface="Time's New Roman"/>
                <a:ea typeface="Public Sans" pitchFamily="34" charset="-122"/>
                <a:cs typeface="Public Sans" pitchFamily="34" charset="-120"/>
              </a:rPr>
              <a:t>Xin khóa — transaction chỉ được yêu cầu thêm khóa, không được giải phóng.</a:t>
            </a:r>
            <a:endParaRPr lang="en-US" sz="1500" dirty="0">
              <a:latin typeface="Time's New Roman"/>
            </a:endParaRPr>
          </a:p>
        </p:txBody>
      </p:sp>
      <p:sp>
        <p:nvSpPr>
          <p:cNvPr id="10" name="Shape 8"/>
          <p:cNvSpPr/>
          <p:nvPr/>
        </p:nvSpPr>
        <p:spPr>
          <a:xfrm>
            <a:off x="2424242" y="3177183"/>
            <a:ext cx="382712" cy="14288"/>
          </a:xfrm>
          <a:prstGeom prst="roundRect">
            <a:avLst>
              <a:gd name="adj" fmla="val 375056"/>
            </a:avLst>
          </a:prstGeom>
          <a:solidFill>
            <a:srgbClr val="B2AAD2"/>
          </a:solidFill>
          <a:ln/>
        </p:spPr>
      </p:sp>
      <p:sp>
        <p:nvSpPr>
          <p:cNvPr id="11" name="Shape 9"/>
          <p:cNvSpPr/>
          <p:nvPr/>
        </p:nvSpPr>
        <p:spPr>
          <a:xfrm>
            <a:off x="2276828" y="3014693"/>
            <a:ext cx="287015" cy="287015"/>
          </a:xfrm>
          <a:prstGeom prst="roundRect">
            <a:avLst>
              <a:gd name="adj" fmla="val 18671"/>
            </a:avLst>
          </a:prstGeom>
          <a:solidFill>
            <a:srgbClr val="CCC4EC">
              <a:alpha val="50000"/>
            </a:srgbClr>
          </a:solidFill>
          <a:ln w="4763">
            <a:solidFill>
              <a:srgbClr val="B2AAD2"/>
            </a:solidFill>
            <a:prstDash val="solid"/>
          </a:ln>
          <a:effectLst>
            <a:outerShdw dist="16510" dir="2700000" algn="bl" rotWithShape="0">
              <a:srgbClr val="B2AAD2">
                <a:alpha val="100000"/>
              </a:srgbClr>
            </a:outerShdw>
          </a:effectLst>
        </p:spPr>
        <p:txBody>
          <a:bodyPr/>
          <a:lstStyle/>
          <a:p>
            <a:endParaRPr lang="en-US" dirty="0"/>
          </a:p>
        </p:txBody>
      </p:sp>
      <p:sp>
        <p:nvSpPr>
          <p:cNvPr id="12" name="Text 10"/>
          <p:cNvSpPr/>
          <p:nvPr/>
        </p:nvSpPr>
        <p:spPr>
          <a:xfrm>
            <a:off x="2360563" y="2624882"/>
            <a:ext cx="162743" cy="1195008"/>
          </a:xfrm>
          <a:prstGeom prst="rect">
            <a:avLst/>
          </a:prstGeom>
          <a:noFill/>
          <a:ln/>
        </p:spPr>
        <p:txBody>
          <a:bodyPr wrap="none" lIns="0" tIns="0" rIns="0" bIns="0" rtlCol="0" anchor="ctr"/>
          <a:lstStyle/>
          <a:p>
            <a:pPr marL="0" indent="0" algn="ctr">
              <a:lnSpc>
                <a:spcPct val="100000"/>
              </a:lnSpc>
              <a:buNone/>
            </a:pPr>
            <a:r>
              <a:rPr lang="en-US" sz="1500" dirty="0">
                <a:solidFill>
                  <a:srgbClr val="000000"/>
                </a:solidFill>
                <a:latin typeface="Playfair Display SemiBold" pitchFamily="34" charset="0"/>
                <a:ea typeface="Playfair Display SemiBold" pitchFamily="34" charset="-122"/>
                <a:cs typeface="Playfair Display SemiBold" pitchFamily="34" charset="-120"/>
              </a:rPr>
              <a:t>2</a:t>
            </a:r>
            <a:endParaRPr lang="en-US" sz="1500" dirty="0"/>
          </a:p>
        </p:txBody>
      </p:sp>
      <p:sp>
        <p:nvSpPr>
          <p:cNvPr id="13" name="Text 11"/>
          <p:cNvSpPr/>
          <p:nvPr/>
        </p:nvSpPr>
        <p:spPr>
          <a:xfrm>
            <a:off x="2697165" y="3053798"/>
            <a:ext cx="1719236" cy="172194"/>
          </a:xfrm>
          <a:prstGeom prst="rect">
            <a:avLst/>
          </a:prstGeom>
          <a:noFill/>
          <a:ln/>
        </p:spPr>
        <p:txBody>
          <a:bodyPr wrap="none" lIns="0" tIns="0" rIns="0" bIns="0" rtlCol="0" anchor="t"/>
          <a:lstStyle/>
          <a:p>
            <a:pPr marL="0" indent="0" algn="l">
              <a:lnSpc>
                <a:spcPct val="104000"/>
              </a:lnSpc>
              <a:buNone/>
            </a:pPr>
            <a:r>
              <a:rPr lang="en-US" sz="1700" b="1" dirty="0">
                <a:latin typeface="Time's New Roman"/>
                <a:ea typeface="Playfair Display SemiBold" pitchFamily="34" charset="-122"/>
                <a:cs typeface="Playfair Display SemiBold" pitchFamily="34" charset="-120"/>
              </a:rPr>
              <a:t>Pha Shrinking</a:t>
            </a:r>
            <a:endParaRPr lang="en-US" sz="1700" b="1" dirty="0">
              <a:latin typeface="Time's New Roman"/>
            </a:endParaRPr>
          </a:p>
        </p:txBody>
      </p:sp>
      <p:sp>
        <p:nvSpPr>
          <p:cNvPr id="14" name="Text 12"/>
          <p:cNvSpPr/>
          <p:nvPr/>
        </p:nvSpPr>
        <p:spPr>
          <a:xfrm>
            <a:off x="2488279" y="3388482"/>
            <a:ext cx="2226968" cy="1432134"/>
          </a:xfrm>
          <a:prstGeom prst="rect">
            <a:avLst/>
          </a:prstGeom>
          <a:noFill/>
          <a:ln/>
        </p:spPr>
        <p:txBody>
          <a:bodyPr wrap="square" lIns="0" tIns="0" rIns="0" bIns="0" rtlCol="0" anchor="t">
            <a:noAutofit/>
          </a:bodyPr>
          <a:lstStyle/>
          <a:p>
            <a:pPr marL="0" indent="0">
              <a:lnSpc>
                <a:spcPct val="127000"/>
              </a:lnSpc>
              <a:buNone/>
            </a:pPr>
            <a:r>
              <a:rPr lang="en-US" sz="1500" dirty="0">
                <a:latin typeface="Time's New Roman"/>
                <a:ea typeface="Public Sans" pitchFamily="34" charset="-122"/>
                <a:cs typeface="Public Sans" pitchFamily="34" charset="-120"/>
              </a:rPr>
              <a:t>Giải phóng </a:t>
            </a:r>
            <a:r>
              <a:rPr lang="en-US" sz="1500" dirty="0" err="1">
                <a:latin typeface="Time's New Roman"/>
                <a:ea typeface="Public Sans" pitchFamily="34" charset="-122"/>
                <a:cs typeface="Public Sans" pitchFamily="34" charset="-120"/>
              </a:rPr>
              <a:t>khóa</a:t>
            </a:r>
            <a:r>
              <a:rPr lang="en-US" sz="1500" dirty="0">
                <a:latin typeface="Time's New Roman"/>
                <a:ea typeface="Public Sans" pitchFamily="34" charset="-122"/>
                <a:cs typeface="Public Sans" pitchFamily="34" charset="-120"/>
              </a:rPr>
              <a:t> </a:t>
            </a:r>
            <a:r>
              <a:rPr lang="vi-VN" sz="1500" dirty="0">
                <a:latin typeface="Time's New Roman"/>
                <a:ea typeface="Public Sans" pitchFamily="34" charset="-122"/>
                <a:cs typeface="Public Sans" pitchFamily="34" charset="-120"/>
              </a:rPr>
              <a:t>-</a:t>
            </a:r>
            <a:r>
              <a:rPr lang="en-US" sz="1500" dirty="0">
                <a:latin typeface="Time's New Roman"/>
                <a:ea typeface="Public Sans" pitchFamily="34" charset="-122"/>
                <a:cs typeface="Public Sans" pitchFamily="34" charset="-120"/>
              </a:rPr>
              <a:t>transaction chỉ được thả khóa, không được xin thêm.</a:t>
            </a:r>
            <a:endParaRPr lang="en-US" sz="1500" dirty="0">
              <a:latin typeface="Time's New Roman"/>
            </a:endParaRPr>
          </a:p>
        </p:txBody>
      </p:sp>
      <p:sp>
        <p:nvSpPr>
          <p:cNvPr id="15" name="Text 13"/>
          <p:cNvSpPr/>
          <p:nvPr/>
        </p:nvSpPr>
        <p:spPr>
          <a:xfrm>
            <a:off x="276046" y="4678480"/>
            <a:ext cx="4597556" cy="142137"/>
          </a:xfrm>
          <a:prstGeom prst="rect">
            <a:avLst/>
          </a:prstGeom>
          <a:noFill/>
          <a:ln/>
        </p:spPr>
        <p:txBody>
          <a:bodyPr wrap="none" lIns="0" tIns="0" rIns="0" bIns="0" rtlCol="0" anchor="t"/>
          <a:lstStyle/>
          <a:p>
            <a:pPr marL="0" indent="0" algn="l">
              <a:lnSpc>
                <a:spcPct val="127000"/>
              </a:lnSpc>
              <a:buNone/>
            </a:pPr>
            <a:r>
              <a:rPr lang="en-US" sz="1700" dirty="0">
                <a:latin typeface="Time's New Roman"/>
                <a:ea typeface="Public Sans" pitchFamily="34" charset="-122"/>
                <a:cs typeface="Public Sans" pitchFamily="34" charset="-120"/>
              </a:rPr>
              <a:t>Mục tiêu: đảm bảo lịch biểu khả tuần tự.</a:t>
            </a:r>
            <a:endParaRPr lang="en-US" sz="1700" dirty="0">
              <a:latin typeface="Time's New Roman"/>
            </a:endParaRPr>
          </a:p>
        </p:txBody>
      </p:sp>
      <p:sp>
        <p:nvSpPr>
          <p:cNvPr id="16" name="Shape 14"/>
          <p:cNvSpPr/>
          <p:nvPr/>
        </p:nvSpPr>
        <p:spPr>
          <a:xfrm>
            <a:off x="4735538" y="586596"/>
            <a:ext cx="4382413" cy="4558277"/>
          </a:xfrm>
          <a:prstGeom prst="roundRect">
            <a:avLst>
              <a:gd name="adj" fmla="val 3191"/>
            </a:avLst>
          </a:prstGeom>
          <a:solidFill>
            <a:srgbClr val="E1C2C2"/>
          </a:solidFill>
          <a:ln/>
        </p:spPr>
      </p:sp>
      <p:sp>
        <p:nvSpPr>
          <p:cNvPr id="17" name="Text 15"/>
          <p:cNvSpPr/>
          <p:nvPr/>
        </p:nvSpPr>
        <p:spPr>
          <a:xfrm>
            <a:off x="4768081" y="1532558"/>
            <a:ext cx="2052042" cy="199281"/>
          </a:xfrm>
          <a:prstGeom prst="rect">
            <a:avLst/>
          </a:prstGeom>
          <a:noFill/>
          <a:ln/>
        </p:spPr>
        <p:txBody>
          <a:bodyPr wrap="none" lIns="0" tIns="0" rIns="0" bIns="0" rtlCol="0" anchor="t"/>
          <a:lstStyle/>
          <a:p>
            <a:pPr marL="0" indent="0" algn="l">
              <a:lnSpc>
                <a:spcPct val="104000"/>
              </a:lnSpc>
              <a:buNone/>
            </a:pPr>
            <a:endParaRPr lang="en-US" sz="1250" dirty="0"/>
          </a:p>
        </p:txBody>
      </p:sp>
      <p:sp>
        <p:nvSpPr>
          <p:cNvPr id="18" name="Text 16"/>
          <p:cNvSpPr/>
          <p:nvPr/>
        </p:nvSpPr>
        <p:spPr>
          <a:xfrm>
            <a:off x="4768081" y="1846659"/>
            <a:ext cx="3848844" cy="387846"/>
          </a:xfrm>
          <a:prstGeom prst="rect">
            <a:avLst/>
          </a:prstGeom>
          <a:noFill/>
          <a:ln/>
        </p:spPr>
        <p:txBody>
          <a:bodyPr wrap="square" lIns="0" tIns="0" rIns="0" bIns="0" rtlCol="0" anchor="t">
            <a:normAutofit/>
          </a:bodyPr>
          <a:lstStyle/>
          <a:p>
            <a:pPr marL="0" indent="0" algn="l">
              <a:lnSpc>
                <a:spcPct val="127000"/>
              </a:lnSpc>
              <a:buNone/>
            </a:pPr>
            <a:endParaRPr lang="en-US" sz="1000" dirty="0"/>
          </a:p>
        </p:txBody>
      </p:sp>
      <p:sp>
        <p:nvSpPr>
          <p:cNvPr id="19" name="Text 17"/>
          <p:cNvSpPr/>
          <p:nvPr/>
        </p:nvSpPr>
        <p:spPr>
          <a:xfrm>
            <a:off x="4768081" y="2337792"/>
            <a:ext cx="3848844" cy="428030"/>
          </a:xfrm>
          <a:prstGeom prst="rect">
            <a:avLst/>
          </a:prstGeom>
          <a:noFill/>
          <a:ln/>
        </p:spPr>
        <p:txBody>
          <a:bodyPr wrap="square" lIns="0" tIns="0" rIns="0" bIns="0" rtlCol="0" anchor="t">
            <a:normAutofit/>
          </a:bodyPr>
          <a:lstStyle/>
          <a:p>
            <a:pPr marL="342900" indent="-342900" algn="l">
              <a:lnSpc>
                <a:spcPct val="127000"/>
              </a:lnSpc>
              <a:buSzPct val="100000"/>
              <a:buChar char="•"/>
            </a:pPr>
            <a:endParaRPr lang="en-US" sz="1000" dirty="0"/>
          </a:p>
        </p:txBody>
      </p:sp>
      <p:sp>
        <p:nvSpPr>
          <p:cNvPr id="20" name="Text 18"/>
          <p:cNvSpPr/>
          <p:nvPr/>
        </p:nvSpPr>
        <p:spPr>
          <a:xfrm>
            <a:off x="4768081" y="2869109"/>
            <a:ext cx="3848844" cy="888504"/>
          </a:xfrm>
          <a:prstGeom prst="rect">
            <a:avLst/>
          </a:prstGeom>
          <a:noFill/>
          <a:ln/>
        </p:spPr>
        <p:txBody>
          <a:bodyPr wrap="square" lIns="0" tIns="0" rIns="0" bIns="0" rtlCol="0" anchor="t">
            <a:normAutofit/>
          </a:bodyPr>
          <a:lstStyle/>
          <a:p>
            <a:pPr marL="0" indent="0" algn="l">
              <a:lnSpc>
                <a:spcPct val="127000"/>
              </a:lnSpc>
              <a:buNone/>
            </a:pPr>
            <a:endParaRPr lang="en-US" sz="1000" dirty="0"/>
          </a:p>
        </p:txBody>
      </p:sp>
      <p:sp>
        <p:nvSpPr>
          <p:cNvPr id="23" name="TextBox 22">
            <a:extLst>
              <a:ext uri="{FF2B5EF4-FFF2-40B4-BE49-F238E27FC236}">
                <a16:creationId xmlns:a16="http://schemas.microsoft.com/office/drawing/2014/main" id="{2D180A15-2B6F-8F44-F8E5-746BC92E0D67}"/>
              </a:ext>
            </a:extLst>
          </p:cNvPr>
          <p:cNvSpPr txBox="1"/>
          <p:nvPr/>
        </p:nvSpPr>
        <p:spPr>
          <a:xfrm>
            <a:off x="4715247" y="698740"/>
            <a:ext cx="4333873" cy="4278094"/>
          </a:xfrm>
          <a:prstGeom prst="rect">
            <a:avLst/>
          </a:prstGeom>
          <a:noFill/>
        </p:spPr>
        <p:txBody>
          <a:bodyPr wrap="square" rtlCol="0">
            <a:spAutoFit/>
          </a:bodyPr>
          <a:lstStyle/>
          <a:p>
            <a:r>
              <a:rPr lang="en-US" sz="1700" b="1" dirty="0">
                <a:latin typeface="Time's New Roman"/>
              </a:rPr>
              <a:t>Deadlock – </a:t>
            </a:r>
            <a:r>
              <a:rPr lang="en-US" sz="1700" b="1" dirty="0" err="1">
                <a:latin typeface="Time's New Roman"/>
              </a:rPr>
              <a:t>Bế</a:t>
            </a:r>
            <a:r>
              <a:rPr lang="en-US" sz="1700" b="1" dirty="0">
                <a:latin typeface="Time's New Roman"/>
              </a:rPr>
              <a:t> </a:t>
            </a:r>
            <a:r>
              <a:rPr lang="en-US" sz="1700" b="1" dirty="0" err="1">
                <a:latin typeface="Time's New Roman"/>
              </a:rPr>
              <a:t>tắc</a:t>
            </a:r>
            <a:endParaRPr lang="vi-VN" sz="1700" b="1" dirty="0">
              <a:latin typeface="Time's New Roman"/>
            </a:endParaRPr>
          </a:p>
          <a:p>
            <a:r>
              <a:rPr lang="en-US" sz="1700" dirty="0" err="1">
                <a:latin typeface="Time's New Roman"/>
              </a:rPr>
              <a:t>Khái</a:t>
            </a:r>
            <a:r>
              <a:rPr lang="en-US" sz="1700" dirty="0">
                <a:latin typeface="Time's New Roman"/>
              </a:rPr>
              <a:t> </a:t>
            </a:r>
            <a:r>
              <a:rPr lang="vi-VN" sz="1700" dirty="0">
                <a:latin typeface="Time's New Roman"/>
              </a:rPr>
              <a:t>niệm:</a:t>
            </a:r>
          </a:p>
          <a:p>
            <a:r>
              <a:rPr lang="en-US" sz="1700" dirty="0" err="1">
                <a:latin typeface="Time's New Roman"/>
              </a:rPr>
              <a:t>Xảy</a:t>
            </a:r>
            <a:r>
              <a:rPr lang="en-US" sz="1700" dirty="0">
                <a:latin typeface="Time's New Roman"/>
              </a:rPr>
              <a:t> </a:t>
            </a:r>
            <a:r>
              <a:rPr lang="en-US" sz="1700" dirty="0" err="1">
                <a:latin typeface="Time's New Roman"/>
              </a:rPr>
              <a:t>ra</a:t>
            </a:r>
            <a:r>
              <a:rPr lang="en-US" sz="1700" dirty="0">
                <a:latin typeface="Time's New Roman"/>
              </a:rPr>
              <a:t> </a:t>
            </a:r>
            <a:r>
              <a:rPr lang="en-US" sz="1700" dirty="0" err="1">
                <a:latin typeface="Time's New Roman"/>
              </a:rPr>
              <a:t>khi</a:t>
            </a:r>
            <a:r>
              <a:rPr lang="en-US" sz="1700" dirty="0">
                <a:latin typeface="Time's New Roman"/>
              </a:rPr>
              <a:t> </a:t>
            </a:r>
            <a:r>
              <a:rPr lang="en-US" sz="1700" dirty="0" err="1">
                <a:latin typeface="Time's New Roman"/>
              </a:rPr>
              <a:t>hai</a:t>
            </a:r>
            <a:r>
              <a:rPr lang="en-US" sz="1700" dirty="0">
                <a:latin typeface="Time's New Roman"/>
              </a:rPr>
              <a:t> </a:t>
            </a:r>
            <a:r>
              <a:rPr lang="en-US" sz="1700" dirty="0" err="1">
                <a:latin typeface="Time's New Roman"/>
              </a:rPr>
              <a:t>hoặc</a:t>
            </a:r>
            <a:r>
              <a:rPr lang="en-US" sz="1700" dirty="0">
                <a:latin typeface="Time's New Roman"/>
              </a:rPr>
              <a:t> </a:t>
            </a:r>
            <a:r>
              <a:rPr lang="en-US" sz="1700" dirty="0" err="1">
                <a:latin typeface="Time's New Roman"/>
              </a:rPr>
              <a:t>nhiều</a:t>
            </a:r>
            <a:r>
              <a:rPr lang="en-US" sz="1700" dirty="0">
                <a:latin typeface="Time's New Roman"/>
              </a:rPr>
              <a:t> transaction </a:t>
            </a:r>
            <a:r>
              <a:rPr lang="en-US" sz="1700" dirty="0" err="1">
                <a:latin typeface="Time's New Roman"/>
              </a:rPr>
              <a:t>chờ</a:t>
            </a:r>
            <a:r>
              <a:rPr lang="en-US" sz="1700" dirty="0">
                <a:latin typeface="Time's New Roman"/>
              </a:rPr>
              <a:t> </a:t>
            </a:r>
            <a:r>
              <a:rPr lang="en-US" sz="1700" dirty="0" err="1">
                <a:latin typeface="Time's New Roman"/>
              </a:rPr>
              <a:t>nhau</a:t>
            </a:r>
            <a:r>
              <a:rPr lang="en-US" sz="1700" dirty="0">
                <a:latin typeface="Time's New Roman"/>
              </a:rPr>
              <a:t> </a:t>
            </a:r>
            <a:r>
              <a:rPr lang="en-US" sz="1700" dirty="0" err="1">
                <a:latin typeface="Time's New Roman"/>
              </a:rPr>
              <a:t>giải</a:t>
            </a:r>
            <a:r>
              <a:rPr lang="en-US" sz="1700" dirty="0">
                <a:latin typeface="Time's New Roman"/>
              </a:rPr>
              <a:t> </a:t>
            </a:r>
            <a:r>
              <a:rPr lang="en-US" sz="1700" dirty="0" err="1">
                <a:latin typeface="Time's New Roman"/>
              </a:rPr>
              <a:t>phóng</a:t>
            </a:r>
            <a:r>
              <a:rPr lang="en-US" sz="1700" dirty="0">
                <a:latin typeface="Time's New Roman"/>
              </a:rPr>
              <a:t> </a:t>
            </a:r>
            <a:r>
              <a:rPr lang="en-US" sz="1700" dirty="0" err="1">
                <a:latin typeface="Time's New Roman"/>
              </a:rPr>
              <a:t>tài</a:t>
            </a:r>
            <a:r>
              <a:rPr lang="en-US" sz="1700" dirty="0">
                <a:latin typeface="Time's New Roman"/>
              </a:rPr>
              <a:t> </a:t>
            </a:r>
            <a:r>
              <a:rPr lang="en-US" sz="1700" dirty="0" err="1">
                <a:latin typeface="Time's New Roman"/>
              </a:rPr>
              <a:t>nguyên</a:t>
            </a:r>
            <a:r>
              <a:rPr lang="en-US" sz="1700" dirty="0">
                <a:latin typeface="Time's New Roman"/>
              </a:rPr>
              <a:t>, </a:t>
            </a:r>
            <a:r>
              <a:rPr lang="en-US" sz="1700" dirty="0" err="1">
                <a:latin typeface="Time's New Roman"/>
              </a:rPr>
              <a:t>khiến</a:t>
            </a:r>
            <a:r>
              <a:rPr lang="en-US" sz="1700" dirty="0">
                <a:latin typeface="Time's New Roman"/>
              </a:rPr>
              <a:t> </a:t>
            </a:r>
            <a:r>
              <a:rPr lang="en-US" sz="1700" dirty="0" err="1">
                <a:latin typeface="Time's New Roman"/>
              </a:rPr>
              <a:t>các</a:t>
            </a:r>
            <a:r>
              <a:rPr lang="en-US" sz="1700" dirty="0">
                <a:latin typeface="Time's New Roman"/>
              </a:rPr>
              <a:t> transaction </a:t>
            </a:r>
            <a:r>
              <a:rPr lang="en-US" sz="1700" dirty="0" err="1">
                <a:latin typeface="Time's New Roman"/>
              </a:rPr>
              <a:t>không</a:t>
            </a:r>
            <a:r>
              <a:rPr lang="en-US" sz="1700" dirty="0">
                <a:latin typeface="Time's New Roman"/>
              </a:rPr>
              <a:t> </a:t>
            </a:r>
            <a:r>
              <a:rPr lang="en-US" sz="1700" dirty="0" err="1">
                <a:latin typeface="Time's New Roman"/>
              </a:rPr>
              <a:t>thể</a:t>
            </a:r>
            <a:r>
              <a:rPr lang="en-US" sz="1700" dirty="0">
                <a:latin typeface="Time's New Roman"/>
              </a:rPr>
              <a:t> </a:t>
            </a:r>
            <a:r>
              <a:rPr lang="en-US" sz="1700" dirty="0" err="1">
                <a:latin typeface="Time's New Roman"/>
              </a:rPr>
              <a:t>tiếp</a:t>
            </a:r>
            <a:r>
              <a:rPr lang="en-US" sz="1700" dirty="0">
                <a:latin typeface="Time's New Roman"/>
              </a:rPr>
              <a:t> </a:t>
            </a:r>
            <a:r>
              <a:rPr lang="en-US" sz="1700" dirty="0" err="1">
                <a:latin typeface="Time's New Roman"/>
              </a:rPr>
              <a:t>tục</a:t>
            </a:r>
            <a:r>
              <a:rPr lang="en-US" sz="1700" dirty="0">
                <a:latin typeface="Time's New Roman"/>
              </a:rPr>
              <a:t> </a:t>
            </a:r>
            <a:r>
              <a:rPr lang="en-US" sz="1700" dirty="0" err="1">
                <a:latin typeface="Time's New Roman"/>
              </a:rPr>
              <a:t>thực</a:t>
            </a:r>
            <a:r>
              <a:rPr lang="en-US" sz="1700" dirty="0">
                <a:latin typeface="Time's New Roman"/>
              </a:rPr>
              <a:t> </a:t>
            </a:r>
            <a:r>
              <a:rPr lang="en-US" sz="1700" dirty="0" err="1">
                <a:latin typeface="Time's New Roman"/>
              </a:rPr>
              <a:t>hiện</a:t>
            </a:r>
            <a:r>
              <a:rPr lang="en-US" sz="1700" dirty="0">
                <a:latin typeface="Time's New Roman"/>
              </a:rPr>
              <a:t>.</a:t>
            </a:r>
            <a:endParaRPr lang="vi-VN" sz="1700" dirty="0">
              <a:latin typeface="Time's New Roman"/>
            </a:endParaRPr>
          </a:p>
          <a:p>
            <a:r>
              <a:rPr lang="en-US" sz="1700" dirty="0" err="1">
                <a:latin typeface="Time's New Roman"/>
              </a:rPr>
              <a:t>Ví</a:t>
            </a:r>
            <a:r>
              <a:rPr lang="en-US" sz="1700" dirty="0">
                <a:latin typeface="Time's New Roman"/>
              </a:rPr>
              <a:t> </a:t>
            </a:r>
            <a:r>
              <a:rPr lang="en-US" sz="1700" dirty="0" err="1">
                <a:latin typeface="Time's New Roman"/>
              </a:rPr>
              <a:t>dụ</a:t>
            </a:r>
            <a:endParaRPr lang="vi-VN" sz="1700" dirty="0">
              <a:latin typeface="Time's New Roman"/>
            </a:endParaRPr>
          </a:p>
          <a:p>
            <a:r>
              <a:rPr lang="vi-VN" sz="1700" dirty="0">
                <a:latin typeface="Time's New Roman"/>
              </a:rPr>
              <a:t>          </a:t>
            </a:r>
            <a:r>
              <a:rPr lang="en-US" sz="1700" dirty="0">
                <a:latin typeface="Time's New Roman"/>
              </a:rPr>
              <a:t>T1: </a:t>
            </a:r>
            <a:r>
              <a:rPr lang="en-US" sz="1700" dirty="0" err="1">
                <a:latin typeface="Time's New Roman"/>
              </a:rPr>
              <a:t>giữ</a:t>
            </a:r>
            <a:r>
              <a:rPr lang="en-US" sz="1700" dirty="0">
                <a:latin typeface="Time's New Roman"/>
              </a:rPr>
              <a:t> </a:t>
            </a:r>
            <a:r>
              <a:rPr lang="en-US" sz="1700" dirty="0" err="1">
                <a:latin typeface="Time's New Roman"/>
              </a:rPr>
              <a:t>khóa</a:t>
            </a:r>
            <a:r>
              <a:rPr lang="en-US" sz="1700" dirty="0">
                <a:latin typeface="Time's New Roman"/>
              </a:rPr>
              <a:t> VN101 → </a:t>
            </a:r>
            <a:r>
              <a:rPr lang="en-US" sz="1700" dirty="0" err="1">
                <a:latin typeface="Time's New Roman"/>
              </a:rPr>
              <a:t>chờ</a:t>
            </a:r>
            <a:r>
              <a:rPr lang="en-US" sz="1700" dirty="0">
                <a:latin typeface="Time's New Roman"/>
              </a:rPr>
              <a:t> </a:t>
            </a:r>
            <a:r>
              <a:rPr lang="en-US" sz="1700" dirty="0" err="1">
                <a:latin typeface="Time's New Roman"/>
              </a:rPr>
              <a:t>khóa</a:t>
            </a:r>
            <a:r>
              <a:rPr lang="en-US" sz="1700" dirty="0">
                <a:latin typeface="Time's New Roman"/>
              </a:rPr>
              <a:t> VN201</a:t>
            </a:r>
            <a:endParaRPr lang="vi-VN" sz="1700" dirty="0">
              <a:latin typeface="Time's New Roman"/>
            </a:endParaRPr>
          </a:p>
          <a:p>
            <a:r>
              <a:rPr lang="vi-VN" sz="1700" dirty="0">
                <a:latin typeface="Time's New Roman"/>
              </a:rPr>
              <a:t>          </a:t>
            </a:r>
            <a:r>
              <a:rPr lang="en-US" sz="1700" dirty="0">
                <a:latin typeface="Time's New Roman"/>
              </a:rPr>
              <a:t>T2: </a:t>
            </a:r>
            <a:r>
              <a:rPr lang="en-US" sz="1700" dirty="0" err="1">
                <a:latin typeface="Time's New Roman"/>
              </a:rPr>
              <a:t>giữ</a:t>
            </a:r>
            <a:r>
              <a:rPr lang="en-US" sz="1700" dirty="0">
                <a:latin typeface="Time's New Roman"/>
              </a:rPr>
              <a:t> </a:t>
            </a:r>
            <a:r>
              <a:rPr lang="en-US" sz="1700" dirty="0" err="1">
                <a:latin typeface="Time's New Roman"/>
              </a:rPr>
              <a:t>khóa</a:t>
            </a:r>
            <a:r>
              <a:rPr lang="en-US" sz="1700" dirty="0">
                <a:latin typeface="Time's New Roman"/>
              </a:rPr>
              <a:t> VN201 → </a:t>
            </a:r>
            <a:r>
              <a:rPr lang="en-US" sz="1700" dirty="0" err="1">
                <a:latin typeface="Time's New Roman"/>
              </a:rPr>
              <a:t>chờ</a:t>
            </a:r>
            <a:r>
              <a:rPr lang="en-US" sz="1700" dirty="0">
                <a:latin typeface="Time's New Roman"/>
              </a:rPr>
              <a:t> </a:t>
            </a:r>
            <a:r>
              <a:rPr lang="en-US" sz="1700" dirty="0" err="1">
                <a:latin typeface="Time's New Roman"/>
              </a:rPr>
              <a:t>khóa</a:t>
            </a:r>
            <a:r>
              <a:rPr lang="en-US" sz="1700" dirty="0">
                <a:latin typeface="Time's New Roman"/>
              </a:rPr>
              <a:t> VN101</a:t>
            </a:r>
            <a:endParaRPr lang="vi-VN" sz="1700" dirty="0">
              <a:latin typeface="Time's New Roman"/>
            </a:endParaRPr>
          </a:p>
          <a:p>
            <a:r>
              <a:rPr lang="en-US" sz="1700" dirty="0">
                <a:latin typeface="Time's New Roman"/>
              </a:rPr>
              <a:t>→ T1 </a:t>
            </a:r>
            <a:r>
              <a:rPr lang="en-US" sz="1700" dirty="0" err="1">
                <a:latin typeface="Time's New Roman"/>
              </a:rPr>
              <a:t>chờ</a:t>
            </a:r>
            <a:r>
              <a:rPr lang="en-US" sz="1700" dirty="0">
                <a:latin typeface="Time's New Roman"/>
              </a:rPr>
              <a:t> T2, T2 </a:t>
            </a:r>
            <a:r>
              <a:rPr lang="en-US" sz="1700" dirty="0" err="1">
                <a:latin typeface="Time's New Roman"/>
              </a:rPr>
              <a:t>chờ</a:t>
            </a:r>
            <a:r>
              <a:rPr lang="en-US" sz="1700" dirty="0">
                <a:latin typeface="Time's New Roman"/>
              </a:rPr>
              <a:t> T1→ </a:t>
            </a:r>
            <a:r>
              <a:rPr lang="en-US" sz="1700" dirty="0" err="1">
                <a:latin typeface="Time's New Roman"/>
              </a:rPr>
              <a:t>xảy</a:t>
            </a:r>
            <a:r>
              <a:rPr lang="en-US" sz="1700" dirty="0">
                <a:latin typeface="Time's New Roman"/>
              </a:rPr>
              <a:t> </a:t>
            </a:r>
            <a:r>
              <a:rPr lang="en-US" sz="1700" dirty="0" err="1">
                <a:latin typeface="Time's New Roman"/>
              </a:rPr>
              <a:t>ra</a:t>
            </a:r>
            <a:r>
              <a:rPr lang="en-US" sz="1700" dirty="0">
                <a:latin typeface="Time's New Roman"/>
              </a:rPr>
              <a:t> deadlock (</a:t>
            </a:r>
            <a:r>
              <a:rPr lang="en-US" sz="1700" dirty="0" err="1">
                <a:latin typeface="Time's New Roman"/>
              </a:rPr>
              <a:t>bế</a:t>
            </a:r>
            <a:r>
              <a:rPr lang="en-US" sz="1700" dirty="0">
                <a:latin typeface="Time's New Roman"/>
              </a:rPr>
              <a:t> </a:t>
            </a:r>
            <a:r>
              <a:rPr lang="en-US" sz="1700" dirty="0" err="1">
                <a:latin typeface="Time's New Roman"/>
              </a:rPr>
              <a:t>tắc</a:t>
            </a:r>
            <a:r>
              <a:rPr lang="en-US" sz="1700" dirty="0">
                <a:latin typeface="Time's New Roman"/>
              </a:rPr>
              <a:t>)SQL Server </a:t>
            </a:r>
            <a:r>
              <a:rPr lang="en-US" sz="1700" dirty="0" err="1">
                <a:latin typeface="Time's New Roman"/>
              </a:rPr>
              <a:t>sẽ</a:t>
            </a:r>
            <a:r>
              <a:rPr lang="en-US" sz="1700" dirty="0">
                <a:latin typeface="Time's New Roman"/>
              </a:rPr>
              <a:t> </a:t>
            </a:r>
            <a:r>
              <a:rPr lang="en-US" sz="1700" dirty="0" err="1">
                <a:latin typeface="Time's New Roman"/>
              </a:rPr>
              <a:t>báo</a:t>
            </a:r>
            <a:r>
              <a:rPr lang="en-US" sz="1700" dirty="0">
                <a:latin typeface="Time's New Roman"/>
              </a:rPr>
              <a:t> </a:t>
            </a:r>
            <a:r>
              <a:rPr lang="en-US" sz="1700" dirty="0" err="1">
                <a:latin typeface="Time's New Roman"/>
              </a:rPr>
              <a:t>lỗi:Transaction</a:t>
            </a:r>
            <a:r>
              <a:rPr lang="en-US" sz="1700" dirty="0">
                <a:latin typeface="Time's New Roman"/>
              </a:rPr>
              <a:t> was deadlocked...</a:t>
            </a:r>
            <a:endParaRPr lang="vi-VN" sz="1700" dirty="0">
              <a:latin typeface="Time's New Roman"/>
            </a:endParaRPr>
          </a:p>
          <a:p>
            <a:endParaRPr lang="vi-VN" sz="1700" dirty="0">
              <a:latin typeface="Time's New Roman"/>
            </a:endParaRPr>
          </a:p>
          <a:p>
            <a:r>
              <a:rPr lang="en-US" sz="1700" dirty="0" err="1">
                <a:latin typeface="Time's New Roman"/>
              </a:rPr>
              <a:t>Điều</a:t>
            </a:r>
            <a:r>
              <a:rPr lang="en-US" sz="1700" dirty="0">
                <a:latin typeface="Time's New Roman"/>
              </a:rPr>
              <a:t> </a:t>
            </a:r>
            <a:r>
              <a:rPr lang="en-US" sz="1700" dirty="0" err="1">
                <a:latin typeface="Time's New Roman"/>
              </a:rPr>
              <a:t>kiện</a:t>
            </a:r>
            <a:r>
              <a:rPr lang="en-US" sz="1700" dirty="0">
                <a:latin typeface="Time's New Roman"/>
              </a:rPr>
              <a:t> Mutual Exclusion (Độc </a:t>
            </a:r>
            <a:r>
              <a:rPr lang="en-US" sz="1700" dirty="0" err="1">
                <a:latin typeface="Time's New Roman"/>
              </a:rPr>
              <a:t>quyền</a:t>
            </a:r>
            <a:r>
              <a:rPr lang="en-US" sz="1700" dirty="0">
                <a:latin typeface="Time's New Roman"/>
              </a:rPr>
              <a:t> </a:t>
            </a:r>
            <a:r>
              <a:rPr lang="en-US" sz="1700" dirty="0" err="1">
                <a:latin typeface="Time's New Roman"/>
              </a:rPr>
              <a:t>tài</a:t>
            </a:r>
            <a:r>
              <a:rPr lang="en-US" sz="1700" dirty="0">
                <a:latin typeface="Time's New Roman"/>
              </a:rPr>
              <a:t> </a:t>
            </a:r>
            <a:r>
              <a:rPr lang="en-US" sz="1700" dirty="0" err="1">
                <a:latin typeface="Time's New Roman"/>
              </a:rPr>
              <a:t>nguyên</a:t>
            </a:r>
            <a:r>
              <a:rPr lang="en-US" sz="1700" dirty="0">
                <a:latin typeface="Time's New Roman"/>
              </a:rPr>
              <a:t>)Hold and Wait (</a:t>
            </a:r>
            <a:r>
              <a:rPr lang="en-US" sz="1700" dirty="0" err="1">
                <a:latin typeface="Time's New Roman"/>
              </a:rPr>
              <a:t>Giữ</a:t>
            </a:r>
            <a:r>
              <a:rPr lang="en-US" sz="1700" dirty="0">
                <a:latin typeface="Time's New Roman"/>
              </a:rPr>
              <a:t> </a:t>
            </a:r>
            <a:r>
              <a:rPr lang="en-US" sz="1700" dirty="0" err="1">
                <a:latin typeface="Time's New Roman"/>
              </a:rPr>
              <a:t>và</a:t>
            </a:r>
            <a:r>
              <a:rPr lang="en-US" sz="1700" dirty="0">
                <a:latin typeface="Time's New Roman"/>
              </a:rPr>
              <a:t> </a:t>
            </a:r>
            <a:r>
              <a:rPr lang="en-US" sz="1700" dirty="0" err="1">
                <a:latin typeface="Time's New Roman"/>
              </a:rPr>
              <a:t>chờ</a:t>
            </a:r>
            <a:r>
              <a:rPr lang="en-US" sz="1700" dirty="0">
                <a:latin typeface="Time's New Roman"/>
              </a:rPr>
              <a:t>)No Preemption (</a:t>
            </a:r>
            <a:r>
              <a:rPr lang="en-US" sz="1700" dirty="0" err="1">
                <a:latin typeface="Time's New Roman"/>
              </a:rPr>
              <a:t>Không</a:t>
            </a:r>
            <a:r>
              <a:rPr lang="en-US" sz="1700" dirty="0">
                <a:latin typeface="Time's New Roman"/>
              </a:rPr>
              <a:t> </a:t>
            </a:r>
            <a:r>
              <a:rPr lang="en-US" sz="1700" dirty="0" err="1">
                <a:latin typeface="Time's New Roman"/>
              </a:rPr>
              <a:t>thể</a:t>
            </a:r>
            <a:r>
              <a:rPr lang="en-US" sz="1700" dirty="0">
                <a:latin typeface="Time's New Roman"/>
              </a:rPr>
              <a:t> </a:t>
            </a:r>
            <a:r>
              <a:rPr lang="en-US" sz="1700" dirty="0" err="1">
                <a:latin typeface="Time's New Roman"/>
              </a:rPr>
              <a:t>thu</a:t>
            </a:r>
            <a:r>
              <a:rPr lang="en-US" sz="1700" dirty="0">
                <a:latin typeface="Time's New Roman"/>
              </a:rPr>
              <a:t> </a:t>
            </a:r>
            <a:r>
              <a:rPr lang="en-US" sz="1700" dirty="0" err="1">
                <a:latin typeface="Time's New Roman"/>
              </a:rPr>
              <a:t>hồi</a:t>
            </a:r>
            <a:r>
              <a:rPr lang="en-US" sz="1700" dirty="0">
                <a:latin typeface="Time's New Roman"/>
              </a:rPr>
              <a:t> </a:t>
            </a:r>
            <a:r>
              <a:rPr lang="en-US" sz="1700" dirty="0" err="1">
                <a:latin typeface="Time's New Roman"/>
              </a:rPr>
              <a:t>tài</a:t>
            </a:r>
            <a:r>
              <a:rPr lang="en-US" sz="1700" dirty="0">
                <a:latin typeface="Time's New Roman"/>
              </a:rPr>
              <a:t> </a:t>
            </a:r>
            <a:r>
              <a:rPr lang="en-US" sz="1700" dirty="0" err="1">
                <a:latin typeface="Time's New Roman"/>
              </a:rPr>
              <a:t>nguyên</a:t>
            </a:r>
            <a:r>
              <a:rPr lang="en-US" sz="1700" dirty="0">
                <a:latin typeface="Time's New Roman"/>
              </a:rPr>
              <a:t>)Circular Wait (</a:t>
            </a:r>
            <a:r>
              <a:rPr lang="en-US" sz="1700" dirty="0" err="1">
                <a:latin typeface="Time's New Roman"/>
              </a:rPr>
              <a:t>Chờ</a:t>
            </a:r>
            <a:r>
              <a:rPr lang="en-US" sz="1700" dirty="0">
                <a:latin typeface="Time's New Roman"/>
              </a:rPr>
              <a:t> </a:t>
            </a:r>
            <a:r>
              <a:rPr lang="en-US" sz="1700" dirty="0" err="1">
                <a:latin typeface="Time's New Roman"/>
              </a:rPr>
              <a:t>vòng</a:t>
            </a:r>
            <a:r>
              <a:rPr lang="en-US" sz="1700" dirty="0">
                <a:latin typeface="Time's New Roman"/>
              </a:rPr>
              <a:t> </a:t>
            </a:r>
            <a:r>
              <a:rPr lang="en-US" sz="1700" dirty="0" err="1">
                <a:latin typeface="Time's New Roman"/>
              </a:rPr>
              <a:t>tròn</a:t>
            </a:r>
            <a:r>
              <a:rPr lang="en-US" sz="1700" dirty="0">
                <a:latin typeface="Time's New Roman"/>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14069" y="388962"/>
            <a:ext cx="5327424" cy="889323"/>
          </a:xfrm>
          <a:prstGeom prst="rect">
            <a:avLst/>
          </a:prstGeom>
          <a:noFill/>
          <a:ln/>
        </p:spPr>
        <p:txBody>
          <a:bodyPr wrap="none" lIns="0" tIns="0" rIns="0" bIns="0" rtlCol="0" anchor="t"/>
          <a:lstStyle/>
          <a:p>
            <a:pPr marL="0" indent="0" algn="l">
              <a:lnSpc>
                <a:spcPct val="104000"/>
              </a:lnSpc>
              <a:buNone/>
            </a:pPr>
            <a:r>
              <a:rPr lang="vi-VN" sz="2650" b="1" dirty="0">
                <a:latin typeface="+mj-lt"/>
                <a:ea typeface="Playfair Display SemiBold" pitchFamily="34" charset="-122"/>
                <a:cs typeface="Playfair Display SemiBold" pitchFamily="34" charset="-120"/>
              </a:rPr>
              <a:t>5 </a:t>
            </a:r>
            <a:r>
              <a:rPr lang="en-US" sz="2650" b="1" dirty="0" err="1">
                <a:latin typeface="+mj-lt"/>
                <a:ea typeface="Playfair Display SemiBold" pitchFamily="34" charset="-122"/>
                <a:cs typeface="Playfair Display SemiBold" pitchFamily="34" charset="-120"/>
              </a:rPr>
              <a:t>Xử</a:t>
            </a:r>
            <a:r>
              <a:rPr lang="en-US" sz="2650" b="1" dirty="0">
                <a:latin typeface="+mj-lt"/>
                <a:ea typeface="Playfair Display SemiBold" pitchFamily="34" charset="-122"/>
                <a:cs typeface="Playfair Display SemiBold" pitchFamily="34" charset="-120"/>
              </a:rPr>
              <a:t> Lý Deadlock &amp; Hệ Phân Tán</a:t>
            </a:r>
            <a:endParaRPr lang="en-US" sz="2650" b="1" dirty="0">
              <a:latin typeface="+mj-lt"/>
            </a:endParaRPr>
          </a:p>
        </p:txBody>
      </p:sp>
      <p:sp>
        <p:nvSpPr>
          <p:cNvPr id="3" name="Shape 1"/>
          <p:cNvSpPr/>
          <p:nvPr/>
        </p:nvSpPr>
        <p:spPr>
          <a:xfrm>
            <a:off x="414069" y="1000664"/>
            <a:ext cx="2714001" cy="1937724"/>
          </a:xfrm>
          <a:prstGeom prst="roundRect">
            <a:avLst>
              <a:gd name="adj" fmla="val 7605"/>
            </a:avLst>
          </a:prstGeom>
          <a:solidFill>
            <a:srgbClr val="FFFAF6"/>
          </a:solidFill>
          <a:ln w="19050">
            <a:solidFill>
              <a:srgbClr val="E1C2C2"/>
            </a:solidFill>
            <a:prstDash val="solid"/>
          </a:ln>
          <a:effectLst>
            <a:outerShdw dist="17780" dir="2700000" algn="bl" rotWithShape="0">
              <a:srgbClr val="E1C2C2">
                <a:alpha val="100000"/>
              </a:srgbClr>
            </a:outerShdw>
          </a:effectLst>
        </p:spPr>
      </p:sp>
      <p:sp>
        <p:nvSpPr>
          <p:cNvPr id="6" name="Text 4"/>
          <p:cNvSpPr/>
          <p:nvPr/>
        </p:nvSpPr>
        <p:spPr>
          <a:xfrm>
            <a:off x="1731280" y="1635100"/>
            <a:ext cx="161553" cy="201960"/>
          </a:xfrm>
          <a:prstGeom prst="rect">
            <a:avLst/>
          </a:prstGeom>
          <a:noFill/>
          <a:ln/>
        </p:spPr>
        <p:txBody>
          <a:bodyPr wrap="none" lIns="0" tIns="0" rIns="0" bIns="0" rtlCol="0" anchor="ctr"/>
          <a:lstStyle/>
          <a:p>
            <a:pPr marL="0" indent="0" algn="ctr">
              <a:lnSpc>
                <a:spcPct val="100000"/>
              </a:lnSpc>
              <a:buNone/>
            </a:pPr>
            <a:endParaRPr lang="en-US" sz="1250" dirty="0"/>
          </a:p>
        </p:txBody>
      </p:sp>
      <p:sp>
        <p:nvSpPr>
          <p:cNvPr id="7" name="Text 5"/>
          <p:cNvSpPr/>
          <p:nvPr/>
        </p:nvSpPr>
        <p:spPr>
          <a:xfrm>
            <a:off x="496120" y="1220379"/>
            <a:ext cx="1987600" cy="1062720"/>
          </a:xfrm>
          <a:prstGeom prst="rect">
            <a:avLst/>
          </a:prstGeom>
          <a:noFill/>
          <a:ln/>
        </p:spPr>
        <p:txBody>
          <a:bodyPr wrap="none" lIns="0" tIns="0" rIns="0" bIns="0" rtlCol="0" anchor="t"/>
          <a:lstStyle/>
          <a:p>
            <a:pPr marL="0" indent="0" algn="l">
              <a:lnSpc>
                <a:spcPct val="104000"/>
              </a:lnSpc>
              <a:buNone/>
            </a:pPr>
            <a:r>
              <a:rPr lang="vi-VN" sz="1700" dirty="0">
                <a:latin typeface="Time's New Roman"/>
                <a:ea typeface="Playfair Display SemiBold" pitchFamily="34" charset="-122"/>
                <a:cs typeface="Playfair Display SemiBold" pitchFamily="34" charset="-120"/>
              </a:rPr>
              <a:t>1.</a:t>
            </a:r>
            <a:r>
              <a:rPr lang="en-US" sz="1700" dirty="0">
                <a:latin typeface="Time's New Roman"/>
                <a:ea typeface="Playfair Display SemiBold" pitchFamily="34" charset="-122"/>
                <a:cs typeface="Playfair Display SemiBold" pitchFamily="34" charset="-120"/>
              </a:rPr>
              <a:t>Lock Theo Cùng Thứ Tự</a:t>
            </a:r>
            <a:endParaRPr lang="en-US" sz="1700" dirty="0">
              <a:latin typeface="Time's New Roman"/>
            </a:endParaRPr>
          </a:p>
        </p:txBody>
      </p:sp>
      <p:sp>
        <p:nvSpPr>
          <p:cNvPr id="8" name="Text 6"/>
          <p:cNvSpPr/>
          <p:nvPr/>
        </p:nvSpPr>
        <p:spPr>
          <a:xfrm>
            <a:off x="496120" y="1534120"/>
            <a:ext cx="2478285" cy="1245841"/>
          </a:xfrm>
          <a:prstGeom prst="rect">
            <a:avLst/>
          </a:prstGeom>
          <a:noFill/>
          <a:ln/>
        </p:spPr>
        <p:txBody>
          <a:bodyPr wrap="square" lIns="0" tIns="0" rIns="0" bIns="0" rtlCol="0" anchor="t">
            <a:normAutofit/>
          </a:bodyPr>
          <a:lstStyle/>
          <a:p>
            <a:pPr>
              <a:lnSpc>
                <a:spcPct val="130000"/>
              </a:lnSpc>
            </a:pPr>
            <a:r>
              <a:rPr lang="en-US" sz="1600" dirty="0"/>
              <a:t>Giao </a:t>
            </a:r>
            <a:r>
              <a:rPr lang="en-US" sz="1600" dirty="0" err="1"/>
              <a:t>dịch</a:t>
            </a:r>
            <a:r>
              <a:rPr lang="en-US" sz="1600" dirty="0"/>
              <a:t> </a:t>
            </a:r>
            <a:r>
              <a:rPr lang="en-US" sz="1600" dirty="0" err="1"/>
              <a:t>nào</a:t>
            </a:r>
            <a:r>
              <a:rPr lang="en-US" sz="1600" dirty="0"/>
              <a:t> </a:t>
            </a:r>
            <a:r>
              <a:rPr lang="en-US" sz="1600" dirty="0" err="1"/>
              <a:t>đến</a:t>
            </a:r>
            <a:r>
              <a:rPr lang="en-US" sz="1600" dirty="0"/>
              <a:t> </a:t>
            </a:r>
            <a:r>
              <a:rPr lang="en-US" sz="1600" dirty="0" err="1"/>
              <a:t>trước</a:t>
            </a:r>
            <a:r>
              <a:rPr lang="en-US" sz="1600" dirty="0"/>
              <a:t> </a:t>
            </a:r>
            <a:r>
              <a:rPr lang="en-US" sz="1600" dirty="0" err="1"/>
              <a:t>và</a:t>
            </a:r>
            <a:r>
              <a:rPr lang="en-US" sz="1600" dirty="0"/>
              <a:t> </a:t>
            </a:r>
            <a:r>
              <a:rPr lang="en-US" sz="1600" dirty="0" err="1"/>
              <a:t>lấy</a:t>
            </a:r>
            <a:r>
              <a:rPr lang="en-US" sz="1600" dirty="0"/>
              <a:t> </a:t>
            </a:r>
            <a:r>
              <a:rPr lang="en-US" sz="1600" dirty="0" err="1"/>
              <a:t>được</a:t>
            </a:r>
            <a:r>
              <a:rPr lang="en-US" sz="1600" dirty="0"/>
              <a:t> </a:t>
            </a:r>
            <a:r>
              <a:rPr lang="en-US" sz="1600" dirty="0" err="1"/>
              <a:t>khóa</a:t>
            </a:r>
            <a:r>
              <a:rPr lang="en-US" sz="1600" dirty="0"/>
              <a:t> </a:t>
            </a:r>
            <a:r>
              <a:rPr lang="en-US" sz="1600" dirty="0" err="1"/>
              <a:t>trước</a:t>
            </a:r>
            <a:r>
              <a:rPr lang="en-US" sz="1600" dirty="0"/>
              <a:t> </a:t>
            </a:r>
            <a:r>
              <a:rPr lang="en-US" sz="1600" dirty="0" err="1"/>
              <a:t>thì</a:t>
            </a:r>
            <a:r>
              <a:rPr lang="en-US" sz="1600" dirty="0"/>
              <a:t> </a:t>
            </a:r>
            <a:r>
              <a:rPr lang="en-US" sz="1600" dirty="0" err="1"/>
              <a:t>được</a:t>
            </a:r>
            <a:r>
              <a:rPr lang="en-US" sz="1600" dirty="0"/>
              <a:t> </a:t>
            </a:r>
            <a:r>
              <a:rPr lang="en-US" sz="1600" dirty="0" err="1"/>
              <a:t>xử</a:t>
            </a:r>
            <a:r>
              <a:rPr lang="en-US" sz="1600" dirty="0"/>
              <a:t> </a:t>
            </a:r>
            <a:r>
              <a:rPr lang="en-US" sz="1600" dirty="0" err="1"/>
              <a:t>lý</a:t>
            </a:r>
            <a:r>
              <a:rPr lang="en-US" sz="1600" dirty="0"/>
              <a:t> </a:t>
            </a:r>
            <a:r>
              <a:rPr lang="en-US" sz="1600" dirty="0" err="1"/>
              <a:t>trước</a:t>
            </a:r>
            <a:r>
              <a:rPr lang="en-US" sz="1600" dirty="0"/>
              <a:t>.</a:t>
            </a:r>
            <a:endParaRPr lang="en-US" sz="1700" dirty="0">
              <a:latin typeface="Time's New Roman"/>
            </a:endParaRPr>
          </a:p>
        </p:txBody>
      </p:sp>
      <p:sp>
        <p:nvSpPr>
          <p:cNvPr id="9" name="Shape 7"/>
          <p:cNvSpPr/>
          <p:nvPr/>
        </p:nvSpPr>
        <p:spPr>
          <a:xfrm>
            <a:off x="3134692" y="1000664"/>
            <a:ext cx="2881089" cy="1891439"/>
          </a:xfrm>
          <a:prstGeom prst="roundRect">
            <a:avLst>
              <a:gd name="adj" fmla="val 4018"/>
            </a:avLst>
          </a:prstGeom>
          <a:solidFill>
            <a:srgbClr val="FFFAF6"/>
          </a:solidFill>
          <a:ln w="19050">
            <a:solidFill>
              <a:srgbClr val="CCC4EC"/>
            </a:solidFill>
            <a:prstDash val="solid"/>
          </a:ln>
          <a:effectLst>
            <a:outerShdw dist="17780" dir="2700000" algn="bl" rotWithShape="0">
              <a:srgbClr val="CCC4EC">
                <a:alpha val="100000"/>
              </a:srgbClr>
            </a:outerShdw>
          </a:effectLst>
        </p:spPr>
      </p:sp>
      <p:sp>
        <p:nvSpPr>
          <p:cNvPr id="13" name="Text 11"/>
          <p:cNvSpPr/>
          <p:nvPr/>
        </p:nvSpPr>
        <p:spPr>
          <a:xfrm>
            <a:off x="3281736" y="1191743"/>
            <a:ext cx="1811386" cy="1091356"/>
          </a:xfrm>
          <a:prstGeom prst="rect">
            <a:avLst/>
          </a:prstGeom>
          <a:noFill/>
          <a:ln/>
        </p:spPr>
        <p:txBody>
          <a:bodyPr wrap="none" lIns="0" tIns="0" rIns="0" bIns="0" rtlCol="0" anchor="t"/>
          <a:lstStyle/>
          <a:p>
            <a:pPr marL="0" indent="0" algn="l">
              <a:lnSpc>
                <a:spcPct val="104000"/>
              </a:lnSpc>
              <a:buNone/>
            </a:pPr>
            <a:r>
              <a:rPr lang="vi-VN" sz="1700" b="1" dirty="0">
                <a:latin typeface="Time's New Roman"/>
                <a:ea typeface="Playfair Display SemiBold" pitchFamily="34" charset="-122"/>
                <a:cs typeface="Playfair Display SemiBold" pitchFamily="34" charset="-120"/>
              </a:rPr>
              <a:t>2 </a:t>
            </a:r>
            <a:r>
              <a:rPr lang="en-US" sz="1700" b="1" dirty="0">
                <a:latin typeface="Time's New Roman"/>
                <a:ea typeface="Playfair Display SemiBold" pitchFamily="34" charset="-122"/>
                <a:cs typeface="Playfair Display SemiBold" pitchFamily="34" charset="-120"/>
              </a:rPr>
              <a:t>Timeout</a:t>
            </a:r>
            <a:endParaRPr lang="en-US" sz="1700" b="1" dirty="0">
              <a:latin typeface="Time's New Roman"/>
            </a:endParaRPr>
          </a:p>
        </p:txBody>
      </p:sp>
      <p:sp>
        <p:nvSpPr>
          <p:cNvPr id="14" name="Text 12"/>
          <p:cNvSpPr/>
          <p:nvPr/>
        </p:nvSpPr>
        <p:spPr>
          <a:xfrm>
            <a:off x="3281736" y="1534120"/>
            <a:ext cx="2612900" cy="1250603"/>
          </a:xfrm>
          <a:prstGeom prst="rect">
            <a:avLst/>
          </a:prstGeom>
          <a:noFill/>
          <a:ln/>
        </p:spPr>
        <p:txBody>
          <a:bodyPr wrap="square" lIns="0" tIns="0" rIns="0" bIns="0" rtlCol="0" anchor="t">
            <a:normAutofit/>
          </a:bodyPr>
          <a:lstStyle/>
          <a:p>
            <a:pPr marL="0" indent="0">
              <a:lnSpc>
                <a:spcPct val="130000"/>
              </a:lnSpc>
              <a:buNone/>
            </a:pPr>
            <a:r>
              <a:rPr lang="en-US" sz="1700" dirty="0">
                <a:highlight>
                  <a:srgbClr val="F2EDE9"/>
                </a:highlight>
                <a:latin typeface="Time's New Roman"/>
                <a:ea typeface="Consolas" pitchFamily="34" charset="-122"/>
                <a:cs typeface="Consolas" pitchFamily="34" charset="-120"/>
              </a:rPr>
              <a:t>SET LOCK_TIMEOUT 5000;</a:t>
            </a:r>
            <a:r>
              <a:rPr lang="en-US" sz="1700" dirty="0">
                <a:latin typeface="Time's New Roman"/>
                <a:ea typeface="Public Sans" pitchFamily="34" charset="-122"/>
                <a:cs typeface="Public Sans" pitchFamily="34" charset="-120"/>
              </a:rPr>
              <a:t> — nếu chờ quá lâu, transaction bị hủy.</a:t>
            </a:r>
            <a:endParaRPr lang="en-US" sz="1700" dirty="0">
              <a:latin typeface="Time's New Roman"/>
            </a:endParaRPr>
          </a:p>
        </p:txBody>
      </p:sp>
      <p:sp>
        <p:nvSpPr>
          <p:cNvPr id="15" name="Shape 13"/>
          <p:cNvSpPr/>
          <p:nvPr/>
        </p:nvSpPr>
        <p:spPr>
          <a:xfrm>
            <a:off x="6032800" y="990441"/>
            <a:ext cx="2881088" cy="1891439"/>
          </a:xfrm>
          <a:prstGeom prst="roundRect">
            <a:avLst>
              <a:gd name="adj" fmla="val 7605"/>
            </a:avLst>
          </a:prstGeom>
          <a:solidFill>
            <a:srgbClr val="FFFAF6"/>
          </a:solidFill>
          <a:ln w="19050">
            <a:solidFill>
              <a:srgbClr val="B4DAE4"/>
            </a:solidFill>
            <a:prstDash val="solid"/>
          </a:ln>
          <a:effectLst>
            <a:outerShdw dist="17780" dir="2700000" algn="bl" rotWithShape="0">
              <a:srgbClr val="B4DAE4">
                <a:alpha val="100000"/>
              </a:srgbClr>
            </a:outerShdw>
          </a:effectLst>
        </p:spPr>
      </p:sp>
      <p:sp>
        <p:nvSpPr>
          <p:cNvPr id="18" name="Text 16"/>
          <p:cNvSpPr/>
          <p:nvPr/>
        </p:nvSpPr>
        <p:spPr>
          <a:xfrm>
            <a:off x="7251018" y="1635100"/>
            <a:ext cx="161553" cy="201960"/>
          </a:xfrm>
          <a:prstGeom prst="rect">
            <a:avLst/>
          </a:prstGeom>
          <a:noFill/>
          <a:ln/>
        </p:spPr>
        <p:txBody>
          <a:bodyPr wrap="none" lIns="0" tIns="0" rIns="0" bIns="0" rtlCol="0" anchor="ctr"/>
          <a:lstStyle/>
          <a:p>
            <a:pPr marL="0" indent="0" algn="ctr">
              <a:lnSpc>
                <a:spcPct val="100000"/>
              </a:lnSpc>
              <a:buNone/>
            </a:pPr>
            <a:endParaRPr lang="en-US" sz="1250" dirty="0"/>
          </a:p>
        </p:txBody>
      </p:sp>
      <p:sp>
        <p:nvSpPr>
          <p:cNvPr id="19" name="Text 17"/>
          <p:cNvSpPr/>
          <p:nvPr/>
        </p:nvSpPr>
        <p:spPr>
          <a:xfrm>
            <a:off x="6162825" y="1278285"/>
            <a:ext cx="1690165" cy="1004813"/>
          </a:xfrm>
          <a:prstGeom prst="rect">
            <a:avLst/>
          </a:prstGeom>
          <a:noFill/>
          <a:ln/>
        </p:spPr>
        <p:txBody>
          <a:bodyPr wrap="none" lIns="0" tIns="0" rIns="0" bIns="0" rtlCol="0" anchor="t"/>
          <a:lstStyle/>
          <a:p>
            <a:pPr marL="0" indent="0" algn="l">
              <a:lnSpc>
                <a:spcPct val="104000"/>
              </a:lnSpc>
              <a:buNone/>
            </a:pPr>
            <a:endParaRPr lang="en-US" sz="1300" dirty="0"/>
          </a:p>
        </p:txBody>
      </p:sp>
      <p:sp>
        <p:nvSpPr>
          <p:cNvPr id="20" name="Text 18"/>
          <p:cNvSpPr/>
          <p:nvPr/>
        </p:nvSpPr>
        <p:spPr>
          <a:xfrm>
            <a:off x="6169521" y="2359819"/>
            <a:ext cx="2324621" cy="420142"/>
          </a:xfrm>
          <a:prstGeom prst="rect">
            <a:avLst/>
          </a:prstGeom>
          <a:noFill/>
          <a:ln/>
        </p:spPr>
        <p:txBody>
          <a:bodyPr wrap="square" lIns="0" tIns="0" rIns="0" bIns="0" rtlCol="0" anchor="t">
            <a:normAutofit/>
          </a:bodyPr>
          <a:lstStyle/>
          <a:p>
            <a:pPr marL="0" indent="0" algn="l">
              <a:lnSpc>
                <a:spcPct val="130000"/>
              </a:lnSpc>
              <a:buNone/>
            </a:pPr>
            <a:endParaRPr lang="en-US" sz="1050" dirty="0"/>
          </a:p>
        </p:txBody>
      </p:sp>
      <p:sp>
        <p:nvSpPr>
          <p:cNvPr id="21" name="Text 19"/>
          <p:cNvSpPr/>
          <p:nvPr/>
        </p:nvSpPr>
        <p:spPr>
          <a:xfrm>
            <a:off x="496119" y="3130302"/>
            <a:ext cx="3403476" cy="210369"/>
          </a:xfrm>
          <a:prstGeom prst="rect">
            <a:avLst/>
          </a:prstGeom>
          <a:noFill/>
          <a:ln/>
        </p:spPr>
        <p:txBody>
          <a:bodyPr wrap="none" lIns="0" tIns="0" rIns="0" bIns="0" rtlCol="0" anchor="t"/>
          <a:lstStyle/>
          <a:p>
            <a:pPr marL="0" indent="0" algn="l">
              <a:lnSpc>
                <a:spcPct val="104000"/>
              </a:lnSpc>
              <a:buNone/>
            </a:pPr>
            <a:r>
              <a:rPr lang="en-US" sz="1700" b="1" dirty="0">
                <a:latin typeface="Time's New Roman"/>
                <a:ea typeface="Playfair Display SemiBold" pitchFamily="34" charset="-122"/>
                <a:cs typeface="Playfair Display SemiBold" pitchFamily="34" charset="-120"/>
              </a:rPr>
              <a:t>Vai Trò Của DBMS Trong Hệ Phân Tán</a:t>
            </a:r>
            <a:endParaRPr lang="en-US" sz="1700" b="1" dirty="0">
              <a:latin typeface="Time's New Roman"/>
            </a:endParaRPr>
          </a:p>
        </p:txBody>
      </p:sp>
      <p:pic>
        <p:nvPicPr>
          <p:cNvPr id="2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3532584"/>
            <a:ext cx="269304" cy="269304"/>
          </a:xfrm>
          <a:prstGeom prst="rect">
            <a:avLst/>
          </a:prstGeom>
        </p:spPr>
      </p:pic>
      <p:sp>
        <p:nvSpPr>
          <p:cNvPr id="23" name="Text 20"/>
          <p:cNvSpPr/>
          <p:nvPr/>
        </p:nvSpPr>
        <p:spPr>
          <a:xfrm>
            <a:off x="925339" y="3578870"/>
            <a:ext cx="1844427" cy="210369"/>
          </a:xfrm>
          <a:prstGeom prst="rect">
            <a:avLst/>
          </a:prstGeom>
          <a:noFill/>
          <a:ln/>
        </p:spPr>
        <p:txBody>
          <a:bodyPr wrap="none" lIns="0" tIns="0" rIns="0" bIns="0" rtlCol="0" anchor="t"/>
          <a:lstStyle/>
          <a:p>
            <a:pPr marL="0" indent="0" algn="l">
              <a:lnSpc>
                <a:spcPct val="104000"/>
              </a:lnSpc>
              <a:buNone/>
            </a:pPr>
            <a:r>
              <a:rPr lang="en-US" sz="1700" b="1" dirty="0">
                <a:latin typeface="Time's New Roman"/>
                <a:ea typeface="Playfair Display SemiBold" pitchFamily="34" charset="-122"/>
                <a:cs typeface="Playfair Display SemiBold" pitchFamily="34" charset="-120"/>
              </a:rPr>
              <a:t>Quản lý khóa &amp; đồng bộ</a:t>
            </a:r>
            <a:endParaRPr lang="en-US" sz="1700" b="1" dirty="0">
              <a:latin typeface="Time's New Roman"/>
            </a:endParaRPr>
          </a:p>
        </p:txBody>
      </p:sp>
      <p:sp>
        <p:nvSpPr>
          <p:cNvPr id="24" name="Text 21"/>
          <p:cNvSpPr/>
          <p:nvPr/>
        </p:nvSpPr>
        <p:spPr>
          <a:xfrm>
            <a:off x="925339" y="3865958"/>
            <a:ext cx="2181374" cy="1154615"/>
          </a:xfrm>
          <a:prstGeom prst="rect">
            <a:avLst/>
          </a:prstGeom>
          <a:noFill/>
          <a:ln/>
        </p:spPr>
        <p:txBody>
          <a:bodyPr wrap="square" lIns="0" tIns="0" rIns="0" bIns="0" rtlCol="0" anchor="t">
            <a:noAutofit/>
          </a:bodyPr>
          <a:lstStyle/>
          <a:p>
            <a:pPr marL="0" indent="0" algn="l">
              <a:lnSpc>
                <a:spcPct val="130000"/>
              </a:lnSpc>
              <a:buNone/>
            </a:pPr>
            <a:r>
              <a:rPr lang="en-US" sz="1700" dirty="0">
                <a:latin typeface="Time's New Roman"/>
                <a:ea typeface="Public Sans" pitchFamily="34" charset="-122"/>
                <a:cs typeface="Public Sans" pitchFamily="34" charset="-120"/>
              </a:rPr>
              <a:t>Đảm bảo dữ liệu nhất quán giữa các site qua mạng.</a:t>
            </a:r>
            <a:endParaRPr lang="en-US" sz="1700" dirty="0">
              <a:latin typeface="Time's New Roman"/>
            </a:endParaRPr>
          </a:p>
        </p:txBody>
      </p:sp>
      <p:pic>
        <p:nvPicPr>
          <p:cNvPr id="2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6629" y="3532584"/>
            <a:ext cx="269304" cy="269304"/>
          </a:xfrm>
          <a:prstGeom prst="rect">
            <a:avLst/>
          </a:prstGeom>
        </p:spPr>
      </p:pic>
      <p:sp>
        <p:nvSpPr>
          <p:cNvPr id="26" name="Text 22"/>
          <p:cNvSpPr/>
          <p:nvPr/>
        </p:nvSpPr>
        <p:spPr>
          <a:xfrm>
            <a:off x="3695849" y="3578870"/>
            <a:ext cx="1683469" cy="210369"/>
          </a:xfrm>
          <a:prstGeom prst="rect">
            <a:avLst/>
          </a:prstGeom>
          <a:noFill/>
          <a:ln/>
        </p:spPr>
        <p:txBody>
          <a:bodyPr wrap="none" lIns="0" tIns="0" rIns="0" bIns="0" rtlCol="0" anchor="t"/>
          <a:lstStyle/>
          <a:p>
            <a:pPr marL="0" indent="0" algn="l">
              <a:lnSpc>
                <a:spcPct val="104000"/>
              </a:lnSpc>
              <a:buNone/>
            </a:pPr>
            <a:r>
              <a:rPr lang="en-US" sz="1700" b="1" dirty="0">
                <a:latin typeface="Time's New Roman"/>
                <a:ea typeface="Playfair Display SemiBold" pitchFamily="34" charset="-122"/>
                <a:cs typeface="Playfair Display SemiBold" pitchFamily="34" charset="-120"/>
              </a:rPr>
              <a:t>Rollback khi lỗi</a:t>
            </a:r>
            <a:endParaRPr lang="en-US" sz="1700" b="1" dirty="0">
              <a:latin typeface="Time's New Roman"/>
            </a:endParaRPr>
          </a:p>
        </p:txBody>
      </p:sp>
      <p:sp>
        <p:nvSpPr>
          <p:cNvPr id="27" name="Text 23"/>
          <p:cNvSpPr/>
          <p:nvPr/>
        </p:nvSpPr>
        <p:spPr>
          <a:xfrm>
            <a:off x="3695849" y="3865958"/>
            <a:ext cx="2341364" cy="1224889"/>
          </a:xfrm>
          <a:prstGeom prst="rect">
            <a:avLst/>
          </a:prstGeom>
          <a:noFill/>
          <a:ln/>
        </p:spPr>
        <p:txBody>
          <a:bodyPr wrap="square" lIns="0" tIns="0" rIns="0" bIns="0" rtlCol="0" anchor="t">
            <a:noAutofit/>
          </a:bodyPr>
          <a:lstStyle/>
          <a:p>
            <a:pPr marL="0" indent="0" algn="l">
              <a:lnSpc>
                <a:spcPct val="130000"/>
              </a:lnSpc>
              <a:buNone/>
            </a:pPr>
            <a:r>
              <a:rPr lang="en-US" sz="1700" dirty="0">
                <a:latin typeface="Time's New Roman"/>
                <a:ea typeface="Public Sans" pitchFamily="34" charset="-122"/>
                <a:cs typeface="Public Sans" pitchFamily="34" charset="-120"/>
              </a:rPr>
              <a:t>Tự động hoàn tác giao dịch khi phát hiện lỗi mạng hoặc deadlock.</a:t>
            </a:r>
            <a:endParaRPr lang="en-US" sz="1700" dirty="0">
              <a:latin typeface="Time's New Roman"/>
            </a:endParaRPr>
          </a:p>
        </p:txBody>
      </p:sp>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37213" y="3532584"/>
            <a:ext cx="269304" cy="269304"/>
          </a:xfrm>
          <a:prstGeom prst="rect">
            <a:avLst/>
          </a:prstGeom>
        </p:spPr>
      </p:pic>
      <p:sp>
        <p:nvSpPr>
          <p:cNvPr id="29" name="Text 24"/>
          <p:cNvSpPr/>
          <p:nvPr/>
        </p:nvSpPr>
        <p:spPr>
          <a:xfrm>
            <a:off x="6466433" y="3578870"/>
            <a:ext cx="1683469" cy="210369"/>
          </a:xfrm>
          <a:prstGeom prst="rect">
            <a:avLst/>
          </a:prstGeom>
          <a:noFill/>
          <a:ln/>
        </p:spPr>
        <p:txBody>
          <a:bodyPr wrap="none" lIns="0" tIns="0" rIns="0" bIns="0" rtlCol="0" anchor="t"/>
          <a:lstStyle/>
          <a:p>
            <a:pPr marL="0" indent="0" algn="l">
              <a:lnSpc>
                <a:spcPct val="104000"/>
              </a:lnSpc>
              <a:buNone/>
            </a:pPr>
            <a:r>
              <a:rPr lang="en-US" sz="1700" b="1" dirty="0">
                <a:latin typeface="Time's New Roman"/>
                <a:ea typeface="Playfair Display SemiBold" pitchFamily="34" charset="-122"/>
                <a:cs typeface="Playfair Display SemiBold" pitchFamily="34" charset="-120"/>
              </a:rPr>
              <a:t>Đảm bảo ACID</a:t>
            </a:r>
            <a:endParaRPr lang="en-US" sz="1700" b="1" dirty="0">
              <a:latin typeface="Time's New Roman"/>
            </a:endParaRPr>
          </a:p>
        </p:txBody>
      </p:sp>
      <p:sp>
        <p:nvSpPr>
          <p:cNvPr id="30" name="Text 25"/>
          <p:cNvSpPr/>
          <p:nvPr/>
        </p:nvSpPr>
        <p:spPr>
          <a:xfrm>
            <a:off x="6466433" y="3865959"/>
            <a:ext cx="2655154" cy="1154614"/>
          </a:xfrm>
          <a:prstGeom prst="rect">
            <a:avLst/>
          </a:prstGeom>
          <a:noFill/>
          <a:ln/>
        </p:spPr>
        <p:txBody>
          <a:bodyPr wrap="square" lIns="0" tIns="0" rIns="0" bIns="0" rtlCol="0" anchor="t">
            <a:noAutofit/>
          </a:bodyPr>
          <a:lstStyle/>
          <a:p>
            <a:pPr marL="0" indent="0" algn="l">
              <a:lnSpc>
                <a:spcPct val="130000"/>
              </a:lnSpc>
              <a:buNone/>
            </a:pPr>
            <a:r>
              <a:rPr lang="en-US" sz="1700" dirty="0">
                <a:latin typeface="Time's New Roman"/>
                <a:ea typeface="Public Sans" pitchFamily="34" charset="-122"/>
                <a:cs typeface="Public Sans" pitchFamily="34" charset="-120"/>
              </a:rPr>
              <a:t>Duy trì đầy đủ 4 tính chất ACID trong môi trường phân tán.</a:t>
            </a:r>
            <a:endParaRPr lang="en-US" sz="1700" dirty="0">
              <a:latin typeface="Time's New Roman"/>
            </a:endParaRPr>
          </a:p>
        </p:txBody>
      </p:sp>
      <p:pic>
        <p:nvPicPr>
          <p:cNvPr id="32" name="Picture 31">
            <a:extLst>
              <a:ext uri="{FF2B5EF4-FFF2-40B4-BE49-F238E27FC236}">
                <a16:creationId xmlns:a16="http://schemas.microsoft.com/office/drawing/2014/main" id="{52CEB089-3A54-EBBA-B3D5-1D48DCBD15D6}"/>
              </a:ext>
            </a:extLst>
          </p:cNvPr>
          <p:cNvPicPr>
            <a:picLocks noChangeAspect="1"/>
          </p:cNvPicPr>
          <p:nvPr/>
        </p:nvPicPr>
        <p:blipFill>
          <a:blip r:embed="rId6"/>
          <a:stretch>
            <a:fillRect/>
          </a:stretch>
        </p:blipFill>
        <p:spPr>
          <a:xfrm>
            <a:off x="7178216" y="4614532"/>
            <a:ext cx="1943371" cy="476316"/>
          </a:xfrm>
          <a:prstGeom prst="rect">
            <a:avLst/>
          </a:prstGeom>
        </p:spPr>
      </p:pic>
      <p:sp>
        <p:nvSpPr>
          <p:cNvPr id="37" name="TextBox 36">
            <a:extLst>
              <a:ext uri="{FF2B5EF4-FFF2-40B4-BE49-F238E27FC236}">
                <a16:creationId xmlns:a16="http://schemas.microsoft.com/office/drawing/2014/main" id="{9A93EC17-52EB-E780-2B29-8147AF635B0F}"/>
              </a:ext>
            </a:extLst>
          </p:cNvPr>
          <p:cNvSpPr txBox="1"/>
          <p:nvPr/>
        </p:nvSpPr>
        <p:spPr>
          <a:xfrm>
            <a:off x="6162825" y="1191743"/>
            <a:ext cx="3042370" cy="1138773"/>
          </a:xfrm>
          <a:prstGeom prst="rect">
            <a:avLst/>
          </a:prstGeom>
          <a:noFill/>
        </p:spPr>
        <p:txBody>
          <a:bodyPr wrap="square" rtlCol="0">
            <a:spAutoFit/>
          </a:bodyPr>
          <a:lstStyle/>
          <a:p>
            <a:r>
              <a:rPr lang="en-US" sz="1700" b="1" dirty="0">
                <a:latin typeface="Time's New Roman"/>
              </a:rPr>
              <a:t>Deadlock Detection</a:t>
            </a:r>
            <a:endParaRPr lang="vi-VN" sz="1700" b="1" dirty="0">
              <a:latin typeface="Time's New Roman"/>
            </a:endParaRPr>
          </a:p>
          <a:p>
            <a:endParaRPr lang="vi-VN" sz="1700" b="1" dirty="0">
              <a:latin typeface="Time's New Roman"/>
            </a:endParaRPr>
          </a:p>
          <a:p>
            <a:r>
              <a:rPr lang="en-US" sz="1700" b="1" dirty="0">
                <a:latin typeface="Time's New Roman"/>
              </a:rPr>
              <a:t>DBMS </a:t>
            </a:r>
            <a:r>
              <a:rPr lang="en-US" sz="1700" dirty="0" err="1">
                <a:latin typeface="Time's New Roman"/>
              </a:rPr>
              <a:t>sẽ</a:t>
            </a:r>
            <a:r>
              <a:rPr lang="en-US" sz="1700" dirty="0">
                <a:latin typeface="Time's New Roman"/>
              </a:rPr>
              <a:t> </a:t>
            </a:r>
            <a:r>
              <a:rPr lang="en-US" sz="1700" dirty="0" err="1">
                <a:latin typeface="Time's New Roman"/>
              </a:rPr>
              <a:t>tự</a:t>
            </a:r>
            <a:r>
              <a:rPr lang="en-US" sz="1700" dirty="0">
                <a:latin typeface="Time's New Roman"/>
              </a:rPr>
              <a:t> </a:t>
            </a:r>
            <a:r>
              <a:rPr lang="en-US" sz="1700" dirty="0" err="1">
                <a:latin typeface="Time's New Roman"/>
              </a:rPr>
              <a:t>phát</a:t>
            </a:r>
            <a:r>
              <a:rPr lang="en-US" sz="1700" dirty="0">
                <a:latin typeface="Time's New Roman"/>
              </a:rPr>
              <a:t> (deadlock).</a:t>
            </a:r>
            <a:br>
              <a:rPr lang="en-US" sz="1700" dirty="0">
                <a:latin typeface="Time's New Roman"/>
              </a:rPr>
            </a:br>
            <a:r>
              <a:rPr lang="vi-VN" sz="1700" dirty="0">
                <a:latin typeface="Time's New Roman"/>
              </a:rPr>
              <a:t>Và </a:t>
            </a:r>
            <a:r>
              <a:rPr lang="en-US" sz="1700" dirty="0">
                <a:latin typeface="Time's New Roman"/>
              </a:rPr>
              <a:t>(rollback) </a:t>
            </a:r>
            <a:r>
              <a:rPr lang="en-US" sz="1700" dirty="0" err="1">
                <a:latin typeface="Time's New Roman"/>
              </a:rPr>
              <a:t>một</a:t>
            </a:r>
            <a:r>
              <a:rPr lang="en-US" sz="1700" dirty="0">
                <a:latin typeface="Time's New Roman"/>
              </a:rPr>
              <a:t> transaction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31321" y="147864"/>
            <a:ext cx="4917934" cy="726652"/>
          </a:xfrm>
          <a:prstGeom prst="rect">
            <a:avLst/>
          </a:prstGeom>
          <a:noFill/>
          <a:ln/>
        </p:spPr>
        <p:txBody>
          <a:bodyPr wrap="none" lIns="0" tIns="0" rIns="0" bIns="0" rtlCol="0" anchor="t"/>
          <a:lstStyle/>
          <a:p>
            <a:pPr marL="0" indent="0" algn="l">
              <a:lnSpc>
                <a:spcPct val="104000"/>
              </a:lnSpc>
              <a:buNone/>
            </a:pPr>
            <a:r>
              <a:rPr lang="en-US" sz="2500" b="1" dirty="0">
                <a:latin typeface="Time's New Roman"/>
                <a:ea typeface="Playfair Display SemiBold" pitchFamily="34" charset="-122"/>
                <a:cs typeface="Playfair Display SemiBold" pitchFamily="34" charset="-120"/>
              </a:rPr>
              <a:t>Ý Nghĩa Thực Tiễn &amp; Kết Luận</a:t>
            </a:r>
            <a:endParaRPr lang="en-US" sz="2500" b="1" dirty="0">
              <a:latin typeface="Time's New Roman"/>
            </a:endParaRPr>
          </a:p>
        </p:txBody>
      </p:sp>
      <p:sp>
        <p:nvSpPr>
          <p:cNvPr id="3" name="Text 1"/>
          <p:cNvSpPr/>
          <p:nvPr/>
        </p:nvSpPr>
        <p:spPr>
          <a:xfrm>
            <a:off x="431321" y="577970"/>
            <a:ext cx="8546214" cy="914032"/>
          </a:xfrm>
          <a:prstGeom prst="rect">
            <a:avLst/>
          </a:prstGeom>
          <a:noFill/>
          <a:ln/>
        </p:spPr>
        <p:txBody>
          <a:bodyPr wrap="square" lIns="0" tIns="0" rIns="0" bIns="0" rtlCol="0" anchor="t">
            <a:noAutofit/>
          </a:bodyPr>
          <a:lstStyle/>
          <a:p>
            <a:pPr marL="0" indent="0" algn="just">
              <a:lnSpc>
                <a:spcPct val="127000"/>
              </a:lnSpc>
              <a:buNone/>
            </a:pPr>
            <a:r>
              <a:rPr lang="vi-VN" sz="1700" dirty="0">
                <a:latin typeface="Time's New Roman"/>
                <a:ea typeface="Public Sans" pitchFamily="34" charset="-122"/>
                <a:cs typeface="Public Sans" pitchFamily="34" charset="-120"/>
              </a:rPr>
              <a:t>      </a:t>
            </a:r>
            <a:r>
              <a:rPr lang="en-US" sz="1700" dirty="0" err="1">
                <a:latin typeface="Time's New Roman"/>
                <a:ea typeface="Public Sans" pitchFamily="34" charset="-122"/>
                <a:cs typeface="Public Sans" pitchFamily="34" charset="-120"/>
              </a:rPr>
              <a:t>Hệ</a:t>
            </a:r>
            <a:r>
              <a:rPr lang="en-US" sz="1700" dirty="0">
                <a:latin typeface="Time's New Roman"/>
                <a:ea typeface="Public Sans" pitchFamily="34" charset="-122"/>
                <a:cs typeface="Public Sans" pitchFamily="34" charset="-120"/>
              </a:rPr>
              <a:t> thống bán vé máy bay thực tế như </a:t>
            </a:r>
            <a:r>
              <a:rPr lang="en-US" sz="1700" b="1" dirty="0">
                <a:latin typeface="Time's New Roman"/>
                <a:ea typeface="Public Sans" pitchFamily="34" charset="-122"/>
                <a:cs typeface="Public Sans" pitchFamily="34" charset="-120"/>
              </a:rPr>
              <a:t>Vietnam Airlines</a:t>
            </a:r>
            <a:r>
              <a:rPr lang="en-US" sz="1700" dirty="0">
                <a:latin typeface="Time's New Roman"/>
                <a:ea typeface="Public Sans" pitchFamily="34" charset="-122"/>
                <a:cs typeface="Public Sans" pitchFamily="34" charset="-120"/>
              </a:rPr>
              <a:t>, </a:t>
            </a:r>
            <a:r>
              <a:rPr lang="en-US" sz="1700" b="1" dirty="0">
                <a:latin typeface="Time's New Roman"/>
                <a:ea typeface="Public Sans" pitchFamily="34" charset="-122"/>
                <a:cs typeface="Public Sans" pitchFamily="34" charset="-120"/>
              </a:rPr>
              <a:t>VietJet</a:t>
            </a:r>
            <a:r>
              <a:rPr lang="en-US" sz="1700" dirty="0">
                <a:latin typeface="Time's New Roman"/>
                <a:ea typeface="Public Sans" pitchFamily="34" charset="-122"/>
                <a:cs typeface="Public Sans" pitchFamily="34" charset="-120"/>
              </a:rPr>
              <a:t>, </a:t>
            </a:r>
            <a:r>
              <a:rPr lang="en-US" sz="1700" b="1" dirty="0">
                <a:latin typeface="Time's New Roman"/>
                <a:ea typeface="Public Sans" pitchFamily="34" charset="-122"/>
                <a:cs typeface="Public Sans" pitchFamily="34" charset="-120"/>
              </a:rPr>
              <a:t>Bamboo Airways</a:t>
            </a:r>
            <a:r>
              <a:rPr lang="en-US" sz="1700" dirty="0">
                <a:latin typeface="Time's New Roman"/>
                <a:ea typeface="Public Sans" pitchFamily="34" charset="-122"/>
                <a:cs typeface="Public Sans" pitchFamily="34" charset="-120"/>
              </a:rPr>
              <a:t> đều sử dụng transaction, concurrency control và distributed database để tránh bán trùng ghế, đồng bộ dữ liệu toàn quốc và xử lý hàng nghìn giao dịch cùng lúc.</a:t>
            </a:r>
            <a:endParaRPr lang="en-US" sz="1700" dirty="0">
              <a:latin typeface="Time's New Roman"/>
            </a:endParaRPr>
          </a:p>
        </p:txBody>
      </p:sp>
      <p:sp>
        <p:nvSpPr>
          <p:cNvPr id="4" name="Shape 2"/>
          <p:cNvSpPr/>
          <p:nvPr/>
        </p:nvSpPr>
        <p:spPr>
          <a:xfrm>
            <a:off x="496119" y="1621185"/>
            <a:ext cx="4018434" cy="726653"/>
          </a:xfrm>
          <a:prstGeom prst="roundRect">
            <a:avLst>
              <a:gd name="adj" fmla="val 7375"/>
            </a:avLst>
          </a:prstGeom>
          <a:solidFill>
            <a:srgbClr val="E1C2C2">
              <a:alpha val="50000"/>
            </a:srgbClr>
          </a:solidFill>
          <a:ln w="4763">
            <a:solidFill>
              <a:srgbClr val="C7A8A8"/>
            </a:solidFill>
            <a:prstDash val="solid"/>
          </a:ln>
          <a:effectLst>
            <a:outerShdw dist="16510" dir="2700000" algn="bl" rotWithShape="0">
              <a:srgbClr val="C7A8A8">
                <a:alpha val="100000"/>
              </a:srgbClr>
            </a:outerShdw>
          </a:effectLst>
        </p:spPr>
      </p:sp>
      <p:sp>
        <p:nvSpPr>
          <p:cNvPr id="5" name="Text 3"/>
          <p:cNvSpPr/>
          <p:nvPr/>
        </p:nvSpPr>
        <p:spPr>
          <a:xfrm>
            <a:off x="628427" y="1753493"/>
            <a:ext cx="1594842" cy="199281"/>
          </a:xfrm>
          <a:prstGeom prst="rect">
            <a:avLst/>
          </a:prstGeom>
          <a:noFill/>
          <a:ln/>
        </p:spPr>
        <p:txBody>
          <a:bodyPr wrap="none" lIns="0" tIns="0" rIns="0" bIns="0" rtlCol="0" anchor="t"/>
          <a:lstStyle/>
          <a:p>
            <a:pPr marL="0" indent="0" algn="l">
              <a:lnSpc>
                <a:spcPct val="104000"/>
              </a:lnSpc>
              <a:buNone/>
            </a:pPr>
            <a:r>
              <a:rPr lang="en-US" sz="1700" dirty="0">
                <a:solidFill>
                  <a:srgbClr val="000000"/>
                </a:solidFill>
                <a:latin typeface="Playfair Display SemiBold" pitchFamily="34" charset="0"/>
                <a:ea typeface="Playfair Display SemiBold" pitchFamily="34" charset="-122"/>
                <a:cs typeface="Playfair Display SemiBold" pitchFamily="34" charset="-120"/>
              </a:rPr>
              <a:t>Transaction</a:t>
            </a:r>
            <a:endParaRPr lang="en-US" sz="1700" dirty="0"/>
          </a:p>
        </p:txBody>
      </p:sp>
      <p:sp>
        <p:nvSpPr>
          <p:cNvPr id="6" name="Text 4"/>
          <p:cNvSpPr/>
          <p:nvPr/>
        </p:nvSpPr>
        <p:spPr>
          <a:xfrm>
            <a:off x="628427" y="2021607"/>
            <a:ext cx="3753817" cy="193923"/>
          </a:xfrm>
          <a:prstGeom prst="rect">
            <a:avLst/>
          </a:prstGeom>
          <a:noFill/>
          <a:ln/>
        </p:spPr>
        <p:txBody>
          <a:bodyPr wrap="none" lIns="0" tIns="0" rIns="0" bIns="0" rtlCol="0" anchor="t"/>
          <a:lstStyle/>
          <a:p>
            <a:pPr marL="0" indent="0" algn="l">
              <a:lnSpc>
                <a:spcPct val="127000"/>
              </a:lnSpc>
              <a:buNone/>
            </a:pPr>
            <a:r>
              <a:rPr lang="en-US" sz="1700" dirty="0">
                <a:solidFill>
                  <a:srgbClr val="000000"/>
                </a:solidFill>
                <a:latin typeface="Public Sans" pitchFamily="34" charset="0"/>
                <a:ea typeface="Public Sans" pitchFamily="34" charset="-122"/>
                <a:cs typeface="Public Sans" pitchFamily="34" charset="-120"/>
              </a:rPr>
              <a:t>Đảm bảo toàn vẹn giao dịch</a:t>
            </a:r>
            <a:endParaRPr lang="en-US" sz="1700" dirty="0"/>
          </a:p>
        </p:txBody>
      </p:sp>
      <p:sp>
        <p:nvSpPr>
          <p:cNvPr id="7" name="Shape 5"/>
          <p:cNvSpPr/>
          <p:nvPr/>
        </p:nvSpPr>
        <p:spPr>
          <a:xfrm>
            <a:off x="4629373" y="1621185"/>
            <a:ext cx="4018508" cy="726653"/>
          </a:xfrm>
          <a:prstGeom prst="roundRect">
            <a:avLst>
              <a:gd name="adj" fmla="val 7375"/>
            </a:avLst>
          </a:prstGeom>
          <a:solidFill>
            <a:srgbClr val="CCC4EC">
              <a:alpha val="50000"/>
            </a:srgbClr>
          </a:solidFill>
          <a:ln w="4763">
            <a:solidFill>
              <a:srgbClr val="B2AAD2"/>
            </a:solidFill>
            <a:prstDash val="solid"/>
          </a:ln>
          <a:effectLst>
            <a:outerShdw dist="16510" dir="2700000" algn="bl" rotWithShape="0">
              <a:srgbClr val="B2AAD2">
                <a:alpha val="100000"/>
              </a:srgbClr>
            </a:outerShdw>
          </a:effectLst>
        </p:spPr>
      </p:sp>
      <p:sp>
        <p:nvSpPr>
          <p:cNvPr id="8" name="Text 6"/>
          <p:cNvSpPr/>
          <p:nvPr/>
        </p:nvSpPr>
        <p:spPr>
          <a:xfrm>
            <a:off x="4761681" y="1753493"/>
            <a:ext cx="1594842" cy="199281"/>
          </a:xfrm>
          <a:prstGeom prst="rect">
            <a:avLst/>
          </a:prstGeom>
          <a:noFill/>
          <a:ln/>
        </p:spPr>
        <p:txBody>
          <a:bodyPr wrap="none" lIns="0" tIns="0" rIns="0" bIns="0" rtlCol="0" anchor="t"/>
          <a:lstStyle/>
          <a:p>
            <a:pPr marL="0" indent="0" algn="l">
              <a:lnSpc>
                <a:spcPct val="104000"/>
              </a:lnSpc>
              <a:buNone/>
            </a:pPr>
            <a:r>
              <a:rPr lang="en-US" sz="1700" dirty="0">
                <a:solidFill>
                  <a:srgbClr val="000000"/>
                </a:solidFill>
                <a:latin typeface="Playfair Display SemiBold" pitchFamily="34" charset="0"/>
                <a:ea typeface="Playfair Display SemiBold" pitchFamily="34" charset="-122"/>
                <a:cs typeface="Playfair Display SemiBold" pitchFamily="34" charset="-120"/>
              </a:rPr>
              <a:t>ACID</a:t>
            </a:r>
            <a:endParaRPr lang="en-US" sz="1700" dirty="0"/>
          </a:p>
        </p:txBody>
      </p:sp>
      <p:sp>
        <p:nvSpPr>
          <p:cNvPr id="9" name="Text 7"/>
          <p:cNvSpPr/>
          <p:nvPr/>
        </p:nvSpPr>
        <p:spPr>
          <a:xfrm>
            <a:off x="4761681" y="2021607"/>
            <a:ext cx="3753892" cy="193923"/>
          </a:xfrm>
          <a:prstGeom prst="rect">
            <a:avLst/>
          </a:prstGeom>
          <a:noFill/>
          <a:ln/>
        </p:spPr>
        <p:txBody>
          <a:bodyPr wrap="none" lIns="0" tIns="0" rIns="0" bIns="0" rtlCol="0" anchor="t"/>
          <a:lstStyle/>
          <a:p>
            <a:pPr marL="0" indent="0" algn="l">
              <a:lnSpc>
                <a:spcPct val="127000"/>
              </a:lnSpc>
              <a:buNone/>
            </a:pPr>
            <a:r>
              <a:rPr lang="en-US" sz="1700" dirty="0">
                <a:solidFill>
                  <a:srgbClr val="000000"/>
                </a:solidFill>
                <a:latin typeface="Public Sans" pitchFamily="34" charset="0"/>
                <a:ea typeface="Public Sans" pitchFamily="34" charset="-122"/>
                <a:cs typeface="Public Sans" pitchFamily="34" charset="-120"/>
              </a:rPr>
              <a:t>Bốn tính chất cốt lõi</a:t>
            </a:r>
            <a:endParaRPr lang="en-US" sz="1700" dirty="0"/>
          </a:p>
        </p:txBody>
      </p:sp>
      <p:sp>
        <p:nvSpPr>
          <p:cNvPr id="10" name="Shape 8"/>
          <p:cNvSpPr/>
          <p:nvPr/>
        </p:nvSpPr>
        <p:spPr>
          <a:xfrm>
            <a:off x="496119" y="2462659"/>
            <a:ext cx="4018434" cy="726653"/>
          </a:xfrm>
          <a:prstGeom prst="roundRect">
            <a:avLst>
              <a:gd name="adj" fmla="val 7375"/>
            </a:avLst>
          </a:prstGeom>
          <a:solidFill>
            <a:srgbClr val="B4DAE4">
              <a:alpha val="50000"/>
            </a:srgbClr>
          </a:solidFill>
          <a:ln w="4763">
            <a:solidFill>
              <a:srgbClr val="9AC0CA"/>
            </a:solidFill>
            <a:prstDash val="solid"/>
          </a:ln>
          <a:effectLst>
            <a:outerShdw dist="16510" dir="2700000" algn="bl" rotWithShape="0">
              <a:srgbClr val="9AC0CA">
                <a:alpha val="100000"/>
              </a:srgbClr>
            </a:outerShdw>
          </a:effectLst>
        </p:spPr>
      </p:sp>
      <p:sp>
        <p:nvSpPr>
          <p:cNvPr id="11" name="Text 9"/>
          <p:cNvSpPr/>
          <p:nvPr/>
        </p:nvSpPr>
        <p:spPr>
          <a:xfrm>
            <a:off x="628427" y="2594967"/>
            <a:ext cx="1594842" cy="199281"/>
          </a:xfrm>
          <a:prstGeom prst="rect">
            <a:avLst/>
          </a:prstGeom>
          <a:noFill/>
          <a:ln/>
        </p:spPr>
        <p:txBody>
          <a:bodyPr wrap="none" lIns="0" tIns="0" rIns="0" bIns="0" rtlCol="0" anchor="t"/>
          <a:lstStyle/>
          <a:p>
            <a:pPr marL="0" indent="0" algn="l">
              <a:lnSpc>
                <a:spcPct val="104000"/>
              </a:lnSpc>
              <a:buNone/>
            </a:pPr>
            <a:r>
              <a:rPr lang="en-US" sz="1700" dirty="0">
                <a:solidFill>
                  <a:srgbClr val="000000"/>
                </a:solidFill>
                <a:latin typeface="Playfair Display SemiBold" pitchFamily="34" charset="0"/>
                <a:ea typeface="Playfair Display SemiBold" pitchFamily="34" charset="-122"/>
                <a:cs typeface="Playfair Display SemiBold" pitchFamily="34" charset="-120"/>
              </a:rPr>
              <a:t>Phân Tán</a:t>
            </a:r>
            <a:endParaRPr lang="en-US" sz="1700" dirty="0"/>
          </a:p>
        </p:txBody>
      </p:sp>
      <p:sp>
        <p:nvSpPr>
          <p:cNvPr id="12" name="Text 10"/>
          <p:cNvSpPr/>
          <p:nvPr/>
        </p:nvSpPr>
        <p:spPr>
          <a:xfrm>
            <a:off x="628427" y="2863081"/>
            <a:ext cx="3753817" cy="193923"/>
          </a:xfrm>
          <a:prstGeom prst="rect">
            <a:avLst/>
          </a:prstGeom>
          <a:noFill/>
          <a:ln/>
        </p:spPr>
        <p:txBody>
          <a:bodyPr wrap="none" lIns="0" tIns="0" rIns="0" bIns="0" rtlCol="0" anchor="t"/>
          <a:lstStyle/>
          <a:p>
            <a:pPr marL="0" indent="0" algn="l">
              <a:lnSpc>
                <a:spcPct val="127000"/>
              </a:lnSpc>
              <a:buNone/>
            </a:pPr>
            <a:r>
              <a:rPr lang="en-US" sz="1700" dirty="0">
                <a:solidFill>
                  <a:srgbClr val="000000"/>
                </a:solidFill>
                <a:latin typeface="Public Sans" pitchFamily="34" charset="0"/>
                <a:ea typeface="Public Sans" pitchFamily="34" charset="-122"/>
                <a:cs typeface="Public Sans" pitchFamily="34" charset="-120"/>
              </a:rPr>
              <a:t>Quản lý nhiều site</a:t>
            </a:r>
            <a:endParaRPr lang="en-US" sz="1700" dirty="0"/>
          </a:p>
        </p:txBody>
      </p:sp>
      <p:sp>
        <p:nvSpPr>
          <p:cNvPr id="13" name="Shape 11"/>
          <p:cNvSpPr/>
          <p:nvPr/>
        </p:nvSpPr>
        <p:spPr>
          <a:xfrm>
            <a:off x="4629373" y="2462659"/>
            <a:ext cx="4018508" cy="726653"/>
          </a:xfrm>
          <a:prstGeom prst="roundRect">
            <a:avLst>
              <a:gd name="adj" fmla="val 7375"/>
            </a:avLst>
          </a:prstGeom>
          <a:solidFill>
            <a:srgbClr val="E1C2C2">
              <a:alpha val="50000"/>
            </a:srgbClr>
          </a:solidFill>
          <a:ln w="4763">
            <a:solidFill>
              <a:srgbClr val="C7A8A8"/>
            </a:solidFill>
            <a:prstDash val="solid"/>
          </a:ln>
          <a:effectLst>
            <a:outerShdw dist="16510" dir="2700000" algn="bl" rotWithShape="0">
              <a:srgbClr val="C7A8A8">
                <a:alpha val="100000"/>
              </a:srgbClr>
            </a:outerShdw>
          </a:effectLst>
        </p:spPr>
      </p:sp>
      <p:sp>
        <p:nvSpPr>
          <p:cNvPr id="14" name="Text 12"/>
          <p:cNvSpPr/>
          <p:nvPr/>
        </p:nvSpPr>
        <p:spPr>
          <a:xfrm>
            <a:off x="4761681" y="2594967"/>
            <a:ext cx="1594842" cy="199281"/>
          </a:xfrm>
          <a:prstGeom prst="rect">
            <a:avLst/>
          </a:prstGeom>
          <a:noFill/>
          <a:ln/>
        </p:spPr>
        <p:txBody>
          <a:bodyPr wrap="none" lIns="0" tIns="0" rIns="0" bIns="0" rtlCol="0" anchor="t"/>
          <a:lstStyle/>
          <a:p>
            <a:pPr marL="0" indent="0" algn="l">
              <a:lnSpc>
                <a:spcPct val="104000"/>
              </a:lnSpc>
              <a:buNone/>
            </a:pPr>
            <a:r>
              <a:rPr lang="en-US" sz="1700" dirty="0">
                <a:solidFill>
                  <a:srgbClr val="000000"/>
                </a:solidFill>
                <a:latin typeface="Playfair Display SemiBold" pitchFamily="34" charset="0"/>
                <a:ea typeface="Playfair Display SemiBold" pitchFamily="34" charset="-122"/>
                <a:cs typeface="Playfair Display SemiBold" pitchFamily="34" charset="-120"/>
              </a:rPr>
              <a:t>Khóa Dữ Liệu</a:t>
            </a:r>
            <a:endParaRPr lang="en-US" sz="1700" dirty="0"/>
          </a:p>
        </p:txBody>
      </p:sp>
      <p:sp>
        <p:nvSpPr>
          <p:cNvPr id="15" name="Text 13"/>
          <p:cNvSpPr/>
          <p:nvPr/>
        </p:nvSpPr>
        <p:spPr>
          <a:xfrm>
            <a:off x="4761681" y="2863081"/>
            <a:ext cx="3753892" cy="193923"/>
          </a:xfrm>
          <a:prstGeom prst="rect">
            <a:avLst/>
          </a:prstGeom>
          <a:noFill/>
          <a:ln/>
        </p:spPr>
        <p:txBody>
          <a:bodyPr wrap="none" lIns="0" tIns="0" rIns="0" bIns="0" rtlCol="0" anchor="t"/>
          <a:lstStyle/>
          <a:p>
            <a:pPr marL="0" indent="0" algn="l">
              <a:lnSpc>
                <a:spcPct val="127000"/>
              </a:lnSpc>
              <a:buNone/>
            </a:pPr>
            <a:r>
              <a:rPr lang="en-US" sz="1700" dirty="0">
                <a:solidFill>
                  <a:srgbClr val="000000"/>
                </a:solidFill>
                <a:latin typeface="Public Sans" pitchFamily="34" charset="0"/>
                <a:ea typeface="Public Sans" pitchFamily="34" charset="-122"/>
                <a:cs typeface="Public Sans" pitchFamily="34" charset="-120"/>
              </a:rPr>
              <a:t>Kiểm soát truy cập</a:t>
            </a:r>
            <a:endParaRPr lang="en-US" sz="1700" dirty="0"/>
          </a:p>
        </p:txBody>
      </p:sp>
      <p:sp>
        <p:nvSpPr>
          <p:cNvPr id="16" name="Shape 14"/>
          <p:cNvSpPr/>
          <p:nvPr/>
        </p:nvSpPr>
        <p:spPr>
          <a:xfrm>
            <a:off x="496119" y="3304133"/>
            <a:ext cx="4018434" cy="726653"/>
          </a:xfrm>
          <a:prstGeom prst="roundRect">
            <a:avLst>
              <a:gd name="adj" fmla="val 7375"/>
            </a:avLst>
          </a:prstGeom>
          <a:solidFill>
            <a:srgbClr val="CCC4EC">
              <a:alpha val="50000"/>
            </a:srgbClr>
          </a:solidFill>
          <a:ln w="4763">
            <a:solidFill>
              <a:srgbClr val="B2AAD2"/>
            </a:solidFill>
            <a:prstDash val="solid"/>
          </a:ln>
          <a:effectLst>
            <a:outerShdw dist="16510" dir="2700000" algn="bl" rotWithShape="0">
              <a:srgbClr val="B2AAD2">
                <a:alpha val="100000"/>
              </a:srgbClr>
            </a:outerShdw>
          </a:effectLst>
        </p:spPr>
      </p:sp>
      <p:sp>
        <p:nvSpPr>
          <p:cNvPr id="17" name="Text 15"/>
          <p:cNvSpPr/>
          <p:nvPr/>
        </p:nvSpPr>
        <p:spPr>
          <a:xfrm>
            <a:off x="628427" y="3436441"/>
            <a:ext cx="1594842" cy="199281"/>
          </a:xfrm>
          <a:prstGeom prst="rect">
            <a:avLst/>
          </a:prstGeom>
          <a:noFill/>
          <a:ln/>
        </p:spPr>
        <p:txBody>
          <a:bodyPr wrap="none" lIns="0" tIns="0" rIns="0" bIns="0" rtlCol="0" anchor="t"/>
          <a:lstStyle/>
          <a:p>
            <a:pPr marL="0" indent="0" algn="l">
              <a:lnSpc>
                <a:spcPct val="104000"/>
              </a:lnSpc>
              <a:buNone/>
            </a:pPr>
            <a:r>
              <a:rPr lang="en-US" sz="1700" dirty="0">
                <a:solidFill>
                  <a:srgbClr val="000000"/>
                </a:solidFill>
                <a:latin typeface="Playfair Display SemiBold" pitchFamily="34" charset="0"/>
                <a:ea typeface="Playfair Display SemiBold" pitchFamily="34" charset="-122"/>
                <a:cs typeface="Playfair Display SemiBold" pitchFamily="34" charset="-120"/>
              </a:rPr>
              <a:t>Tương Tranh</a:t>
            </a:r>
            <a:endParaRPr lang="en-US" sz="1700" dirty="0"/>
          </a:p>
        </p:txBody>
      </p:sp>
      <p:sp>
        <p:nvSpPr>
          <p:cNvPr id="18" name="Text 16"/>
          <p:cNvSpPr/>
          <p:nvPr/>
        </p:nvSpPr>
        <p:spPr>
          <a:xfrm>
            <a:off x="628427" y="3704555"/>
            <a:ext cx="3753817" cy="193923"/>
          </a:xfrm>
          <a:prstGeom prst="rect">
            <a:avLst/>
          </a:prstGeom>
          <a:noFill/>
          <a:ln/>
        </p:spPr>
        <p:txBody>
          <a:bodyPr wrap="none" lIns="0" tIns="0" rIns="0" bIns="0" rtlCol="0" anchor="t"/>
          <a:lstStyle/>
          <a:p>
            <a:pPr marL="0" indent="0" algn="l">
              <a:lnSpc>
                <a:spcPct val="127000"/>
              </a:lnSpc>
              <a:buNone/>
            </a:pPr>
            <a:r>
              <a:rPr lang="en-US" sz="1700" dirty="0">
                <a:solidFill>
                  <a:srgbClr val="000000"/>
                </a:solidFill>
                <a:latin typeface="Public Sans" pitchFamily="34" charset="0"/>
                <a:ea typeface="Public Sans" pitchFamily="34" charset="-122"/>
                <a:cs typeface="Public Sans" pitchFamily="34" charset="-120"/>
              </a:rPr>
              <a:t>Xử lý đồng thời</a:t>
            </a:r>
            <a:endParaRPr lang="en-US" sz="1700" dirty="0"/>
          </a:p>
        </p:txBody>
      </p:sp>
      <p:sp>
        <p:nvSpPr>
          <p:cNvPr id="19" name="Shape 17"/>
          <p:cNvSpPr/>
          <p:nvPr/>
        </p:nvSpPr>
        <p:spPr>
          <a:xfrm>
            <a:off x="4629373" y="3304133"/>
            <a:ext cx="4018508" cy="726653"/>
          </a:xfrm>
          <a:prstGeom prst="roundRect">
            <a:avLst>
              <a:gd name="adj" fmla="val 7375"/>
            </a:avLst>
          </a:prstGeom>
          <a:solidFill>
            <a:srgbClr val="B4DAE4">
              <a:alpha val="50000"/>
            </a:srgbClr>
          </a:solidFill>
          <a:ln w="4763">
            <a:solidFill>
              <a:srgbClr val="9AC0CA"/>
            </a:solidFill>
            <a:prstDash val="solid"/>
          </a:ln>
          <a:effectLst>
            <a:outerShdw dist="16510" dir="2700000" algn="bl" rotWithShape="0">
              <a:srgbClr val="9AC0CA">
                <a:alpha val="100000"/>
              </a:srgbClr>
            </a:outerShdw>
          </a:effectLst>
        </p:spPr>
      </p:sp>
      <p:sp>
        <p:nvSpPr>
          <p:cNvPr id="20" name="Text 18"/>
          <p:cNvSpPr/>
          <p:nvPr/>
        </p:nvSpPr>
        <p:spPr>
          <a:xfrm>
            <a:off x="4761681" y="3436441"/>
            <a:ext cx="1594842" cy="199281"/>
          </a:xfrm>
          <a:prstGeom prst="rect">
            <a:avLst/>
          </a:prstGeom>
          <a:noFill/>
          <a:ln/>
        </p:spPr>
        <p:txBody>
          <a:bodyPr wrap="none" lIns="0" tIns="0" rIns="0" bIns="0" rtlCol="0" anchor="t"/>
          <a:lstStyle/>
          <a:p>
            <a:pPr marL="0" indent="0" algn="l">
              <a:lnSpc>
                <a:spcPct val="104000"/>
              </a:lnSpc>
              <a:buNone/>
            </a:pPr>
            <a:r>
              <a:rPr lang="en-US" sz="1700" dirty="0">
                <a:solidFill>
                  <a:srgbClr val="000000"/>
                </a:solidFill>
                <a:latin typeface="Playfair Display SemiBold" pitchFamily="34" charset="0"/>
                <a:ea typeface="Playfair Display SemiBold" pitchFamily="34" charset="-122"/>
                <a:cs typeface="Playfair Display SemiBold" pitchFamily="34" charset="-120"/>
              </a:rPr>
              <a:t>Deadlock</a:t>
            </a:r>
            <a:endParaRPr lang="en-US" sz="1700" dirty="0"/>
          </a:p>
        </p:txBody>
      </p:sp>
      <p:sp>
        <p:nvSpPr>
          <p:cNvPr id="21" name="Text 19"/>
          <p:cNvSpPr/>
          <p:nvPr/>
        </p:nvSpPr>
        <p:spPr>
          <a:xfrm>
            <a:off x="4761681" y="3704555"/>
            <a:ext cx="3753892" cy="193923"/>
          </a:xfrm>
          <a:prstGeom prst="rect">
            <a:avLst/>
          </a:prstGeom>
          <a:noFill/>
          <a:ln/>
        </p:spPr>
        <p:txBody>
          <a:bodyPr wrap="none" lIns="0" tIns="0" rIns="0" bIns="0" rtlCol="0" anchor="t"/>
          <a:lstStyle/>
          <a:p>
            <a:pPr marL="0" indent="0" algn="l">
              <a:lnSpc>
                <a:spcPct val="127000"/>
              </a:lnSpc>
              <a:buNone/>
            </a:pPr>
            <a:r>
              <a:rPr lang="en-US" sz="1700" dirty="0">
                <a:solidFill>
                  <a:srgbClr val="000000"/>
                </a:solidFill>
                <a:latin typeface="Public Sans" pitchFamily="34" charset="0"/>
                <a:ea typeface="Public Sans" pitchFamily="34" charset="-122"/>
                <a:cs typeface="Public Sans" pitchFamily="34" charset="-120"/>
              </a:rPr>
              <a:t>Phát hiện &amp; xử lý</a:t>
            </a:r>
            <a:endParaRPr lang="en-US" sz="1700" dirty="0"/>
          </a:p>
        </p:txBody>
      </p:sp>
      <p:sp>
        <p:nvSpPr>
          <p:cNvPr id="22" name="Shape 20"/>
          <p:cNvSpPr/>
          <p:nvPr/>
        </p:nvSpPr>
        <p:spPr>
          <a:xfrm>
            <a:off x="496118" y="4159969"/>
            <a:ext cx="8647881" cy="914032"/>
          </a:xfrm>
          <a:prstGeom prst="roundRect">
            <a:avLst>
              <a:gd name="adj" fmla="val 10556"/>
            </a:avLst>
          </a:prstGeom>
          <a:solidFill>
            <a:srgbClr val="B6FCB8"/>
          </a:solidFill>
          <a:ln/>
        </p:spPr>
      </p:sp>
      <p:pic>
        <p:nvPicPr>
          <p:cNvPr id="23" name="Image 0" descr="preencoded.png"/>
          <p:cNvPicPr>
            <a:picLocks noChangeAspect="1"/>
          </p:cNvPicPr>
          <p:nvPr/>
        </p:nvPicPr>
        <p:blipFill>
          <a:blip r:embed="rId3"/>
          <a:stretch>
            <a:fillRect/>
          </a:stretch>
        </p:blipFill>
        <p:spPr>
          <a:xfrm>
            <a:off x="548692" y="4542606"/>
            <a:ext cx="159469" cy="127546"/>
          </a:xfrm>
          <a:prstGeom prst="rect">
            <a:avLst/>
          </a:prstGeom>
        </p:spPr>
      </p:pic>
      <p:sp>
        <p:nvSpPr>
          <p:cNvPr id="24" name="Text 21"/>
          <p:cNvSpPr/>
          <p:nvPr/>
        </p:nvSpPr>
        <p:spPr>
          <a:xfrm>
            <a:off x="910679" y="4431208"/>
            <a:ext cx="8285894" cy="564428"/>
          </a:xfrm>
          <a:prstGeom prst="rect">
            <a:avLst/>
          </a:prstGeom>
          <a:noFill/>
          <a:ln/>
        </p:spPr>
        <p:txBody>
          <a:bodyPr wrap="none" lIns="0" tIns="0" rIns="0" bIns="0" rtlCol="0" anchor="t"/>
          <a:lstStyle/>
          <a:p>
            <a:pPr marL="0" indent="0" algn="l">
              <a:lnSpc>
                <a:spcPct val="127000"/>
              </a:lnSpc>
              <a:buNone/>
            </a:pPr>
            <a:r>
              <a:rPr lang="en-US" dirty="0">
                <a:solidFill>
                  <a:srgbClr val="000000"/>
                </a:solidFill>
                <a:latin typeface="Time's New Roman"/>
                <a:ea typeface="Public Sans" pitchFamily="34" charset="-122"/>
                <a:cs typeface="Public Sans" pitchFamily="34" charset="-120"/>
              </a:rPr>
              <a:t>Đây là những thành phần </a:t>
            </a:r>
            <a:r>
              <a:rPr lang="en-US" b="1" dirty="0">
                <a:solidFill>
                  <a:srgbClr val="000000"/>
                </a:solidFill>
                <a:latin typeface="Time's New Roman"/>
                <a:ea typeface="Public Sans" pitchFamily="34" charset="-122"/>
                <a:cs typeface="Public Sans" pitchFamily="34" charset="-120"/>
              </a:rPr>
              <a:t>cốt lõi</a:t>
            </a:r>
            <a:r>
              <a:rPr lang="en-US" dirty="0">
                <a:solidFill>
                  <a:srgbClr val="000000"/>
                </a:solidFill>
                <a:latin typeface="Time's New Roman"/>
                <a:ea typeface="Public Sans" pitchFamily="34" charset="-122"/>
                <a:cs typeface="Public Sans" pitchFamily="34" charset="-120"/>
              </a:rPr>
              <a:t> trong hệ quản trị cơ sở dữ liệu phân tán hiện đại.</a:t>
            </a:r>
            <a:endParaRPr lang="en-US" dirty="0">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31E8AF-C92D-57F3-7962-8F968C1E8F3A}"/>
              </a:ext>
            </a:extLst>
          </p:cNvPr>
          <p:cNvPicPr>
            <a:picLocks noChangeAspect="1"/>
          </p:cNvPicPr>
          <p:nvPr/>
        </p:nvPicPr>
        <p:blipFill>
          <a:blip r:embed="rId2"/>
          <a:stretch>
            <a:fillRect/>
          </a:stretch>
        </p:blipFill>
        <p:spPr>
          <a:xfrm>
            <a:off x="6981523" y="4057498"/>
            <a:ext cx="2162477" cy="1086002"/>
          </a:xfrm>
          <a:prstGeom prst="rect">
            <a:avLst/>
          </a:prstGeom>
        </p:spPr>
      </p:pic>
      <p:sp>
        <p:nvSpPr>
          <p:cNvPr id="4" name="TextBox 3">
            <a:extLst>
              <a:ext uri="{FF2B5EF4-FFF2-40B4-BE49-F238E27FC236}">
                <a16:creationId xmlns:a16="http://schemas.microsoft.com/office/drawing/2014/main" id="{2856631B-B289-8546-8B74-BB2D69651A6B}"/>
              </a:ext>
            </a:extLst>
          </p:cNvPr>
          <p:cNvSpPr txBox="1"/>
          <p:nvPr/>
        </p:nvSpPr>
        <p:spPr>
          <a:xfrm>
            <a:off x="0" y="1017917"/>
            <a:ext cx="8954219" cy="400110"/>
          </a:xfrm>
          <a:prstGeom prst="rect">
            <a:avLst/>
          </a:prstGeom>
          <a:noFill/>
        </p:spPr>
        <p:txBody>
          <a:bodyPr wrap="square" rtlCol="0">
            <a:spAutoFit/>
          </a:bodyPr>
          <a:lstStyle/>
          <a:p>
            <a:r>
              <a:rPr lang="vi-VN" sz="2000" dirty="0">
                <a:latin typeface="+mj-lt"/>
              </a:rPr>
              <a:t>Xin Cảm ơn</a:t>
            </a:r>
            <a:endParaRPr lang="en-US" sz="2000" dirty="0">
              <a:latin typeface="+mj-lt"/>
            </a:endParaRPr>
          </a:p>
        </p:txBody>
      </p:sp>
      <p:pic>
        <p:nvPicPr>
          <p:cNvPr id="6" name="Picture 5">
            <a:extLst>
              <a:ext uri="{FF2B5EF4-FFF2-40B4-BE49-F238E27FC236}">
                <a16:creationId xmlns:a16="http://schemas.microsoft.com/office/drawing/2014/main" id="{C9930ADD-1EB9-1FA3-952F-1889223FD7F6}"/>
              </a:ext>
            </a:extLst>
          </p:cNvPr>
          <p:cNvPicPr>
            <a:picLocks noChangeAspect="1"/>
          </p:cNvPicPr>
          <p:nvPr/>
        </p:nvPicPr>
        <p:blipFill>
          <a:blip r:embed="rId3"/>
          <a:stretch>
            <a:fillRect/>
          </a:stretch>
        </p:blipFill>
        <p:spPr>
          <a:xfrm>
            <a:off x="8626" y="331075"/>
            <a:ext cx="9144000" cy="4269424"/>
          </a:xfrm>
          <a:prstGeom prst="rect">
            <a:avLst/>
          </a:prstGeom>
        </p:spPr>
      </p:pic>
    </p:spTree>
    <p:extLst>
      <p:ext uri="{BB962C8B-B14F-4D97-AF65-F5344CB8AC3E}">
        <p14:creationId xmlns:p14="http://schemas.microsoft.com/office/powerpoint/2010/main" val="1192871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223</TotalTime>
  <Words>1378</Words>
  <Application>Microsoft Office PowerPoint</Application>
  <PresentationFormat>On-screen Show (16:9)</PresentationFormat>
  <Paragraphs>172</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Times New Roman</vt:lpstr>
      <vt:lpstr>Arial</vt:lpstr>
      <vt:lpstr>Playfair Display SemiBold</vt:lpstr>
      <vt:lpstr>Public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Thắng Nguyễn Tiến</dc:creator>
  <cp:lastModifiedBy>ACER</cp:lastModifiedBy>
  <cp:revision>5</cp:revision>
  <dcterms:created xsi:type="dcterms:W3CDTF">2026-05-25T12:01:56Z</dcterms:created>
  <dcterms:modified xsi:type="dcterms:W3CDTF">2026-06-17T15:15:35Z</dcterms:modified>
</cp:coreProperties>
</file>